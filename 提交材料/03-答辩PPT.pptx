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3"/>
    <p:sldId id="257" r:id="rId4"/>
    <p:sldId id="288" r:id="rId26"/>
    <p:sldId id="260" r:id="rId5"/>
    <p:sldId id="289" r:id="rId27"/>
    <p:sldId id="262" r:id="rId7"/>
    <p:sldId id="283" r:id="rId8"/>
    <p:sldId id="290" r:id="rId28"/>
    <p:sldId id="263" r:id="rId9"/>
    <p:sldId id="265" r:id="rId10"/>
    <p:sldId id="278" r:id="rId11"/>
    <p:sldId id="287" r:id="rId12"/>
    <p:sldId id="264" r:id="rId13"/>
    <p:sldId id="268" r:id="rId14"/>
    <p:sldId id="269" r:id="rId15"/>
    <p:sldId id="291" r:id="rId29"/>
    <p:sldId id="272" r:id="rId16"/>
    <p:sldId id="285" r:id="rId17"/>
    <p:sldId id="274" r:id="rId18"/>
    <p:sldId id="276" r:id="rId19"/>
    <p:sldId id="284" r:id="rId20"/>
    <p:sldId id="286" r:id="rId21"/>
    <p:sldId id="259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7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clrMru>
    <a:srgbClr val="08A8F6"/>
    <a:srgbClr val="0F7FF6"/>
    <a:srgbClr val="7BBC49"/>
    <a:srgbClr val="77BB69"/>
    <a:srgbClr val="329AD7"/>
    <a:srgbClr val="F7F9FC"/>
    <a:srgbClr val="9DC0E3"/>
    <a:srgbClr val="DFEAF6"/>
    <a:srgbClr val="E1E0E0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91" autoAdjust="0"/>
    <p:restoredTop sz="94607" autoAdjust="0"/>
  </p:normalViewPr>
  <p:slideViewPr>
    <p:cSldViewPr snapToGrid="0" showGuides="1">
      <p:cViewPr varScale="1">
        <p:scale>
          <a:sx n="62" d="100"/>
          <a:sy n="62" d="100"/>
        </p:scale>
        <p:origin x="1192" y="52"/>
      </p:cViewPr>
      <p:guideLst>
        <p:guide orient="horz" pos="2379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ableStyles" Target="tableStyles.xml"/><Relationship Id="rId26" Type="http://schemas.openxmlformats.org/officeDocument/2006/relationships/slide" Target="slides/slide3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数据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08A8F6"/>
              </a:solidFill>
            </c:spPr>
          </c:dPt>
          <c:dPt>
            <c:idx val="1"/>
            <c:invertIfNegative val="0"/>
            <c:bubble3D val="0"/>
            <c:spPr>
              <a:solidFill>
                <a:srgbClr val="DCE6EC"/>
              </a:solidFill>
            </c:spPr>
          </c:dPt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带 id 的控件</c:v>
                </c:pt>
                <c:pt idx="1">
                  <c:v>不带 id 的控件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5.62</c:v>
                </c:pt>
                <c:pt idx="1">
                  <c:v>94.38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12700" cap="flat" cmpd="sng" algn="ctr">
            <a:solidFill>
              <a:srgbClr val="D9D9D9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0"/>
    <c:extLst>
      <c:ext uri="{0b15fc19-7d7d-44ad-8c2d-2c3a37ce22c3}">
        <chartProps xmlns="https://web.wps.cn/et/2018/main" chartId="{e6d95405-100d-442e-8c3c-cb60ec7c3933}"/>
      </c:ext>
    </c:extLst>
  </c:chart>
  <c:txPr>
    <a:bodyPr/>
    <a:lstStyle/>
    <a:p>
      <a:pPr>
        <a:defRPr lang="zh-CN" sz="1200">
          <a:latin typeface="微软雅黑" panose="020B0503020204020204" pitchFamily="34" charset="-122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视觉通道（本项目）</c:v>
                </c:pt>
              </c:strCache>
            </c:strRef>
          </c:tx>
          <c:spPr>
            <a:solidFill>
              <a:srgbClr val="08A8F6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08A8F6"/>
              </a:solidFill>
            </c:spPr>
          </c:dPt>
          <c:dPt>
            <c:idx val="1"/>
            <c:invertIfNegative val="0"/>
            <c:bubble3D val="0"/>
            <c:spPr>
              <a:solidFill>
                <a:srgbClr val="DCE6EC"/>
              </a:solidFill>
            </c:spPr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首批 20 项</c:v>
                </c:pt>
                <c:pt idx="1">
                  <c:v>扩充批 26 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65.4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控件树单通道（对照）</c:v>
                </c:pt>
              </c:strCache>
            </c:strRef>
          </c:tx>
          <c:spPr>
            <a:solidFill>
              <a:srgbClr val="D8DFE7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08A8F6"/>
              </a:solidFill>
            </c:spPr>
          </c:dPt>
          <c:dPt>
            <c:idx val="1"/>
            <c:invertIfNegative val="0"/>
            <c:bubble3D val="0"/>
            <c:spPr>
              <a:solidFill>
                <a:srgbClr val="DCE6EC"/>
              </a:solidFill>
            </c:spPr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首批 20 项</c:v>
                </c:pt>
                <c:pt idx="1">
                  <c:v>扩充批 26 项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15.4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 cap="flat" cmpd="sng" algn="ctr">
            <a:solidFill>
              <a:srgbClr val="D9D9D9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0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  <c:majorUnit val="20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100" b="0" i="0" u="none" strike="noStrike" kern="1200" baseline="0">
              <a:solidFill>
                <a:schemeClr val="tx1"/>
              </a:solidFill>
              <a:latin typeface="微软雅黑" panose="020B0503020204020204" pitchFamily="34" charset="-122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65e5f0dc-b550-4e82-ab1c-de8bf4c37771}"/>
      </c:ext>
    </c:extLst>
  </c:chart>
  <c:txPr>
    <a:bodyPr/>
    <a:lstStyle/>
    <a:p>
      <a:pPr>
        <a:defRPr lang="zh-CN" sz="1200">
          <a:latin typeface="微软雅黑" panose="020B0503020204020204" pitchFamily="34" charset="-122"/>
        </a:defRPr>
      </a:p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CE6E62-0A4A-440F-A3A0-1904151E0F6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【口径，备查】5.62% 取自首批 7 个真实应用、800 个控件节点（45 / 800）；评测集扩到 13 个应用后，其中 11 个应用的 id 数为 0。右侧比例条把 800 个节点画成一条，蓝色段即带 id 的 45 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四层职责：连接与执行层封装 hdc（采集控件树与截图、注入输入、调度执行）；探索与生成层驱动遍历并构建页面状态图，把自然语言与探索轨迹转成带断言的用例；融合与定位层让控件树、视觉、OCR、源码四路证据独立判断后按角色融合；诊断与报告层在失败时打包现场证据、按五类判据归因并输出可复核报告。原第 5 页的四行逐层说明已下线，全文保留在此。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【边界条件，备查】静态源要求被测应用提供源码；系统应用实测在线 2–3 源；降级结果均须在报告中标注。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形态一全文：桌面 211 个可见节点 / 18 个可交互控件 / id 数为 0，但 18 个控件全部带文案标签（应用图标名）。控件树 hints 按关键词直接命中，即 L1 静态候选，约 50ms，全程不调用模型。扩充评测 26 项中 L1 免调 65.4%、一致率 100%；桌面 18 个可交互控件无一调用模型。树健康时多模态零成本介入，这是分层降级的第一层，省下的是延迟与调用费用。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形态二（设置 com.ohos.settings）：183 个可见节点、28 个可交互控件，id 与文案两项全空——树能给出位置，给不出名字。树候选不足时转入半盲页流程，截图送多模态模型枚举可交互目标，产出带视觉框与标签的伪节点，直接流进既有探索循环。11 项评测中 9 项一致（81.8%），是十三个应用里最难的靶标，未命中的 2 项可在评测报告中回溯成因。（一致性口径：系统识别框与控件树标注框的 IoU@0.5。）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形态三（时钟 ohos.samples.etsclock 表盘页）：77 个可见节点、可交互控件 0 个，4 条文案全挂在非交互节点上。该次运行只有 runtime（22 条主张）与 ocr（7 条）两个源，没有静态源，被声明的目标为 0；同一页 runtime 22 条主张里没有 14:54:11，ocr 7 行里读到它，融合报告把该文案归入「未声明（仅观察）」共 13 条，属信息级，不作缺陷计。报告原文：_out/fusion_clock_v2.md。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 7 页脚注原文：十三个应用中十一个的 id 数为 0，控件树单通道不可用是生态层面的普遍事实。视觉一致率跨应用 81.8%–100%，两批合计 45/46=97.8%（与控件树的一致性口径，离线评测、思考模式关闭）。* 桌面与信息页无可交互文案控件（图标入口为主），未进入评测集，如实标注。</a:t>
            </a:r>
          </a:p>
          <a:p>
            <a:r>
              <a:t>【口径，备查】* 桌面与信息页无可交互文案控件（图标入口为主），未进入评测集。 一致率均为与控件树标注框的一致性（IoU@0.5），离线评测、思考模式关闭。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归因：失败瞬间打包四项证据（截图、连续多棵控件树、faultlogger 日志、设备状态），一次打包供判定与换代共用。置信度由实测标定：崩溃 1.0（faultlogger 是硬日志）、无窗口 0.95、布局异常 0 误报；kill -11 产生日志判 1.0，kill -9 只计弱证据。判据不足时输出未知，不猜。自愈：失败按（来源, 代次, locator_id）幂等记账，同一失败不重复计数；连续失败达阈值触发换代，换代产物写回账本，可挂 CI 复测。新定位器入账前必须在树上唯一命中（L1 id 精确或 L3 层级路径口径），L4 视觉与 L5 坐标兜底不参与自愈验证。五级降链本身属于定位层，已在第 7 页展示，本页不再重复。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六阶段流水线每一步只校验两件事：这一步的产物能不能失败、失败原因是否指向被测应用。测试点覆盖功能、边界、异常、界面、性能、兼容六个维度。断言基准取自探索状态图与真实控件树（页面应有状态 + 点击后结果），有出处，不由模型想象。通过闸的用例导出 hypium 脚本（API 15 官方 API），由真机测试框架执行；压测脚本支持重复点击、连续滑动、页面反复进出、长时间运行四类。实测：hypium 导出真机 2/2 通过；用例健康度复用 calculator 7/7、note_stability 2/2。度量层教训：以步骤通过率评价用例，指标会奖励空壳用例（全过但没有断言），空壳闸在导出前拒收这类用例。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 14 页图表口径：20 条评测项、--dry 不调模型的离线评测；控件树补全文案后多数控件无需调用模型即可定位，70.0% 对 10.0%。</a:t>
            </a:r>
          </a:p>
          <a:p>
            <a:r>
              <a:t>【口径，备查】应用级与引擎级靶标不同，数字分列。</a:t>
            </a:r>
          </a:p>
          <a:p>
            <a:r>
              <a:t>【口径，备查】一致率均为与控件树标注框的一致性（IoU@0.5），不是绝对准确率，离线评测。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【口径，备查】两批均为与控件树标注的一致性，不是绝对准确率。</a:t>
            </a:r>
          </a:p>
          <a:p>
            <a:r>
              <a:t>【口径，备查】页面覆盖按 page_path 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【口径，备查】口径：跨形态数字来自模拟器四实例（Mate X7 / Pura 90 Pro / MatePad Pro 13 / MateBook Pro），与真机数字分列，不混合使用。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未实现（备查，不在版面）：录制回放、性能专项采集（帧率 / CPU）、多屏 displayId 通路。物理真机 1 台（DAYU200）；跨形态数字来自折叠屏模拟器四实例，已与真机数字分列，不混合使用。</a:t>
            </a:r>
          </a:p>
          <a:p>
            <a:r>
              <a:t>【口径，备查】用例级数字取 20 条样本、两轮执行。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" name="图片 7" descr="基金会+OH logo组合-0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3710" y="304165"/>
            <a:ext cx="3564890" cy="1234440"/>
          </a:xfrm>
          <a:prstGeom prst="rect">
            <a:avLst/>
          </a:prstGeom>
        </p:spPr>
      </p:pic>
      <p:grpSp>
        <p:nvGrpSpPr>
          <p:cNvPr id="4" name="组合 13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FM">
    <p:bg>
      <p:bgPr>
        <a:solidFill>
          <a:schemeClr val="bg1"/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1"/>
          <p:cNvPicPr>
            <a:picLocks noChangeAspect="1"/>
          </p:cNvPicPr>
          <p:nvPr userDrawn="1"/>
        </p:nvPicPr>
        <p:blipFill rotWithShape="1">
          <a:blip r:embed="rId2" cstate="print">
            <a:alphaModFix amt="20000"/>
          </a:blip>
          <a:srcRect b="13216"/>
          <a:stretch>
            <a:fillRect/>
          </a:stretch>
        </p:blipFill>
        <p:spPr>
          <a:xfrm>
            <a:off x="7546126" y="0"/>
            <a:ext cx="4151671" cy="5794408"/>
          </a:xfrm>
          <a:prstGeom prst="rect">
            <a:avLst/>
          </a:prstGeom>
        </p:spPr>
      </p:pic>
      <p:grpSp>
        <p:nvGrpSpPr>
          <p:cNvPr id="9" name="组合 2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10" name="文本框 3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11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图片 9"/>
          <p:cNvPicPr>
            <a:picLocks noChangeAspect="1"/>
          </p:cNvPicPr>
          <p:nvPr userDrawn="1"/>
        </p:nvPicPr>
        <p:blipFill>
          <a:blip r:embed="rId3" cstate="print">
            <a:alphaModFix amt="21000"/>
          </a:blip>
          <a:srcRect/>
          <a:stretch>
            <a:fillRect/>
          </a:stretch>
        </p:blipFill>
        <p:spPr>
          <a:xfrm>
            <a:off x="0" y="3261146"/>
            <a:ext cx="2999678" cy="41334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>
  <p:cSld name="1_标题幻灯片">
    <p:bg>
      <p:bgPr>
        <a:solidFill>
          <a:schemeClr val="bg1">
            <a:alpha val="0"/>
          </a:schemeClr>
        </a:solidFill>
        <a:effectLst/>
      </p:bgPr>
    </p:bg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45008" y="6356350"/>
            <a:ext cx="274320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bg>
      <p:bgPr>
        <a:solidFill>
          <a:srgbClr val="08A8F6"/>
        </a:solidFill>
        <a:effectLst/>
      </p:bgPr>
    </p:bg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节标题">
    <p:bg>
      <p:bgPr>
        <a:solidFill>
          <a:schemeClr val="bg1"/>
        </a:solidFill>
        <a:effectLst/>
      </p:bgPr>
    </p:bg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13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2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2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8" name="文本占位符 9"/>
          <p:cNvSpPr>
            <a:spLocks noGrp="1"/>
          </p:cNvSpPr>
          <p:nvPr>
            <p:ph type="body" sz="quarter" idx="13" hasCustomPrompt="1"/>
          </p:nvPr>
        </p:nvSpPr>
        <p:spPr>
          <a:xfrm>
            <a:off x="215067" y="171415"/>
            <a:ext cx="5966068" cy="4461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zh-CN" altLang="en-US" sz="2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lvl="0"/>
            <a:r>
              <a:rPr kumimoji="1" lang="zh-CN" altLang="en-US"/>
              <a:t>单击此处编辑母版文本</a:t>
            </a:r>
            <a:endParaRPr kumimoji="1" lang="zh-CN" altLang="en-US"/>
          </a:p>
        </p:txBody>
      </p:sp>
      <p:pic>
        <p:nvPicPr>
          <p:cNvPr id="29" name="图片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558425" y="0"/>
            <a:ext cx="2350420" cy="881407"/>
          </a:xfrm>
          <a:prstGeom prst="rect">
            <a:avLst/>
          </a:prstGeom>
        </p:spPr>
      </p:pic>
      <p:sp>
        <p:nvSpPr>
          <p:cNvPr id="30" name="矩形 3"/>
          <p:cNvSpPr/>
          <p:nvPr userDrawn="1"/>
        </p:nvSpPr>
        <p:spPr>
          <a:xfrm>
            <a:off x="0" y="0"/>
            <a:ext cx="12192000" cy="781177"/>
          </a:xfrm>
          <a:prstGeom prst="rect">
            <a:avLst/>
          </a:prstGeom>
          <a:solidFill>
            <a:srgbClr val="08A8F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bg>
      <p:bgPr>
        <a:solidFill>
          <a:schemeClr val="bg1"/>
        </a:solidFill>
        <a:effectLst/>
      </p:bgPr>
    </p:bg>
    <p:spTree>
      <p:nvGrpSpPr>
        <p:cNvPr id="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3" name="图片 3"/>
          <p:cNvPicPr>
            <a:picLocks noChangeAspect="1"/>
          </p:cNvPicPr>
          <p:nvPr userDrawn="1"/>
        </p:nvPicPr>
        <p:blipFill rotWithShape="1">
          <a:blip r:embed="rId2" cstate="print">
            <a:alphaModFix amt="35000"/>
            <a:biLevel thresh="25000"/>
          </a:blip>
          <a:srcRect t="32381"/>
          <a:stretch>
            <a:fillRect/>
          </a:stretch>
        </p:blipFill>
        <p:spPr>
          <a:xfrm>
            <a:off x="7482780" y="1381934"/>
            <a:ext cx="3830533" cy="4165580"/>
          </a:xfrm>
          <a:prstGeom prst="rect">
            <a:avLst/>
          </a:prstGeom>
        </p:spPr>
      </p:pic>
      <p:grpSp>
        <p:nvGrpSpPr>
          <p:cNvPr id="34" name="组合 5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35" name="文本框 10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3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37" name="图片 4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04478" y="0"/>
            <a:ext cx="2350420" cy="88140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bg>
      <p:bgPr>
        <a:solidFill>
          <a:schemeClr val="bg1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0" name="组合 1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41" name="文本框 2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2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" name="矩形 9"/>
          <p:cNvSpPr/>
          <p:nvPr userDrawn="1"/>
        </p:nvSpPr>
        <p:spPr>
          <a:xfrm>
            <a:off x="456565" y="1199515"/>
            <a:ext cx="1210588" cy="707886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marL="0" marR="0" lvl="0" indent="0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8A8F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 kumimoji="0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srgbClr val="08A8F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文本框 10"/>
          <p:cNvSpPr txBox="1"/>
          <p:nvPr userDrawn="1"/>
        </p:nvSpPr>
        <p:spPr>
          <a:xfrm>
            <a:off x="481965" y="576640"/>
            <a:ext cx="4124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32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CONTENTS</a:t>
            </a:r>
            <a:endParaRPr lang="en-US" altLang="zh-CN" sz="32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bg>
      <p:bgPr>
        <a:solidFill>
          <a:schemeClr val="bg1"/>
        </a:solidFill>
        <a:effectLst/>
      </p:bgPr>
    </p:bg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7" name="组合 5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48" name="文本框 6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9" name="直接连接符 7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图片与标题"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竖排标题与文本"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容"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A6F9"/>
            </a:gs>
            <a:gs pos="100000">
              <a:srgbClr val="81BD0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Source Han Sans CN Normal" panose="020B0800000000000000" charset="-122"/>
                <a:ea typeface="Source Han Sans CN Normal" panose="020B0800000000000000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tags" Target="../tags/tag8.xml"/><Relationship Id="rId3" Type="http://schemas.openxmlformats.org/officeDocument/2006/relationships/tags" Target="../tags/tag9.xml"/><Relationship Id="rId4" Type="http://schemas.openxmlformats.org/officeDocument/2006/relationships/tags" Target="../tags/tag10.xml"/><Relationship Id="rId5" Type="http://schemas.openxmlformats.org/officeDocument/2006/relationships/tags" Target="../tags/tag11.xml"/><Relationship Id="rId6" Type="http://schemas.openxmlformats.org/officeDocument/2006/relationships/tags" Target="../tags/tag12.xml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1"/>
          <p:nvPr/>
        </p:nvSpPr>
        <p:spPr>
          <a:xfrm>
            <a:off x="3417888" y="5226665"/>
            <a:ext cx="5356225" cy="7013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 err="1">
                <a:solidFill/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gema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>
                <a:solidFill/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2026年10月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" name="文本框 6"/>
          <p:cNvSpPr txBox="1"/>
          <p:nvPr/>
        </p:nvSpPr>
        <p:spPr>
          <a:xfrm>
            <a:off x="869656" y="1706953"/>
            <a:ext cx="108305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2026</a:t>
            </a:r>
            <a:r>
              <a:rPr lang="zh-CN" altLang="en-US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开源鸿蒙大学生创新大赛</a:t>
            </a:r>
            <a:r>
              <a:rPr lang="en-US" altLang="zh-CN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-</a:t>
            </a:r>
            <a:r>
              <a:rPr lang="zh-CN" altLang="en-US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赛道一</a:t>
            </a:r>
            <a:endParaRPr lang="en-US" altLang="zh-CN" sz="48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sp>
        <p:nvSpPr>
          <p:cNvPr id="4" name="文本框 10"/>
          <p:cNvSpPr txBox="1"/>
          <p:nvPr/>
        </p:nvSpPr>
        <p:spPr>
          <a:xfrm>
            <a:off x="502920" y="2868089"/>
            <a:ext cx="111831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2800" dirty="0" err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面向 OpenHarmony 的多模态智能测试系统</a:t>
            </a:r>
            <a:endParaRPr lang="en-US" altLang="zh-CN" sz="2800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4445"/>
            <a:ext cx="3321050" cy="10426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26"/>
          <p:cNvSpPr/>
          <p:nvPr>
            <p:custDataLst>
              <p:tags r:id="rId1"/>
            </p:custDataLst>
          </p:nvPr>
        </p:nvSpPr>
        <p:spPr>
          <a:xfrm>
            <a:off x="2741964" y="188366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圆角矩形 26"/>
          <p:cNvSpPr/>
          <p:nvPr>
            <p:custDataLst>
              <p:tags r:id="rId1"/>
            </p:custDataLst>
          </p:nvPr>
        </p:nvSpPr>
        <p:spPr>
          <a:xfrm>
            <a:off x="2741964" y="275234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圆角矩形 27"/>
          <p:cNvSpPr/>
          <p:nvPr>
            <p:custDataLst>
              <p:tags r:id="rId2"/>
            </p:custDataLst>
          </p:nvPr>
        </p:nvSpPr>
        <p:spPr>
          <a:xfrm>
            <a:off x="3585244" y="362102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功能介绍</a:t>
            </a:r>
            <a:endParaRPr lang="zh-CN" altLang="en-US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8" name="圆角矩形 28"/>
          <p:cNvSpPr/>
          <p:nvPr>
            <p:custDataLst>
              <p:tags r:id="rId3"/>
            </p:custDataLst>
          </p:nvPr>
        </p:nvSpPr>
        <p:spPr>
          <a:xfrm>
            <a:off x="2734344" y="362102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圆角矩形 29"/>
          <p:cNvSpPr/>
          <p:nvPr>
            <p:custDataLst>
              <p:tags r:id="rId4"/>
            </p:custDataLst>
          </p:nvPr>
        </p:nvSpPr>
        <p:spPr>
          <a:xfrm>
            <a:off x="3585244" y="448970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验证结果与边界权衡</a:t>
            </a:r>
            <a:endParaRPr lang="zh-CN" altLang="en-US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0" name="圆角矩形 30"/>
          <p:cNvSpPr/>
          <p:nvPr>
            <p:custDataLst>
              <p:tags r:id="rId5"/>
            </p:custDataLst>
          </p:nvPr>
        </p:nvSpPr>
        <p:spPr>
          <a:xfrm>
            <a:off x="2734344" y="448970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圆角矩形 44"/>
          <p:cNvSpPr/>
          <p:nvPr>
            <p:custDataLst>
              <p:tags r:id="rId6"/>
            </p:custDataLst>
          </p:nvPr>
        </p:nvSpPr>
        <p:spPr>
          <a:xfrm>
            <a:off x="3597944" y="188366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难点分析</a:t>
            </a:r>
            <a:endParaRPr lang="zh-CN" altLang="en-US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1" name="圆角矩形 44"/>
          <p:cNvSpPr/>
          <p:nvPr>
            <p:custDataLst>
              <p:tags r:id="rId6"/>
            </p:custDataLst>
          </p:nvPr>
        </p:nvSpPr>
        <p:spPr>
          <a:xfrm>
            <a:off x="3597944" y="275234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系统设计</a:t>
            </a:r>
            <a:endParaRPr lang="zh-CN" altLang="en-US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难点分析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控件树给不出定位依据，失败给不出原因，用例给不出断言。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 三个难点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6" name="Rounded Rectangle 905"/>
          <p:cNvSpPr/>
          <p:nvPr/>
        </p:nvSpPr>
        <p:spPr>
          <a:xfrm>
            <a:off x="502920" y="1188720"/>
            <a:ext cx="3576320" cy="2148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5.62%</a:t>
            </a:r>
            <a:endParaRPr sz="26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控件定位依据不足</a:t>
            </a:r>
            <a:endParaRPr sz="17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800 个控件节点中带 id 的只有 45 个；纯 Canvas 应用没有可交互节点。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7" name="Rounded Rectangle 906"/>
          <p:cNvSpPr/>
          <p:nvPr/>
        </p:nvSpPr>
        <p:spPr>
          <a:xfrm>
            <a:off x="4307840" y="1188720"/>
            <a:ext cx="3576320" cy="2148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步骤失败</a:t>
            </a:r>
            <a:endParaRPr sz="26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失败缺乏归因</a:t>
            </a:r>
            <a:endParaRPr sz="17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框架只报步骤失败，不给原因；设备异常、应用缺陷、脚本缺陷需人工分辨。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8" name="Rounded Rectangle 907"/>
          <p:cNvSpPr/>
          <p:nvPr/>
        </p:nvSpPr>
        <p:spPr>
          <a:xfrm>
            <a:off x="8112760" y="1188720"/>
            <a:ext cx="3576320" cy="2148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通过率虚高</a:t>
            </a:r>
            <a:endParaRPr sz="26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生成用例可信度不足</a:t>
            </a:r>
            <a:endParaRPr sz="17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脚本步骤全过、没有断言，通过率被抬高，真实质量被掩盖。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10" name="Chart 909"/>
          <p:cNvGraphicFramePr>
            <a:graphicFrameLocks noGrp="1"/>
          </p:cNvGraphicFramePr>
          <p:nvPr/>
        </p:nvGraphicFramePr>
        <p:xfrm>
          <a:off x="502920" y="3918585"/>
          <a:ext cx="6309360" cy="1554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12" name="TextBox 911"/>
          <p:cNvSpPr txBox="1"/>
          <p:nvPr/>
        </p:nvSpPr>
        <p:spPr>
          <a:xfrm>
            <a:off x="502920" y="5577840"/>
            <a:ext cx="1118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三个问题同出一源，控件树不为测试而设计、失败信号没有结构化记录、生成用例缺少验证闭环。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Card_Ratio"/>
          <p:cNvSpPr/>
          <p:nvPr/>
        </p:nvSpPr>
        <p:spPr>
          <a:xfrm>
            <a:off x="7040880" y="3886200"/>
            <a:ext cx="4645152" cy="1554480"/>
          </a:xfrm>
          <a:prstGeom prst="roundRect">
            <a:avLst>
              <a:gd name="adj" fmla="val 10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TextBox 913"/>
          <p:cNvSpPr txBox="1"/>
          <p:nvPr/>
        </p:nvSpPr>
        <p:spPr>
          <a:xfrm>
            <a:off x="7269480" y="402336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800 个节点里，45 个带 id</a:t>
            </a:r>
            <a:endParaRPr lang="zh-CN"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5" name="Bar_total"/>
          <p:cNvSpPr/>
          <p:nvPr/>
        </p:nvSpPr>
        <p:spPr>
          <a:xfrm>
            <a:off x="7269480" y="4443984"/>
            <a:ext cx="4187952" cy="274320"/>
          </a:xfrm>
          <a:prstGeom prst="roundRect">
            <a:avLst>
              <a:gd name="adj" fmla="val 12000"/>
            </a:avLst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Bar_id"/>
          <p:cNvSpPr/>
          <p:nvPr/>
        </p:nvSpPr>
        <p:spPr>
          <a:xfrm>
            <a:off x="7269480" y="4443984"/>
            <a:ext cx="235362" cy="274320"/>
          </a:xfrm>
          <a:prstGeom prst="roundRect">
            <a:avLst>
              <a:gd name="adj" fmla="val 12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TextBox 916"/>
          <p:cNvSpPr txBox="1"/>
          <p:nvPr/>
        </p:nvSpPr>
        <p:spPr>
          <a:xfrm>
            <a:off x="7269480" y="484632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200" b="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其余 755 个节点没有 id，只能靠文案、层级路径或视觉推断。</a:t>
            </a:r>
            <a:endParaRPr lang="zh-CN" sz="1200" b="0">
              <a:solidFill>
                <a:srgbClr val="3E4A5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系统设计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四层架构，一条从探索到沉淀的证据闭环。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 </a:t>
            </a:r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系统总体设计：一条证据闭环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2" name="Picture 907" descr="loop_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78992"/>
            <a:ext cx="10424160" cy="3474720"/>
          </a:xfrm>
          <a:prstGeom prst="rect">
            <a:avLst/>
          </a:prstGeom>
        </p:spPr>
      </p:pic>
      <p:sp>
        <p:nvSpPr>
          <p:cNvPr id="917" name="TextBox 916"/>
          <p:cNvSpPr txBox="1"/>
          <p:nvPr/>
        </p:nvSpPr>
        <p:spPr>
          <a:xfrm>
            <a:off x="502920" y="5193792"/>
            <a:ext cx="11183112" cy="230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四层主链路均在 DAYU200 真机（OpenHarmony 5.0.3.135）上跑通，零部署、不插桩。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8" name="TextBox 917"/>
          <p:cNvSpPr txBox="1"/>
          <p:nvPr/>
        </p:nvSpPr>
        <p:spPr>
          <a:xfrm>
            <a:off x="50292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连接与执行层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9" name="TextBox 918"/>
          <p:cNvSpPr txBox="1"/>
          <p:nvPr/>
        </p:nvSpPr>
        <p:spPr>
          <a:xfrm>
            <a:off x="329184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>
              <a:spcAft>
                <a:spcPts val="0"/>
              </a:spcAft>
              <a:buClrTx/>
              <a:buSzTx/>
              <a:buFontTx/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探索与生成层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0" name="TextBox 919"/>
          <p:cNvSpPr txBox="1"/>
          <p:nvPr/>
        </p:nvSpPr>
        <p:spPr>
          <a:xfrm>
            <a:off x="608076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>
              <a:spcAft>
                <a:spcPts val="0"/>
              </a:spcAft>
              <a:buClrTx/>
              <a:buSzTx/>
              <a:buFontTx/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融合与定位层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886968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>
              <a:spcAft>
                <a:spcPts val="0"/>
              </a:spcAft>
              <a:buClrTx/>
              <a:buSzTx/>
              <a:buFontTx/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诊断与报告层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905"/>
          <p:cNvSpPr/>
          <p:nvPr/>
        </p:nvSpPr>
        <p:spPr>
          <a:xfrm>
            <a:off x="254000" y="470090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Rounded Rectangle 905"/>
          <p:cNvSpPr/>
          <p:nvPr/>
        </p:nvSpPr>
        <p:spPr>
          <a:xfrm>
            <a:off x="254000" y="346265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905"/>
          <p:cNvSpPr/>
          <p:nvPr/>
        </p:nvSpPr>
        <p:spPr>
          <a:xfrm>
            <a:off x="254000" y="218630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219456" y="173736"/>
            <a:ext cx="11176000" cy="431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algn="l">
              <a:buClrTx/>
              <a:buSzTx/>
              <a:buFontTx/>
            </a:pPr>
            <a:r>
              <a:rPr lang="zh-CN" altLang="en-US" sz="280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02 系统能力全景：四层九域</a:t>
            </a:r>
            <a:endParaRPr lang="zh-CN" altLang="en-US" sz="280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9" name="Rounded Rectangle 905"/>
          <p:cNvSpPr/>
          <p:nvPr/>
        </p:nvSpPr>
        <p:spPr>
          <a:xfrm>
            <a:off x="254000" y="97345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406400" y="11239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连接与执行层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406400" y="23685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探索与生成层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406400" y="36131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融合与定位层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406400" y="48577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诊断与报告层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圆角矩形 93"/>
          <p:cNvSpPr/>
          <p:nvPr/>
        </p:nvSpPr>
        <p:spPr>
          <a:xfrm>
            <a:off x="2413000" y="1123950"/>
            <a:ext cx="2540000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5" name="圆角矩形 94"/>
          <p:cNvSpPr/>
          <p:nvPr/>
        </p:nvSpPr>
        <p:spPr>
          <a:xfrm>
            <a:off x="5080000" y="1123950"/>
            <a:ext cx="2540000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6" name="圆角矩形 95"/>
          <p:cNvSpPr/>
          <p:nvPr/>
        </p:nvSpPr>
        <p:spPr>
          <a:xfrm>
            <a:off x="7747000" y="1123950"/>
            <a:ext cx="2540000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7" name="圆角矩形 96"/>
          <p:cNvSpPr/>
          <p:nvPr/>
        </p:nvSpPr>
        <p:spPr>
          <a:xfrm>
            <a:off x="2414016" y="23685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8" name="圆角矩形 97"/>
          <p:cNvSpPr/>
          <p:nvPr/>
        </p:nvSpPr>
        <p:spPr>
          <a:xfrm>
            <a:off x="6606540" y="23685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9" name="圆角矩形 98"/>
          <p:cNvSpPr/>
          <p:nvPr/>
        </p:nvSpPr>
        <p:spPr>
          <a:xfrm>
            <a:off x="2414016" y="36131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0" name="圆角矩形 99"/>
          <p:cNvSpPr/>
          <p:nvPr/>
        </p:nvSpPr>
        <p:spPr>
          <a:xfrm>
            <a:off x="6606540" y="36131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1" name="圆角矩形 100"/>
          <p:cNvSpPr/>
          <p:nvPr/>
        </p:nvSpPr>
        <p:spPr>
          <a:xfrm>
            <a:off x="2414016" y="48577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2" name="圆角矩形 101"/>
          <p:cNvSpPr/>
          <p:nvPr/>
        </p:nvSpPr>
        <p:spPr>
          <a:xfrm>
            <a:off x="6606540" y="48577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3" name="矩形 102"/>
          <p:cNvSpPr/>
          <p:nvPr/>
        </p:nvSpPr>
        <p:spPr>
          <a:xfrm>
            <a:off x="2540000" y="11874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设备接入与执行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5207000" y="11874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执行与调度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 104"/>
          <p:cNvSpPr/>
          <p:nvPr/>
        </p:nvSpPr>
        <p:spPr>
          <a:xfrm>
            <a:off x="7874000" y="11874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仿真与离线能力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2542032" y="24320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页面探索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矩形 106"/>
          <p:cNvSpPr/>
          <p:nvPr/>
        </p:nvSpPr>
        <p:spPr>
          <a:xfrm>
            <a:off x="6734555" y="24320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用例生成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矩形 107"/>
          <p:cNvSpPr/>
          <p:nvPr/>
        </p:nvSpPr>
        <p:spPr>
          <a:xfrm>
            <a:off x="2542032" y="36766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界面感知与定位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9" name="矩形 108"/>
          <p:cNvSpPr/>
          <p:nvPr/>
        </p:nvSpPr>
        <p:spPr>
          <a:xfrm>
            <a:off x="6734555" y="36766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特殊形态支持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0" name="矩形 109"/>
          <p:cNvSpPr/>
          <p:nvPr/>
        </p:nvSpPr>
        <p:spPr>
          <a:xfrm>
            <a:off x="2542032" y="49212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缺陷发现与归因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6734555" y="49212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报告与资产沉淀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2511425" y="1492250"/>
            <a:ext cx="2540635" cy="3175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零部署接管 · hdc 自动定位 · 环境自检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5207000" y="15049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稳健等待 · 全套手势 · 长稳编排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4" name="矩形 113"/>
          <p:cNvSpPr/>
          <p:nvPr/>
        </p:nvSpPr>
        <p:spPr>
          <a:xfrm>
            <a:off x="7874000" y="15049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离线模拟 · 故障注入 · 无真机全链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/>
          <p:cNvSpPr/>
          <p:nvPr/>
        </p:nvSpPr>
        <p:spPr>
          <a:xfrm>
            <a:off x="2542032" y="27495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自动跳转 · 状态图 · 防粘滞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6734555" y="27495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NL 转用例 · 空壳闸 · 导出 hypium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2542032" y="39941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语义定位 · 多模态视觉 · 五级降链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8" name="矩形 117"/>
          <p:cNvSpPr/>
          <p:nvPr/>
        </p:nvSpPr>
        <p:spPr>
          <a:xfrm>
            <a:off x="6734555" y="3994785"/>
            <a:ext cx="3808476" cy="304165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折叠屏双态 · 四类差异 · 模拟器跑测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9" name="矩形 118"/>
          <p:cNvSpPr/>
          <p:nvPr/>
        </p:nvSpPr>
        <p:spPr>
          <a:xfrm>
            <a:off x="2542032" y="52387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六类信号 · 四分类归因 · 归因回写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/>
          <p:cNvSpPr/>
          <p:nvPr/>
        </p:nvSpPr>
        <p:spPr>
          <a:xfrm>
            <a:off x="6734555" y="5226050"/>
            <a:ext cx="3808476" cy="3175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三格式报告 · 轨迹回归集 · 用例体检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直接连接符 120"/>
          <p:cNvSpPr/>
          <p:nvPr/>
        </p:nvSpPr>
        <p:spPr>
          <a:xfrm>
            <a:off x="11366500" y="984250"/>
            <a:ext cx="0" cy="4572000"/>
          </a:xfrm>
          <a:prstGeom prst="line">
            <a:avLst/>
          </a:prstGeom>
          <a:noFill/>
          <a:ln w="22860">
            <a:solidFill>
              <a:srgbClr val="0C447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5" name="矩形 124"/>
          <p:cNvSpPr/>
          <p:nvPr/>
        </p:nvSpPr>
        <p:spPr>
          <a:xfrm>
            <a:off x="10795000" y="1047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10795000" y="1682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10795000" y="2317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校验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10795000" y="2952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10795000" y="3587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10795000" y="4222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沉淀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508000" y="59055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35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九域之中，定位、诊断、生成三域由后面三节关键技术展开。</a:t>
            </a:r>
            <a:endParaRPr lang="zh-CN" sz="13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功能介绍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定位、自愈、生成：三个能力，各解决一个问题。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四源融合定位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14" name="Picture 908" descr="fus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215" y="1133348"/>
            <a:ext cx="6035040" cy="3129280"/>
          </a:xfrm>
          <a:prstGeom prst="rect">
            <a:avLst/>
          </a:prstGeom>
        </p:spPr>
      </p:pic>
      <p:sp>
        <p:nvSpPr>
          <p:cNvPr id="910" name="Rounded Rectangle 909"/>
          <p:cNvSpPr/>
          <p:nvPr/>
        </p:nvSpPr>
        <p:spPr>
          <a:xfrm>
            <a:off x="6766560" y="1133348"/>
            <a:ext cx="49225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双确认 → confirmed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声明与观察一致，控件可信存在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1" name="Rounded Rectangle 910"/>
          <p:cNvSpPr/>
          <p:nvPr/>
        </p:nvSpPr>
        <p:spPr>
          <a:xfrm>
            <a:off x="6766560" y="2290572"/>
            <a:ext cx="49225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声明有 · 观察无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missing：判为疑似缺陷（差异即缺陷）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2" name="Rounded Rectangle 911"/>
          <p:cNvSpPr/>
          <p:nvPr/>
        </p:nvSpPr>
        <p:spPr>
          <a:xfrm>
            <a:off x="6722110" y="3428746"/>
            <a:ext cx="49225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声明无 · 观察有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undeclared：源码未声明的实现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Rounded Rectangle 912"/>
          <p:cNvSpPr/>
          <p:nvPr/>
        </p:nvSpPr>
        <p:spPr>
          <a:xfrm>
            <a:off x="502920" y="4877816"/>
            <a:ext cx="11186160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lnSpc>
                <a:spcPct val="108000"/>
              </a:lnSpc>
              <a:spcAft>
                <a:spcPts val="240"/>
              </a:spcAft>
            </a:pPr>
            <a:r>
              <a:rPr lang="zh-CN" altLang="en-US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源按角色分两类：声明源（静态源码、用例声明），观察源（运行时控件树、截图视觉、OCR）。</a:t>
            </a:r>
            <a:endParaRPr lang="zh-CN" altLang="en-US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8000"/>
              </a:lnSpc>
              <a:spcAft>
                <a:spcPts val="180"/>
              </a:spcAft>
            </a:pPr>
            <a:r>
              <a:rPr lang="zh-CN" altLang="en-US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每条主张是一个 Claim：kind（标识维度）、value（取值）、scope（页面范围）、evidence（证据）；声明与观察按这三项逐条对齐。</a:t>
            </a:r>
            <a:endParaRPr lang="zh-CN" altLang="en-US"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8000"/>
              </a:lnSpc>
              <a:spcAft>
                <a:spcPts val="0"/>
              </a:spcAft>
            </a:pPr>
            <a:endParaRPr lang="zh-CN" altLang="en-US"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形态一：树健康，L1 免调模型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11" name="Picture 910" descr="launcher_overla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2834640" cy="5039360"/>
          </a:xfrm>
          <a:prstGeom prst="rect">
            <a:avLst/>
          </a:prstGeom>
        </p:spPr>
      </p:pic>
      <p:sp>
        <p:nvSpPr>
          <p:cNvPr id="912" name="Rounded Rectangle 911"/>
          <p:cNvSpPr/>
          <p:nvPr/>
        </p:nvSpPr>
        <p:spPr>
          <a:xfrm>
            <a:off x="3566160" y="1097280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实测数据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桌面 211 个可见节点，18 个可交互控件，id 数为 0——但 18 个控件全部带文案标签（应用图标名）。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Rounded Rectangle 912"/>
          <p:cNvSpPr/>
          <p:nvPr/>
        </p:nvSpPr>
        <p:spPr>
          <a:xfrm>
            <a:off x="3566160" y="2176272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触发机制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控件树 hints 按关键词直接命中，即 L1 静态候选：约 50ms，全程不调用模型。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4" name="Rounded Rectangle 913"/>
          <p:cNvSpPr/>
          <p:nvPr/>
        </p:nvSpPr>
        <p:spPr>
          <a:xfrm>
            <a:off x="3566160" y="3255264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评测结果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扩充评测 26 项中 L1 免调 65.4%、一致率 100%；桌面 18 个可交互控件无一调用模型。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5" name="Rounded Rectangle 914"/>
          <p:cNvSpPr/>
          <p:nvPr/>
        </p:nvSpPr>
        <p:spPr>
          <a:xfrm>
            <a:off x="3566160" y="4334256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设计含义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树健康时无需调用多模态——这是分层降级的第一层，省下的是延迟与调用费用。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6" name="TextBox 915"/>
          <p:cNvSpPr txBox="1"/>
          <p:nvPr/>
        </p:nvSpPr>
        <p:spPr>
          <a:xfrm>
            <a:off x="502920" y="731520"/>
            <a:ext cx="111831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altLang="en-US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三形态按控件树给出的定位依据划分：树健康（hints 命中）、缺 id（有树无依据）、纯 Canvas（无可交互节点）。</a:t>
            </a:r>
            <a:endParaRPr lang="zh-CN" altLang="en-US"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3566160" y="5376672"/>
            <a:ext cx="811987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A6472"/>
                </a:solidFill>
                <a:latin typeface="微软雅黑" panose="020B0503020204020204" pitchFamily="34" charset="-122"/>
              </a:rPr>
              <a:t>定位按五级降链逐级放宽，本页命中 L1：</a:t>
            </a:r>
            <a:endParaRPr sz="1050" b="0">
              <a:solidFill>
                <a:srgbClr val="5A6472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8" name="Rounded Rectangle 917"/>
          <p:cNvSpPr/>
          <p:nvPr/>
        </p:nvSpPr>
        <p:spPr>
          <a:xfrm>
            <a:off x="3566160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L1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id 精确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9" name="Rounded Rectangle 918"/>
          <p:cNvSpPr/>
          <p:nvPr/>
        </p:nvSpPr>
        <p:spPr>
          <a:xfrm>
            <a:off x="5219395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L2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id 模糊 + 文案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0" name="Rounded Rectangle 919"/>
          <p:cNvSpPr/>
          <p:nvPr/>
        </p:nvSpPr>
        <p:spPr>
          <a:xfrm>
            <a:off x="6872630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L3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层级路径 + 类型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1" name="Rounded Rectangle 920"/>
          <p:cNvSpPr/>
          <p:nvPr/>
        </p:nvSpPr>
        <p:spPr>
          <a:xfrm>
            <a:off x="8525865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L4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视觉语义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2" name="Rounded Rectangle 921"/>
          <p:cNvSpPr/>
          <p:nvPr/>
        </p:nvSpPr>
        <p:spPr>
          <a:xfrm>
            <a:off x="10179100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L5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坐标兜底 · 告警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412480" cy="457200"/>
          </a:xfrm>
        </p:spPr>
        <p:txBody>
          <a:bodyPr wrap="square"/>
          <a:lstStyle/>
          <a:p>
            <a:r>
              <a:rPr lang="zh-CN" sz="2800" b="0">
                <a:solidFill>
                  <a:srgbClr val="1A1A1A"/>
                </a:solidFill>
              </a:rPr>
              <a:t>03 形态二：缺 id，也无文案</a:t>
            </a:r>
            <a:endParaRPr lang="zh-CN" b="0">
              <a:solidFill>
                <a:srgbClr val="1A1A1A"/>
              </a:solidFill>
            </a:endParaRPr>
          </a:p>
        </p:txBody>
      </p:sp>
      <p:sp>
        <p:nvSpPr>
          <p:cNvPr id="911" name="Rounded Rectangle 910"/>
          <p:cNvSpPr/>
          <p:nvPr/>
        </p:nvSpPr>
        <p:spPr>
          <a:xfrm>
            <a:off x="3989070" y="1005840"/>
            <a:ext cx="7696835" cy="42062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ctr"/>
            <a:r>
              <a:rPr sz="1350" b="1">
                <a:solidFill>
                  <a:srgbClr val="0B6FB8"/>
                </a:solidFill>
                <a:latin typeface="微软雅黑" panose="020B0503020204020204" pitchFamily="34" charset="-122"/>
              </a:rPr>
              <a:t>形态二 · 设置 com.ohos.settings</a:t>
            </a:r>
            <a:endParaRPr sz="1350" b="1">
              <a:solidFill>
                <a:srgbClr val="0B6FB8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2" name="Rounded Rectangle 911"/>
          <p:cNvSpPr/>
          <p:nvPr/>
        </p:nvSpPr>
        <p:spPr>
          <a:xfrm>
            <a:off x="3989070" y="1645920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183 个可见节点、28 个可交互控件；id 与文案两项均为 0。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Rounded Rectangle 912"/>
          <p:cNvSpPr/>
          <p:nvPr/>
        </p:nvSpPr>
        <p:spPr>
          <a:xfrm>
            <a:off x="3989070" y="2596896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触发：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树候选不足转入半盲页流程；截图送多模态枚举目标，产出带视觉框与标签的伪节点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4" name="Rounded Rectangle 913"/>
          <p:cNvSpPr/>
          <p:nvPr/>
        </p:nvSpPr>
        <p:spPr>
          <a:xfrm>
            <a:off x="3989070" y="3547872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接入：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伪节点直接流进既有探索循环，不需要为视觉单写一条链路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911"/>
          <p:cNvSpPr/>
          <p:nvPr/>
        </p:nvSpPr>
        <p:spPr>
          <a:xfrm>
            <a:off x="3989070" y="4498848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 项评测中 9 项一致（81.8%），是十三个应用里最难的靶标；未命中的 2 项可在报告中回溯成因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1" name="Picture 920" descr="app_settings_overla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21055"/>
            <a:ext cx="3335020" cy="59302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412480" cy="457200"/>
          </a:xfrm>
        </p:spPr>
        <p:txBody>
          <a:bodyPr wrap="square"/>
          <a:lstStyle/>
          <a:p>
            <a:r>
              <a:rPr lang="zh-CN" sz="2800" b="0">
                <a:solidFill>
                  <a:srgbClr val="1A1A1A"/>
                </a:solidFill>
              </a:rPr>
              <a:t>03 形态三：纯 Canvas 页</a:t>
            </a:r>
            <a:endParaRPr lang="zh-CN" b="0">
              <a:solidFill>
                <a:srgbClr val="1A1A1A"/>
              </a:solidFill>
            </a:endParaRPr>
          </a:p>
        </p:txBody>
      </p:sp>
      <p:sp>
        <p:nvSpPr>
          <p:cNvPr id="915" name="Rounded Rectangle 914"/>
          <p:cNvSpPr/>
          <p:nvPr/>
        </p:nvSpPr>
        <p:spPr>
          <a:xfrm>
            <a:off x="3989070" y="1005840"/>
            <a:ext cx="7696835" cy="42062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ctr"/>
            <a:r>
              <a:rPr sz="1350" b="1">
                <a:solidFill>
                  <a:srgbClr val="0B6FB8"/>
                </a:solidFill>
                <a:latin typeface="微软雅黑" panose="020B0503020204020204" pitchFamily="34" charset="-122"/>
              </a:rPr>
              <a:t>形态三 · 时钟 ohos.samples.etsclock（表盘页）</a:t>
            </a:r>
            <a:endParaRPr sz="1350" b="1">
              <a:solidFill>
                <a:srgbClr val="0B6FB8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6" name="Rounded Rectangle 915"/>
          <p:cNvSpPr/>
          <p:nvPr/>
        </p:nvSpPr>
        <p:spPr>
          <a:xfrm>
            <a:off x="3989070" y="1645920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77 个可见节点里可交互控件 0 个；4 条文案全挂在非交互节点上，整棵树没有可定位目标。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Rounded Rectangle 916"/>
          <p:cNvSpPr/>
          <p:nvPr/>
        </p:nvSpPr>
        <p:spPr>
          <a:xfrm>
            <a:off x="3989070" y="2596896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触发：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树不可用，转 OCR；读出 7 行文字——时间 14:54:11、电量 11%、信号 02:54。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8" name="Rounded Rectangle 917"/>
          <p:cNvSpPr/>
          <p:nvPr/>
        </p:nvSpPr>
        <p:spPr>
          <a:xfrm>
            <a:off x="3989070" y="3547872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证据：同一页 runtime 22 条主张里没有 14:54:11，ocr 7 行里有；两个源看到的是不同子集。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915"/>
          <p:cNvSpPr/>
          <p:nvPr/>
        </p:nvSpPr>
        <p:spPr>
          <a:xfrm>
            <a:off x="3989070" y="4498848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融合报告把该文案归入 undeclared；未声明目标 13 条均为仅观察级，不作缺陷计。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9" name="Rounded Rectangle 918"/>
          <p:cNvSpPr/>
          <p:nvPr/>
        </p:nvSpPr>
        <p:spPr>
          <a:xfrm>
            <a:off x="3989070" y="5541264"/>
            <a:ext cx="7696835" cy="640080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ctr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纯 Canvas 页是没有语义锚点</a:t>
            </a: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的，OCR 是唯一能读到内容的通道。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0" name="Picture 919" descr="etsclo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21055"/>
            <a:ext cx="3335020" cy="5930265"/>
          </a:xfrm>
          <a:prstGeom prst="rect">
            <a:avLst/>
          </a:prstGeom>
        </p:spPr>
      </p:pic>
      <p:sp>
        <p:nvSpPr>
          <p:cNvPr id="921" name="Frame909"/>
          <p:cNvSpPr/>
          <p:nvPr/>
        </p:nvSpPr>
        <p:spPr>
          <a:xfrm>
            <a:off x="502920" y="821055"/>
            <a:ext cx="3335020" cy="5930265"/>
          </a:xfrm>
          <a:prstGeom prst="rect">
            <a:avLst/>
          </a:prstGeom>
          <a:noFill/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跨应用实测：十三个应用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438912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5A6472"/>
                </a:solidFill>
                <a:latin typeface="微软雅黑"/>
                <a:ea typeface="微软雅黑"/>
              </a:rPr>
              <a:t>两批评测 · 46 项样本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4480560" cy="1417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600" b="1" lang="zh-CN">
                <a:solidFill>
                  <a:srgbClr val="0B6FB8"/>
                </a:solidFill>
                <a:latin typeface="微软雅黑"/>
                <a:ea typeface="微软雅黑"/>
              </a:rPr>
              <a:t>97.8%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89504"/>
            <a:ext cx="448056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00" b="0" lang="zh-CN">
                <a:solidFill>
                  <a:srgbClr val="1A1A1A"/>
                </a:solidFill>
                <a:latin typeface="微软雅黑"/>
                <a:ea typeface="微软雅黑"/>
              </a:rPr>
              <a:t>45 / 46 项一致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46704"/>
            <a:ext cx="448056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00" b="0" lang="zh-CN">
                <a:solidFill>
                  <a:srgbClr val="1A1A1A"/>
                </a:solidFill>
                <a:latin typeface="微软雅黑"/>
                <a:ea typeface="微软雅黑"/>
              </a:rPr>
              <a:t>最难靶标 81.8%（设置页）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49240"/>
            <a:ext cx="6583680" cy="7315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00" b="1" lang="zh-CN">
                <a:solidFill>
                  <a:srgbClr val="0B6FB8"/>
                </a:solidFill>
                <a:latin typeface="微软雅黑"/>
                <a:ea typeface="微软雅黑"/>
              </a:rPr>
              <a:t>13 个应用里 11 个的 id 数为 0，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742432"/>
            <a:ext cx="658368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00" b="1" lang="zh-CN">
                <a:solidFill>
                  <a:srgbClr val="0B6FB8"/>
                </a:solidFill>
                <a:latin typeface="微软雅黑"/>
                <a:ea typeface="微软雅黑"/>
              </a:rPr>
              <a:t>定位只能靠文案、层级与视觉这三条通道。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1042415"/>
            <a:ext cx="173736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1042415"/>
            <a:ext cx="91440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节点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1042415"/>
            <a:ext cx="132588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可交互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1042415"/>
            <a:ext cx="96012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1042415"/>
            <a:ext cx="1874519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一致率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74920" y="1389888"/>
            <a:ext cx="6556248" cy="0"/>
          </a:xfrm>
          <a:prstGeom prst="line">
            <a:avLst/>
          </a:prstGeom>
          <a:ln w="11430">
            <a:solidFill>
              <a:srgbClr val="C9D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74920" y="14813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设置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4813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14813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14813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14813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81.8%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9385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19385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211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9385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19385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9385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无合格项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23957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时钟 · 表盘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23957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3957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3957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23957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走 OCR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28529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备忘录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529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28529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28529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28529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74920" y="33101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计算器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80" y="33101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33101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33101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33101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id 充足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4920" y="37673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时钟 · 翻页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37673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37673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37673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37673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4370832"/>
            <a:ext cx="658368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其余 7 个应用：5 个 100%，信息页无合格项，音乐未进评测集。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失败归因与自愈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18" name="Picture 913" descr="heal_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10424160" cy="2360187"/>
          </a:xfrm>
          <a:prstGeom prst="rect">
            <a:avLst/>
          </a:prstGeom>
        </p:spPr>
      </p:pic>
      <p:sp>
        <p:nvSpPr>
          <p:cNvPr id="915" name="Rounded Rectangle 914"/>
          <p:cNvSpPr/>
          <p:nvPr/>
        </p:nvSpPr>
        <p:spPr>
          <a:xfrm>
            <a:off x="502920" y="3595370"/>
            <a:ext cx="5478780" cy="2235835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归因：先取证，再判定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失败瞬间打包：截图 + 连续多棵控件树 + faultlogger + 设备状态。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判据强度由实测标定：kill -11 判 1.0，kill -9 只计弱证据；判据不足时输出未知，不作推断。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6" name="Rounded Rectangle 915"/>
          <p:cNvSpPr/>
          <p:nvPr/>
        </p:nvSpPr>
        <p:spPr>
          <a:xfrm>
            <a:off x="6210300" y="3595370"/>
            <a:ext cx="5478780" cy="2235835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自愈：换代产物回写账本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失败按 (来源, 代次, locator_id) 幂等记账，同一失败不重复计数。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连续失败达阈值触发换代；新定位器须先在树上唯一命中（L1 或 L3）才入账。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502920" y="5989320"/>
            <a:ext cx="1118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归因与自愈共用同一份取证包，打包一次供判定与换代两处使用。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可信用例生成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5" name="Rounded Rectangle 914"/>
          <p:cNvSpPr/>
          <p:nvPr>
            <p:custDataLst>
              <p:tags r:id="rId1"/>
            </p:custDataLst>
          </p:nvPr>
        </p:nvSpPr>
        <p:spPr>
          <a:xfrm>
            <a:off x="502920" y="1234440"/>
            <a:ext cx="457200" cy="10515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6" name="Rounded Rectangle 915"/>
          <p:cNvSpPr/>
          <p:nvPr>
            <p:custDataLst>
              <p:tags r:id="rId2"/>
            </p:custDataLst>
          </p:nvPr>
        </p:nvSpPr>
        <p:spPr>
          <a:xfrm>
            <a:off x="1069848" y="1234440"/>
            <a:ext cx="10619232" cy="10515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可失败性机械校验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六阶段流水线：解析需求 → 生成测试点（六维度）→ 选控件 → 写 DSL → 静态校验 → 导出闸。每步只校验两件事：能不能失败、失败是否指向应用。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Rounded Rectangle 916"/>
          <p:cNvSpPr/>
          <p:nvPr>
            <p:custDataLst>
              <p:tags r:id="rId3"/>
            </p:custDataLst>
          </p:nvPr>
        </p:nvSpPr>
        <p:spPr>
          <a:xfrm>
            <a:off x="502920" y="2441448"/>
            <a:ext cx="457200" cy="10515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8" name="Rounded Rectangle 917"/>
          <p:cNvSpPr/>
          <p:nvPr>
            <p:custDataLst>
              <p:tags r:id="rId4"/>
            </p:custDataLst>
          </p:nvPr>
        </p:nvSpPr>
        <p:spPr>
          <a:xfrm>
            <a:off x="1069848" y="2441448"/>
            <a:ext cx="10619232" cy="10515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断言从事实提取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断言基准取自于探索状态图与真实控件树，写的是页面应有状态与点击后的结果，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而不由模型想象。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9" name="Rounded Rectangle 918"/>
          <p:cNvSpPr/>
          <p:nvPr>
            <p:custDataLst>
              <p:tags r:id="rId5"/>
            </p:custDataLst>
          </p:nvPr>
        </p:nvSpPr>
        <p:spPr>
          <a:xfrm>
            <a:off x="502920" y="3648456"/>
            <a:ext cx="457200" cy="10515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0" name="Rounded Rectangle 919"/>
          <p:cNvSpPr/>
          <p:nvPr>
            <p:custDataLst>
              <p:tags r:id="rId6"/>
            </p:custDataLst>
          </p:nvPr>
        </p:nvSpPr>
        <p:spPr>
          <a:xfrm>
            <a:off x="1069848" y="3648456"/>
            <a:ext cx="10619232" cy="10515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5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生成-执行-反馈闭环</a:t>
            </a:r>
            <a:endParaRPr lang="zh-CN" altLang="en-US" sz="155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模型按执行结果与归因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来迭代；过闸用例导出 hypium 脚本（API 15），真机执行；压测覆盖重复点击、连续滑动、页面反复进出、长稳四类。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502920" y="5029200"/>
            <a:ext cx="11186160" cy="5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实测：hypium 导出真机 2/2 通过；用例健康度复用 calculator 7/7、note_stability 2/2。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指标设计：以步骤通过率评价用例会奖励空壳，导出前由空壳闸拒收。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验证结果与边界权衡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十三个应用、四种形态，全部真机；边界如实列出。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真机验证结果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170432"/>
            <a:ext cx="6949440" cy="8686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5600" b="1" lang="zh-CN">
                <a:solidFill>
                  <a:srgbClr val="0B6FB8"/>
                </a:solidFill>
                <a:latin typeface="微软雅黑"/>
                <a:ea typeface="微软雅黑"/>
              </a:rPr>
              <a:t>115 轮，0 失败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139696"/>
            <a:ext cx="704088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00" b="0" lang="zh-CN">
                <a:solidFill>
                  <a:srgbClr val="1A1A1A"/>
                </a:solidFill>
                <a:latin typeface="微软雅黑"/>
                <a:ea typeface="微软雅黑"/>
              </a:rPr>
              <a:t>连续 126.9 分钟，每轮 12 步，全部在真机上跑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924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2189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2821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3454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4086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4718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5351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983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6616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7248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7880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8513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9145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9778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0410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71042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1675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2307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2940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3572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4204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24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1556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42189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72821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3454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34086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64718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95351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25983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6616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7248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7880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48513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9145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778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40410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71042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01675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2307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62940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93572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24204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0924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11556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42189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72821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03454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34086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64718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95351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25983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56616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87248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17880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48513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79145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09778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40410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71042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01675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632307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62940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93572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24204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0292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0924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11556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42189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172821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203454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234086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64718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95351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325983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56616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87248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17880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48513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79145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09778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40410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71042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01675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32307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662940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693572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724204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292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80924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11556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142189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72821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03454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234086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264718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295351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325983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356616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387248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17880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448513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479145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509778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540410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1042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601675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32307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62940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693572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24204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02920" y="4384548"/>
            <a:ext cx="7315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一格是一轮；115 格全部通过，过程中没有一次人工干预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183879" y="1152144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126.9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2168" y="1700784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分钟连续执行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183879" y="2157984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115 / 115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02168" y="2706624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前台核验通过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183879" y="3163824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-1.70%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202168" y="3712463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PSS 斜率，无内存泄漏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183879" y="4169663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1380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02168" y="4718303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步累计执行（115 轮 × 12 步）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</a:rPr>
              <a:t>04 定位通道与覆盖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2" name="TextBox 921"/>
          <p:cNvSpPr txBox="1"/>
          <p:nvPr/>
        </p:nvSpPr>
        <p:spPr>
          <a:xfrm>
            <a:off x="504825" y="1047750"/>
            <a:ext cx="571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定位通道对比：L1 免调模型率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23" name="Chart 922"/>
          <p:cNvGraphicFramePr>
            <a:graphicFrameLocks noGrp="1"/>
          </p:cNvGraphicFramePr>
          <p:nvPr/>
        </p:nvGraphicFramePr>
        <p:xfrm>
          <a:off x="504825" y="1428750"/>
          <a:ext cx="59055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24" name="Rounded Rectangle 923"/>
          <p:cNvSpPr/>
          <p:nvPr/>
        </p:nvSpPr>
        <p:spPr>
          <a:xfrm>
            <a:off x="6667500" y="1428750"/>
            <a:ext cx="5019675" cy="18097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137160" bIns="27432" rtlCol="0" anchor="ctr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读数说明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补充树候选文案后，多数控件无需调用模型：首批 70.0% 对 10.0%，扩充批 65.4% 对 15.4%。</a:t>
            </a:r>
            <a:endParaRPr sz="12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922"/>
          <p:cNvSpPr/>
          <p:nvPr/>
        </p:nvSpPr>
        <p:spPr>
          <a:xfrm>
            <a:off x="6667500" y="3476625"/>
            <a:ext cx="5019675" cy="1952625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137160" bIns="27432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探索覆盖率</a:t>
            </a:r>
            <a:endParaRPr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页面覆盖 3/3 = 100%；5 状态 / 7 跳转。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pPr algn="l"/>
            <a:r>
              <a:rPr lang="zh-CN" altLang="en-US"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跨形态：折叠屏双态</a:t>
            </a:r>
            <a:endParaRPr lang="zh-CN" altLang="en-US"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5" name="Picture 919" descr="fold_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70432"/>
            <a:ext cx="7315200" cy="3396342"/>
          </a:xfrm>
          <a:prstGeom prst="rect">
            <a:avLst/>
          </a:prstGeom>
        </p:spPr>
      </p:pic>
      <p:sp>
        <p:nvSpPr>
          <p:cNvPr id="921" name="Rounded Rectangle 920"/>
          <p:cNvSpPr/>
          <p:nvPr/>
        </p:nvSpPr>
        <p:spPr>
          <a:xfrm>
            <a:off x="8046720" y="1188720"/>
            <a:ext cx="3642360" cy="14630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双态实测（同一应用）</a:t>
            </a:r>
            <a:endParaRPr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展开态 2416×2210 / 236 元素，收起态 1080×2444 / 110 元素。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2" name="Rounded Rectangle 921"/>
          <p:cNvSpPr/>
          <p:nvPr/>
        </p:nvSpPr>
        <p:spPr>
          <a:xfrm>
            <a:off x="8046720" y="2788920"/>
            <a:ext cx="3642360" cy="178308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差异检出（四类判据之二）</a:t>
            </a:r>
            <a:endParaRPr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设置页：缺失 77、溢出 4；桌面页：缺失 14、溢出 1。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溢出是真缺陷候选：遮罩与动效控件越出父容器。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3" name="Rounded Rectangle 922"/>
          <p:cNvSpPr/>
          <p:nvPr/>
        </p:nvSpPr>
        <p:spPr>
          <a:xfrm>
            <a:off x="502920" y="4864608"/>
            <a:ext cx="11186160" cy="65836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互证：134 个重放失败步骤全部集中在收起态，与静态差异报告同源印证。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4" name="TextBox 923"/>
          <p:cNvSpPr txBox="1"/>
          <p:nvPr/>
        </p:nvSpPr>
        <p:spPr>
          <a:xfrm>
            <a:off x="502920" y="731520"/>
            <a:ext cx="111831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altLang="en-US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折叠屏双态是本页样本；phone / tablet / 2in1 走同一套流程，同样适用。</a:t>
            </a:r>
            <a:endParaRPr lang="zh-CN" altLang="en-US"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已知边界与设计权衡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2" name="Rounded Rectangle 921"/>
          <p:cNvSpPr/>
          <p:nvPr/>
        </p:nvSpPr>
        <p:spPr>
          <a:xfrm>
            <a:off x="502920" y="1280160"/>
            <a:ext cx="420624" cy="12801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sz="17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3" name="Rounded Rectangle 922"/>
          <p:cNvSpPr/>
          <p:nvPr/>
        </p:nvSpPr>
        <p:spPr>
          <a:xfrm>
            <a:off x="1033272" y="1280160"/>
            <a:ext cx="10655808" cy="12801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定位延迟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P50 1388ms，其中 99% 是设备侧一次 dumpLayout 往返，宿主解析与匹配约 10ms。方向是减少 dump 次数：页级缓存、结构指纹命中即跳过。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4" name="Rounded Rectangle 923"/>
          <p:cNvSpPr/>
          <p:nvPr/>
        </p:nvSpPr>
        <p:spPr>
          <a:xfrm>
            <a:off x="502920" y="2651760"/>
            <a:ext cx="420624" cy="12801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sz="17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5" name="Rounded Rectangle 924"/>
          <p:cNvSpPr/>
          <p:nvPr/>
        </p:nvSpPr>
        <p:spPr>
          <a:xfrm>
            <a:off x="1033272" y="2651760"/>
            <a:ext cx="10655808" cy="12801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自愈的真机边界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离线受控树自愈 10/10；真机树 id 覆盖仅 5.62%，换代正常触发。纯 Canvas 键盘（按键在树里连文案都没有）线索全灭时，自动换到视觉通道定人，真机降级链 A/B/C/D 四场景全 PASS，换代后直连命中。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6" name="Rounded Rectangle 925"/>
          <p:cNvSpPr/>
          <p:nvPr/>
        </p:nvSpPr>
        <p:spPr>
          <a:xfrm>
            <a:off x="502920" y="4023360"/>
            <a:ext cx="420624" cy="12801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sz="17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7" name="Rounded Rectangle 926"/>
          <p:cNvSpPr/>
          <p:nvPr/>
        </p:nvSpPr>
        <p:spPr>
          <a:xfrm>
            <a:off x="1033272" y="4023360"/>
            <a:ext cx="10655808" cy="12801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用例生成的真实边界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真机执行 L3，两轮：L2 均 24/26 = 92.3%（空壳 0）；用例级 23/24 与 22/24、步骤级 176/177 与 170/172。此前 0/2 的根因是断言写错页面，已按页给控件清单修正。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rm"/>
          <p:cNvSpPr/>
          <p:nvPr/>
        </p:nvSpPr>
        <p:spPr>
          <a:xfrm>
            <a:off x="502920" y="1024128"/>
            <a:ext cx="7406640" cy="4389120"/>
          </a:xfrm>
          <a:prstGeom prst="roundRect">
            <a:avLst>
              <a:gd name="adj" fmla="val 3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rmBar"/>
          <p:cNvSpPr/>
          <p:nvPr/>
        </p:nvSpPr>
        <p:spPr>
          <a:xfrm>
            <a:off x="502920" y="1024128"/>
            <a:ext cx="7406640" cy="365760"/>
          </a:xfrm>
          <a:prstGeom prst="roundRect">
            <a:avLst>
              <a:gd name="adj" fmla="val 10000"/>
            </a:avLst>
          </a:prstGeom>
          <a:solidFill>
            <a:srgbClr val="2A3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4088" y="1152144"/>
            <a:ext cx="118872" cy="118872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23544" y="1152144"/>
            <a:ext cx="118872" cy="118872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43000" y="1152144"/>
            <a:ext cx="118872" cy="118872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63040" y="110642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lang="zh-CN">
                <a:solidFill>
                  <a:srgbClr val="C8D2E0"/>
                </a:solidFill>
                <a:latin typeface="Consolas"/>
                <a:ea typeface="Consolas"/>
              </a:rPr>
              <a:t>demo_full_chain.py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" y="1554480"/>
            <a:ext cx="6903720" cy="3703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500" b="1" lang="en-US">
                <a:solidFill>
                  <a:srgbClr val="5BD07E"/>
                </a:solidFill>
                <a:latin typeface="Consolas"/>
                <a:ea typeface="微软雅黑"/>
              </a:rPr>
              <a:t>$ </a:t>
            </a:r>
            <a:r>
              <a:rPr sz="1500" b="1" lang="en-US">
                <a:solidFill>
                  <a:srgbClr val="FFFFFF"/>
                </a:solidFill>
                <a:latin typeface="Consolas"/>
                <a:ea typeface="微软雅黑"/>
              </a:rPr>
              <a:t>python tools/demo_full_chain.py</a:t>
            </a:r>
          </a:p>
          <a:p>
            <a:pPr>
              <a:lnSpc>
                <a:spcPct val="128000"/>
              </a:lnSpc>
            </a:pPr>
            <a:r>
              <a:rPr sz="1300" b="0" lang="en-US">
                <a:solidFill>
                  <a:srgbClr val="8E99AB"/>
                </a:solidFill>
                <a:latin typeface="Consolas"/>
                <a:ea typeface="微软雅黑"/>
              </a:rPr>
              <a:t>模式：离线（FakeHdc 模拟设备，不连真机、不联网）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[1/8] 拉起应用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  ✓ login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[2/8] 语义定位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✓ id / 文本 / 模糊 三路命中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[3/8] 输入 → 点击 → 断言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✓「首页」出现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[4/8] 自动探索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✓ 3 状态 / 11 跳转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[5/8] 自然语言 → 用例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✓ 5 步用例落盘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[6/8] 执行生成的用例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✓ 5 / 5 通过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[7/8] 失败步归因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✓ 定位失败 0.60，已回写自愈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[8/8] 生成报告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✓ json / md / html</a:t>
            </a:r>
          </a:p>
          <a:p>
            <a:pPr>
              <a:lnSpc>
                <a:spcPct val="128000"/>
              </a:lnSpc>
            </a:pPr>
            <a:r>
              <a:rPr sz="1500" b="1" lang="en-US">
                <a:solidFill>
                  <a:srgbClr val="5AC8FA"/>
                </a:solidFill>
                <a:latin typeface="Consolas"/>
                <a:ea typeface="微软雅黑"/>
              </a:rPr>
              <a:t>8 / 8 步骤通过，产物 3 份，离线模式下用时约 32 秒</a:t>
            </a:r>
          </a:p>
          <a:p>
            <a:pPr>
              <a:lnSpc>
                <a:spcPct val="128000"/>
              </a:lnSpc>
            </a:pPr>
            <a:r>
              <a:rPr sz="1200" b="0" lang="en-US">
                <a:solidFill>
                  <a:srgbClr val="8E99AB"/>
                </a:solidFill>
                <a:latin typeface="Consolas"/>
                <a:ea typeface="微软雅黑"/>
              </a:rPr>
              <a:t>只依赖 Python 3.9+ 与 hdc，不引入第三方框架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38160" y="1024128"/>
            <a:ext cx="3547872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21040" y="115214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zh-CN">
                <a:solidFill>
                  <a:srgbClr val="0B6FB8"/>
                </a:solidFill>
                <a:latin typeface="微软雅黑"/>
                <a:ea typeface="微软雅黑"/>
              </a:rPr>
              <a:t>01  </a:t>
            </a:r>
            <a:r>
              <a:rPr sz="1700" b="1" lang="zh-CN">
                <a:solidFill>
                  <a:srgbClr val="1A1A1A"/>
                </a:solidFill>
                <a:latin typeface="微软雅黑"/>
                <a:ea typeface="微软雅黑"/>
              </a:rPr>
              <a:t>三种报告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39327" y="1536192"/>
            <a:ext cx="316382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3A4553"/>
                </a:solidFill>
                <a:latin typeface="微软雅黑"/>
                <a:ea typeface="微软雅黑"/>
              </a:rPr>
              <a:t>JSON 接 CI 看趋势，Markdown 进 PR，HTML 带截图归档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138160" y="2487168"/>
            <a:ext cx="3547872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21040" y="261518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zh-CN">
                <a:solidFill>
                  <a:srgbClr val="0B6FB8"/>
                </a:solidFill>
                <a:latin typeface="微软雅黑"/>
                <a:ea typeface="微软雅黑"/>
              </a:rPr>
              <a:t>02  </a:t>
            </a:r>
            <a:r>
              <a:rPr sz="1700" b="1" lang="zh-CN">
                <a:solidFill>
                  <a:srgbClr val="1A1A1A"/>
                </a:solidFill>
                <a:latin typeface="微软雅黑"/>
                <a:ea typeface="微软雅黑"/>
              </a:rPr>
              <a:t>四步上手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39327" y="2999232"/>
            <a:ext cx="316382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3A4553"/>
                </a:solidFill>
                <a:latin typeface="微软雅黑"/>
                <a:ea typeface="微软雅黑"/>
              </a:rPr>
              <a:t>doctor → offline_demo → dump_tree → smoke_test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38160" y="3950208"/>
            <a:ext cx="3547872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21040" y="407822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zh-CN">
                <a:solidFill>
                  <a:srgbClr val="0B6FB8"/>
                </a:solidFill>
                <a:latin typeface="微软雅黑"/>
                <a:ea typeface="微软雅黑"/>
              </a:rPr>
              <a:t>03  </a:t>
            </a:r>
            <a:r>
              <a:rPr sz="1700" b="1" lang="zh-CN">
                <a:solidFill>
                  <a:srgbClr val="1A1A1A"/>
                </a:solidFill>
                <a:latin typeface="微软雅黑"/>
                <a:ea typeface="微软雅黑"/>
              </a:rPr>
              <a:t>轨迹成资产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39327" y="4462272"/>
            <a:ext cx="316382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3A4553"/>
                </a:solidFill>
                <a:latin typeface="微软雅黑"/>
                <a:ea typeface="微软雅黑"/>
              </a:rPr>
              <a:t>留痕反推步骤，冷启动重放 4/4 命中，可挂 CI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5650992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lang="zh-CN">
                <a:solidFill>
                  <a:srgbClr val="0B6FB8"/>
                </a:solidFill>
                <a:latin typeface="微软雅黑"/>
                <a:ea typeface="微软雅黑"/>
              </a:rPr>
              <a:t>一条命令，从拉起应用到三份报告，中途没有一次人工干预。</a:t>
            </a:r>
          </a:p>
        </p:txBody>
      </p:sp>
      <p:sp>
        <p:nvSpPr>
          <p:cNvPr id="68" name="TitleRestored"/>
          <p:cNvSpPr txBox="1"/>
          <p:nvPr/>
        </p:nvSpPr>
        <p:spPr>
          <a:xfrm>
            <a:off x="219456" y="173736"/>
            <a:ext cx="8129016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0" lang="zh-CN">
                <a:solidFill>
                  <a:srgbClr val="1A1A1A"/>
                </a:solidFill>
                <a:latin typeface="微软雅黑"/>
                <a:ea typeface="微软雅黑"/>
              </a:rPr>
              <a:t>04 可复现交付：一条命令跑通全链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团队分工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Rounded Rectangle 914"/>
          <p:cNvSpPr/>
          <p:nvPr/>
        </p:nvSpPr>
        <p:spPr>
          <a:xfrm>
            <a:off x="504825" y="127635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李士伊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视觉与定位</a:t>
            </a:r>
            <a:endParaRPr sz="12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Rounded Rectangle 915"/>
          <p:cNvSpPr/>
          <p:nvPr/>
        </p:nvSpPr>
        <p:spPr>
          <a:xfrm>
            <a:off x="3000375" y="1276350"/>
            <a:ext cx="8686800" cy="12001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vision / locator / matcher / layout</a:t>
            </a:r>
            <a:endParaRPr sz="15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截图视觉定位、候选匹配、版面分析。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4" name="Rounded Rectangle 914"/>
          <p:cNvSpPr/>
          <p:nvPr/>
        </p:nvSpPr>
        <p:spPr>
          <a:xfrm>
            <a:off x="504825" y="266700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郑阿伟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探索与生成</a:t>
            </a:r>
            <a:endParaRPr sz="12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5" name="Rounded Rectangle 915"/>
          <p:cNvSpPr/>
          <p:nvPr/>
        </p:nvSpPr>
        <p:spPr>
          <a:xfrm>
            <a:off x="3000375" y="2667000"/>
            <a:ext cx="8686800" cy="12001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explorer / action / generator / diagnose</a:t>
            </a:r>
            <a:endParaRPr sz="15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页面状态图探索、用例生成、失败诊断。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6" name="Rounded Rectangle 914"/>
          <p:cNvSpPr/>
          <p:nvPr/>
        </p:nvSpPr>
        <p:spPr>
          <a:xfrm>
            <a:off x="504825" y="405765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周承志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队长 · 集成与质量</a:t>
            </a:r>
            <a:endParaRPr sz="12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7" name="Rounded Rectangle 915"/>
          <p:cNvSpPr/>
          <p:nvPr/>
        </p:nvSpPr>
        <p:spPr>
          <a:xfrm>
            <a:off x="3000375" y="4057650"/>
            <a:ext cx="8686800" cy="12001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hdc / driver / runner / fusion / tools / tests</a:t>
            </a:r>
            <a:endParaRPr sz="15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设备通信与执行调度、四源融合内核、质量门禁（1570 项测试 / 覆盖率 89%）、集成与文档。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TextBox 916"/>
          <p:cNvSpPr txBox="1"/>
          <p:nvPr/>
        </p:nvSpPr>
        <p:spPr>
          <a:xfrm>
            <a:off x="504825" y="5505450"/>
            <a:ext cx="111823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协作方式：跨模块改动经代码评审、自动化测试、真机验证、文档同步四步合入。</a:t>
            </a:r>
            <a:endParaRPr sz="1300">
              <a:solidFill>
                <a:srgbClr val="5555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A8F6"/>
        </a:solidFill>
        <a:effectLst/>
      </p:bgPr>
    </p:bg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文本框 8"/>
          <p:cNvSpPr txBox="1"/>
          <p:nvPr/>
        </p:nvSpPr>
        <p:spPr>
          <a:xfrm>
            <a:off x="3630897" y="2504731"/>
            <a:ext cx="507752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HarmonyOS Sans" panose="00000800000000000000" charset="0"/>
              </a:rPr>
              <a:t>谢  谢</a:t>
            </a:r>
            <a:endParaRPr kumimoji="0" lang="en-US" altLang="zh-CN" sz="6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HarmonyOS Sans" panose="00000800000000000000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2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3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4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5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6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7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8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9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10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11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12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heme/theme1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4113</Words>
  <Application>WPS 演示</Application>
  <PresentationFormat/>
  <Paragraphs>425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4" baseType="lpstr">
      <vt:lpstr>Arial</vt:lpstr>
      <vt:lpstr>宋体</vt:lpstr>
      <vt:lpstr>Wingdings</vt:lpstr>
      <vt:lpstr>Source Han Sans CN Normal</vt:lpstr>
      <vt:lpstr>微软雅黑</vt:lpstr>
      <vt:lpstr>Source Han Sans CN Bold</vt:lpstr>
      <vt:lpstr>Source Han Sans CN Regular</vt:lpstr>
      <vt:lpstr>Microsoft YaHei Regular</vt:lpstr>
      <vt:lpstr>HarmonyOS Sans</vt:lpstr>
      <vt:lpstr>FFont-Family</vt:lpstr>
      <vt:lpstr>Arial Unicode MS</vt:lpstr>
      <vt:lpstr>KSOFBCC610B3</vt:lpstr>
      <vt:lpstr>等线</vt:lpstr>
      <vt:lpstr>Calibri</vt:lpstr>
      <vt:lpstr>1_自定义设计方案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未期</cp:lastModifiedBy>
  <cp:revision>19</cp:revision>
  <dcterms:created xsi:type="dcterms:W3CDTF">2026-10-14T09:30:00Z</dcterms:created>
  <dcterms:modified xsi:type="dcterms:W3CDTF">2026-10-20T12:01:27Z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1A6DA3413B0A4B4692244F580C576D44_12</vt:lpwstr>
  </property>
  <property fmtid="{D5CDD505-2E9C-101B-9397-08002B2CF9AE}" pid="3" name="KSOProductBuildVer">
    <vt:lpwstr>2052-12.1.0.29161</vt:lpwstr>
  </property>
</Properties>
</file>