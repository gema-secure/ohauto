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3"/>
    <p:sldId id="257" r:id="rId4"/>
    <p:sldId id="259" r:id="rId5"/>
    <p:sldId id="287" r:id="rId6"/>
    <p:sldId id="286" r:id="rId7"/>
    <p:sldId id="278" r:id="rId8"/>
    <p:sldId id="279" r:id="rId9"/>
    <p:sldId id="280" r:id="rId10"/>
    <p:sldId id="272" r:id="rId11"/>
    <p:sldId id="284" r:id="rId12"/>
    <p:sldId id="269" r:id="rId13"/>
    <p:sldId id="274" r:id="rId14"/>
    <p:sldId id="285" r:id="rId15"/>
    <p:sldId id="281" r:id="rId16"/>
    <p:sldId id="277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91" autoAdjust="0"/>
    <p:restoredTop sz="94607" autoAdjust="0"/>
  </p:normalViewPr>
  <p:slideViewPr>
    <p:cSldViewPr snapToGrid="0" showGuides="1">
      <p:cViewPr varScale="1">
        <p:scale>
          <a:sx n="62" d="100"/>
          <a:sy n="62" d="100"/>
        </p:scale>
        <p:origin x="1192" y="52"/>
      </p:cViewPr>
      <p:guideLst>
        <p:guide orient="horz" pos="240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CE6E62-0A4A-440F-A3A0-1904151E0F6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1"/>
          </p:cNvPicPr>
          <p:nvPr userDrawn="1"/>
        </p:nvPicPr>
        <p:blipFill rotWithShape="1">
          <a:blip r:embed="rId2" cstate="print">
            <a:alphaModFix amt="20000"/>
          </a:blip>
          <a:srcRect b="13216"/>
          <a:stretch>
            <a:fillRect/>
          </a:stretch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11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1"/>
          </p:cNvPicPr>
          <p:nvPr userDrawn="1"/>
        </p:nvPicPr>
        <p:blipFill>
          <a:blip r:embed="rId3" cstate="print">
            <a:alphaModFix amt="21000"/>
          </a:blip>
          <a:srcRect/>
          <a:stretch>
            <a:fillRect/>
          </a:stretch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bg>
      <p:bgPr>
        <a:solidFill>
          <a:schemeClr val="bg1"/>
        </a:solidFill>
        <a:effectLst/>
      </p:bgPr>
    </p:bg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13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4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25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7" name="文本占位符 9"/>
          <p:cNvSpPr>
            <a:spLocks noGrp="1"/>
          </p:cNvSpPr>
          <p:nvPr>
            <p:ph type="body" sz="quarter" idx="13" hasCustomPrompt="1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/>
              <a:t>单击此处编辑母版文本</a:t>
            </a:r>
            <a:endParaRPr kumimoji="1" lang="zh-CN" altLang="en-US"/>
          </a:p>
        </p:txBody>
      </p:sp>
      <p:pic>
        <p:nvPicPr>
          <p:cNvPr id="28" name="图片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29" name="矩形 3"/>
          <p:cNvSpPr/>
          <p:nvPr userDrawn="1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bg>
      <p:bgPr>
        <a:solidFill>
          <a:schemeClr val="bg1"/>
        </a:solidFill>
        <a:effectLst/>
      </p:bgPr>
    </p:bg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2" name="图片 3"/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biLevel thresh="25000"/>
          </a:blip>
          <a:srcRect t="32381"/>
          <a:stretch>
            <a:fillRect/>
          </a:stretch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3" name="组合 5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4" name="文本框 10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35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6" name="图片 4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39" name="组合 1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0" name="文本框 2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1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2" name="矩形 9"/>
          <p:cNvSpPr/>
          <p:nvPr userDrawn="1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marL="0" marR="0" lvl="0" indent="0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8A8F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3" name="文本框 10"/>
          <p:cNvSpPr txBox="1"/>
          <p:nvPr userDrawn="1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32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 lang="en-US" altLang="zh-CN" sz="32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6" name="组合 5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7" name="文本框 6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8" name="直接连接符 7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容"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"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.xml"/><Relationship Id="rId7" Type="http://schemas.openxmlformats.org/officeDocument/2006/relationships/tags" Target="../tags/tag12.xml"/><Relationship Id="rId6" Type="http://schemas.openxmlformats.org/officeDocument/2006/relationships/tags" Target="../tags/tag11.xml"/><Relationship Id="rId5" Type="http://schemas.openxmlformats.org/officeDocument/2006/relationships/image" Target="../media/image10.png"/><Relationship Id="rId4" Type="http://schemas.openxmlformats.org/officeDocument/2006/relationships/tags" Target="../tags/tag10.xml"/><Relationship Id="rId3" Type="http://schemas.openxmlformats.org/officeDocument/2006/relationships/image" Target="../media/image9.png"/><Relationship Id="rId2" Type="http://schemas.openxmlformats.org/officeDocument/2006/relationships/tags" Target="../tags/tag9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.xml"/><Relationship Id="rId8" Type="http://schemas.openxmlformats.org/officeDocument/2006/relationships/tags" Target="../tags/tag20.xml"/><Relationship Id="rId7" Type="http://schemas.openxmlformats.org/officeDocument/2006/relationships/tags" Target="../tags/tag19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2" Type="http://schemas.openxmlformats.org/officeDocument/2006/relationships/slideLayout" Target="../slideLayouts/slideLayout5.xml"/><Relationship Id="rId11" Type="http://schemas.openxmlformats.org/officeDocument/2006/relationships/image" Target="../media/image13.png"/><Relationship Id="rId10" Type="http://schemas.openxmlformats.org/officeDocument/2006/relationships/tags" Target="../tags/tag22.xml"/><Relationship Id="rId1" Type="http://schemas.openxmlformats.org/officeDocument/2006/relationships/tags" Target="../tags/tag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31.xml"/><Relationship Id="rId8" Type="http://schemas.openxmlformats.org/officeDocument/2006/relationships/tags" Target="../tags/tag30.xml"/><Relationship Id="rId7" Type="http://schemas.openxmlformats.org/officeDocument/2006/relationships/tags" Target="../tags/tag29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7" Type="http://schemas.openxmlformats.org/officeDocument/2006/relationships/slideLayout" Target="../slideLayouts/slideLayout5.xml"/><Relationship Id="rId16" Type="http://schemas.openxmlformats.org/officeDocument/2006/relationships/tags" Target="../tags/tag38.xml"/><Relationship Id="rId15" Type="http://schemas.openxmlformats.org/officeDocument/2006/relationships/tags" Target="../tags/tag37.xml"/><Relationship Id="rId14" Type="http://schemas.openxmlformats.org/officeDocument/2006/relationships/tags" Target="../tags/tag36.xml"/><Relationship Id="rId13" Type="http://schemas.openxmlformats.org/officeDocument/2006/relationships/tags" Target="../tags/tag35.xml"/><Relationship Id="rId12" Type="http://schemas.openxmlformats.org/officeDocument/2006/relationships/tags" Target="../tags/tag34.xml"/><Relationship Id="rId11" Type="http://schemas.openxmlformats.org/officeDocument/2006/relationships/tags" Target="../tags/tag33.xml"/><Relationship Id="rId10" Type="http://schemas.openxmlformats.org/officeDocument/2006/relationships/tags" Target="../tags/tag32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3417888" y="5226665"/>
            <a:ext cx="5356225" cy="701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800" dirty="0" err="1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gema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800" dirty="0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2026年10月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1"/>
          <p:nvPr/>
        </p:nvSpPr>
        <p:spPr>
          <a:xfrm>
            <a:off x="869656" y="1706953"/>
            <a:ext cx="108305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2026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开源鸿蒙大学生创新大赛</a:t>
            </a: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-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赛道一</a:t>
            </a:r>
            <a:endParaRPr lang="en-US" altLang="zh-CN" sz="48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1"/>
          <p:nvPr/>
        </p:nvSpPr>
        <p:spPr>
          <a:xfrm>
            <a:off x="502920" y="2868089"/>
            <a:ext cx="111831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2800" dirty="0" err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面向 OpenHarmony 的多模态智能测试系统</a:t>
            </a:r>
            <a:endParaRPr lang="en-US" altLang="zh-CN" sz="2800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pic>
        <p:nvPicPr>
          <p:cNvPr id="5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4445"/>
            <a:ext cx="3321050" cy="1042670"/>
          </a:xfrm>
          <a:prstGeom prst="rect">
            <a:avLst/>
          </a:prstGeom>
        </p:spPr>
      </p:pic>
      <p:sp>
        <p:nvSpPr>
          <p:cNvPr id="6" name="SubTitle"/>
          <p:cNvSpPr txBox="1"/>
          <p:nvPr/>
        </p:nvSpPr>
        <p:spPr>
          <a:xfrm>
            <a:off x="502920" y="3547872"/>
            <a:ext cx="11183112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 sz="2000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圆角矩形 26"/>
          <p:cNvSpPr/>
          <p:nvPr>
            <p:custDataLst>
              <p:tags r:id="rId1"/>
            </p:custDataLst>
          </p:nvPr>
        </p:nvSpPr>
        <p:spPr>
          <a:xfrm>
            <a:off x="2741964" y="188366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3" name="圆角矩形 26"/>
          <p:cNvSpPr/>
          <p:nvPr>
            <p:custDataLst>
              <p:tags r:id="rId2"/>
            </p:custDataLst>
          </p:nvPr>
        </p:nvSpPr>
        <p:spPr>
          <a:xfrm>
            <a:off x="2741964" y="275234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4" name="圆角矩形 27"/>
          <p:cNvSpPr/>
          <p:nvPr>
            <p:custDataLst>
              <p:tags r:id="rId3"/>
            </p:custDataLst>
          </p:nvPr>
        </p:nvSpPr>
        <p:spPr>
          <a:xfrm>
            <a:off x="3585244" y="362102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运行结果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215" name="圆角矩形 28"/>
          <p:cNvSpPr/>
          <p:nvPr>
            <p:custDataLst>
              <p:tags r:id="rId4"/>
            </p:custDataLst>
          </p:nvPr>
        </p:nvSpPr>
        <p:spPr>
          <a:xfrm>
            <a:off x="2734344" y="362102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6" name="圆角矩形 29"/>
          <p:cNvSpPr/>
          <p:nvPr>
            <p:custDataLst>
              <p:tags r:id="rId5"/>
            </p:custDataLst>
          </p:nvPr>
        </p:nvSpPr>
        <p:spPr>
          <a:xfrm>
            <a:off x="3585244" y="448970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lIns="360000" rtlCol="0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创新总结</a:t>
            </a: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与命题对照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217" name="圆角矩形 30"/>
          <p:cNvSpPr/>
          <p:nvPr>
            <p:custDataLst>
              <p:tags r:id="rId6"/>
            </p:custDataLst>
          </p:nvPr>
        </p:nvSpPr>
        <p:spPr>
          <a:xfrm>
            <a:off x="2734344" y="448970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8" name="圆角矩形 44"/>
          <p:cNvSpPr/>
          <p:nvPr>
            <p:custDataLst>
              <p:tags r:id="rId7"/>
            </p:custDataLst>
          </p:nvPr>
        </p:nvSpPr>
        <p:spPr>
          <a:xfrm>
            <a:off x="3597944" y="188366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命题与背景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219" name="圆角矩形 44"/>
          <p:cNvSpPr/>
          <p:nvPr>
            <p:custDataLst>
              <p:tags r:id="rId8"/>
            </p:custDataLst>
          </p:nvPr>
        </p:nvSpPr>
        <p:spPr>
          <a:xfrm>
            <a:off x="3597944" y="275234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系统与功能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pPr algn="l">
              <a:spcAft>
                <a:spcPts val="400"/>
              </a:spcAft>
              <a:buClrTx/>
              <a:buSzTx/>
            </a:pPr>
            <a:r>
              <a:rPr sz="240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命题背景</a:t>
            </a:r>
            <a:endParaRPr sz="240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9" name="TextBox 3"/>
          <p:cNvSpPr txBox="1"/>
          <p:nvPr/>
        </p:nvSpPr>
        <p:spPr>
          <a:xfrm>
            <a:off x="508000" y="1031240"/>
            <a:ext cx="11176000" cy="6534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OpenHarmony 北向应用生态建设中，应用质量验证直接影响用户体验与生态成熟度。</a:t>
            </a:r>
            <a:endParaRPr sz="20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而验证目前主要靠 UI 自动化脚本，脚本编写却仍是人工作业。</a:t>
            </a:r>
            <a:endParaRPr sz="20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0" name="Rounded Rectangle 4"/>
          <p:cNvSpPr/>
          <p:nvPr/>
        </p:nvSpPr>
        <p:spPr>
          <a:xfrm>
            <a:off x="508000" y="2235200"/>
            <a:ext cx="3556000" cy="1473200"/>
          </a:xfrm>
          <a:prstGeom prst="roundRect">
            <a:avLst>
              <a:gd name="adj" fmla="val 7000"/>
            </a:avLst>
          </a:prstGeom>
          <a:solidFill>
            <a:srgbClr val="E6F6FE"/>
          </a:solidFill>
          <a:ln w="12700">
            <a:solidFill>
              <a:srgbClr val="BFE6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t"/>
          <a:lstStyle/>
          <a:p>
            <a:pPr algn="l">
              <a:spcAft>
                <a:spcPts val="500"/>
              </a:spcAft>
              <a:buClrTx/>
              <a:buSzTx/>
              <a:buFontTx/>
            </a:pPr>
            <a:r>
              <a:rPr sz="17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人工耗时耗力</a:t>
            </a:r>
            <a:endParaRPr sz="17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复杂页面、核心流程、异常复现、压力测试、探索性测试，都要人工理解</a:t>
            </a:r>
            <a:endParaRPr sz="1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1" name="Rounded Rectangle 5"/>
          <p:cNvSpPr/>
          <p:nvPr/>
        </p:nvSpPr>
        <p:spPr>
          <a:xfrm>
            <a:off x="4318000" y="2235200"/>
            <a:ext cx="3556000" cy="1473200"/>
          </a:xfrm>
          <a:prstGeom prst="roundRect">
            <a:avLst>
              <a:gd name="adj" fmla="val 7000"/>
            </a:avLst>
          </a:prstGeom>
          <a:solidFill>
            <a:srgbClr val="E6F6FE"/>
          </a:solidFill>
          <a:ln w="12700">
            <a:solidFill>
              <a:srgbClr val="BFE6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t"/>
          <a:lstStyle/>
          <a:p>
            <a:pPr algn="l">
              <a:spcAft>
                <a:spcPts val="500"/>
              </a:spcAft>
              <a:buClrTx/>
              <a:buSzTx/>
              <a:buFontTx/>
            </a:pPr>
            <a:r>
              <a:rPr sz="17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失败无法归因</a:t>
            </a:r>
            <a:endParaRPr sz="17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500"/>
              </a:spcAft>
            </a:pPr>
            <a:r>
              <a:rPr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更换应用或升级版本即失效；新页面与异常路径覆盖不到，复用性差。</a:t>
            </a:r>
            <a:endParaRPr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2" name="Rounded Rectangle 6"/>
          <p:cNvSpPr/>
          <p:nvPr/>
        </p:nvSpPr>
        <p:spPr>
          <a:xfrm>
            <a:off x="8232140" y="2235200"/>
            <a:ext cx="3556000" cy="1473200"/>
          </a:xfrm>
          <a:prstGeom prst="roundRect">
            <a:avLst>
              <a:gd name="adj" fmla="val 7000"/>
            </a:avLst>
          </a:prstGeom>
          <a:solidFill>
            <a:srgbClr val="E6F6FE"/>
          </a:solidFill>
          <a:ln w="12700">
            <a:solidFill>
              <a:srgbClr val="BFE6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t"/>
          <a:lstStyle/>
          <a:p>
            <a:pPr algn="l">
              <a:spcAft>
                <a:spcPts val="500"/>
              </a:spcAft>
              <a:buClrTx/>
              <a:buSzTx/>
              <a:buFontTx/>
            </a:pPr>
            <a:r>
              <a:rPr sz="17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质量缺乏可信度</a:t>
            </a:r>
            <a:endParaRPr sz="17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500"/>
              </a:spcAft>
            </a:pPr>
            <a:r>
              <a:rPr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框架只报步骤失败；脚本普遍没有断言，通过率高也未必反映真实质量。</a:t>
            </a:r>
            <a:endParaRPr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4" name="Rounded Rectangle 8"/>
          <p:cNvSpPr/>
          <p:nvPr/>
        </p:nvSpPr>
        <p:spPr>
          <a:xfrm>
            <a:off x="508000" y="4445000"/>
            <a:ext cx="11176000" cy="1498600"/>
          </a:xfrm>
          <a:prstGeom prst="roundRect">
            <a:avLst>
              <a:gd name="adj" fmla="val 7000"/>
            </a:avLst>
          </a:prstGeom>
          <a:solidFill>
            <a:srgbClr val="E6F6FE"/>
          </a:solidFill>
          <a:ln w="12700">
            <a:solidFill>
              <a:srgbClr val="BFE6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t"/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命题指出的新路径</a:t>
            </a:r>
            <a:endParaRPr sz="17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截图 · 界面布局 · 控件树 · 日志 · 用户描述 —— 多源信息感知应用当前状态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自动探索核心场景，生成可复用的 UI 测试用例脚本，把「人写脚本」换成「系统生成脚本」。</a:t>
            </a:r>
            <a:endParaRPr sz="16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多模态自动化测试系统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7" name="全景-应用"/>
          <p:cNvSpPr/>
          <p:nvPr/>
        </p:nvSpPr>
        <p:spPr>
          <a:xfrm>
            <a:off x="508000" y="812800"/>
            <a:ext cx="11176000" cy="660400"/>
          </a:xfrm>
          <a:prstGeom prst="roundRect">
            <a:avLst>
              <a:gd name="adj" fmla="val 16000"/>
            </a:avLst>
          </a:prstGeom>
          <a:solidFill>
            <a:srgbClr val="F2F6FA"/>
          </a:solidFill>
          <a:ln>
            <a:noFill/>
          </a:ln>
          <a:effectLst/>
        </p:spPr>
        <p:txBody>
          <a:bodyPr wrap="square" lIns="279400" rtlCol="0" anchor="ctr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被测应用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　不修改、不插桩，设备侧零部署；应用内不含任何测试组件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8" name="全景-a1"/>
          <p:cNvSpPr/>
          <p:nvPr/>
        </p:nvSpPr>
        <p:spPr>
          <a:xfrm>
            <a:off x="6007100" y="1498600"/>
            <a:ext cx="177800" cy="279400"/>
          </a:xfrm>
          <a:prstGeom prst="downArrow">
            <a:avLst/>
          </a:prstGeom>
          <a:solidFill>
            <a:srgbClr val="4FA9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全景-通道"/>
          <p:cNvSpPr/>
          <p:nvPr/>
        </p:nvSpPr>
        <p:spPr>
          <a:xfrm>
            <a:off x="508000" y="1778000"/>
            <a:ext cx="11176000" cy="558800"/>
          </a:xfrm>
          <a:prstGeom prst="roundRect">
            <a:avLst>
              <a:gd name="adj" fmla="val 20000"/>
            </a:avLst>
          </a:prstGeom>
          <a:solidFill>
            <a:srgbClr val="E8F5FE"/>
          </a:solidFill>
          <a:ln>
            <a:noFill/>
          </a:ln>
          <a:effectLst/>
        </p:spPr>
        <p:txBody>
          <a:bodyPr wrap="square" lIns="279400" rtlCol="0" anchor="ctr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只读通道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　控件树 · 截图 · 日志与设备状态，不写入设备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0" name="全景-a2"/>
          <p:cNvSpPr/>
          <p:nvPr/>
        </p:nvSpPr>
        <p:spPr>
          <a:xfrm>
            <a:off x="6007100" y="2362200"/>
            <a:ext cx="177800" cy="254000"/>
          </a:xfrm>
          <a:prstGeom prst="downArrow">
            <a:avLst/>
          </a:prstGeom>
          <a:solidFill>
            <a:srgbClr val="4FA9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全景-功能1"/>
          <p:cNvSpPr/>
          <p:nvPr/>
        </p:nvSpPr>
        <p:spPr>
          <a:xfrm>
            <a:off x="508000" y="2616200"/>
            <a:ext cx="3589909" cy="1905000"/>
          </a:xfrm>
          <a:prstGeom prst="roundRect">
            <a:avLst>
              <a:gd name="adj" fmla="val 10000"/>
            </a:avLst>
          </a:prstGeom>
          <a:solidFill>
            <a:srgbClr val="E3F2FD"/>
          </a:solidFill>
          <a:ln>
            <a:noFill/>
          </a:ln>
          <a:effectLst/>
        </p:spPr>
        <p:txBody>
          <a:bodyPr wrap="square" lIns="228600" tIns="177800" rIns="177800" bIns="152400" rtlCol="0" anchor="ctr"/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感知与定位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源码、控件树、截图、文字四路证据；控件树不足则逐级降级到视觉与文字。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2" name="全景-功能2"/>
          <p:cNvSpPr/>
          <p:nvPr/>
        </p:nvSpPr>
        <p:spPr>
          <a:xfrm>
            <a:off x="4301109" y="2616200"/>
            <a:ext cx="3589909" cy="1905000"/>
          </a:xfrm>
          <a:prstGeom prst="roundRect">
            <a:avLst>
              <a:gd name="adj" fmla="val 10000"/>
            </a:avLst>
          </a:prstGeom>
          <a:solidFill>
            <a:srgbClr val="C6E4F9"/>
          </a:solidFill>
          <a:ln>
            <a:noFill/>
          </a:ln>
          <a:effectLst/>
        </p:spPr>
        <p:txBody>
          <a:bodyPr wrap="square" lIns="228600" tIns="177800" rIns="177800" bIns="152400" rtlCol="0" anchor="ctr"/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探索与生成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自动遍历页面产出状态图；一句话或一段轨迹转成可执行用例。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3" name="全景-功能3"/>
          <p:cNvSpPr/>
          <p:nvPr/>
        </p:nvSpPr>
        <p:spPr>
          <a:xfrm>
            <a:off x="8094091" y="2616200"/>
            <a:ext cx="3589909" cy="1905000"/>
          </a:xfrm>
          <a:prstGeom prst="roundRect">
            <a:avLst>
              <a:gd name="adj" fmla="val 10000"/>
            </a:avLst>
          </a:prstGeom>
          <a:solidFill>
            <a:srgbClr val="A8D2F2"/>
          </a:solidFill>
          <a:ln>
            <a:noFill/>
          </a:ln>
          <a:effectLst/>
        </p:spPr>
        <p:txBody>
          <a:bodyPr wrap="square" lIns="228600" tIns="177800" rIns="177800" bIns="152400" rtlCol="0" anchor="ctr"/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执行与归因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等页面稳定再操作；失败取六类证据，分四类归因。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全景-a3"/>
          <p:cNvSpPr/>
          <p:nvPr/>
        </p:nvSpPr>
        <p:spPr>
          <a:xfrm>
            <a:off x="6007100" y="4546600"/>
            <a:ext cx="177800" cy="279400"/>
          </a:xfrm>
          <a:prstGeom prst="downArrow">
            <a:avLst/>
          </a:prstGeom>
          <a:solidFill>
            <a:srgbClr val="4FA9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全景-产出1"/>
          <p:cNvSpPr/>
          <p:nvPr/>
        </p:nvSpPr>
        <p:spPr>
          <a:xfrm>
            <a:off x="508000" y="4826000"/>
            <a:ext cx="3589909" cy="660400"/>
          </a:xfrm>
          <a:prstGeom prst="roundRect">
            <a:avLst>
              <a:gd name="adj" fmla="val 18000"/>
            </a:avLst>
          </a:prstGeom>
          <a:solidFill>
            <a:srgbClr val="F4FAFF"/>
          </a:solidFill>
          <a:ln w="12700">
            <a:solidFill>
              <a:srgbClr val="CFE6F7"/>
            </a:solidFill>
          </a:ln>
          <a:effectLst/>
        </p:spPr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产出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结构化用例与 Hypium 脚本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6" name="全景-产出2"/>
          <p:cNvSpPr/>
          <p:nvPr/>
        </p:nvSpPr>
        <p:spPr>
          <a:xfrm>
            <a:off x="4301109" y="4826000"/>
            <a:ext cx="3589909" cy="660400"/>
          </a:xfrm>
          <a:prstGeom prst="roundRect">
            <a:avLst>
              <a:gd name="adj" fmla="val 18000"/>
            </a:avLst>
          </a:prstGeom>
          <a:solidFill>
            <a:srgbClr val="ECF6FE"/>
          </a:solidFill>
          <a:ln w="12700">
            <a:solidFill>
              <a:srgbClr val="CFE6F7"/>
            </a:solidFill>
          </a:ln>
          <a:effectLst/>
        </p:spPr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产出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执行与归因报告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全景-产出3"/>
          <p:cNvSpPr/>
          <p:nvPr/>
        </p:nvSpPr>
        <p:spPr>
          <a:xfrm>
            <a:off x="8094091" y="4826000"/>
            <a:ext cx="3589909" cy="660400"/>
          </a:xfrm>
          <a:prstGeom prst="roundRect">
            <a:avLst>
              <a:gd name="adj" fmla="val 18000"/>
            </a:avLst>
          </a:prstGeom>
          <a:solidFill>
            <a:srgbClr val="E4F2FD"/>
          </a:solidFill>
          <a:ln w="12700">
            <a:solidFill>
              <a:srgbClr val="CFE6F7"/>
            </a:solidFill>
          </a:ln>
          <a:effectLst/>
        </p:spPr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产出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可重放回归集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全景-脚注"/>
          <p:cNvSpPr txBox="1"/>
          <p:nvPr/>
        </p:nvSpPr>
        <p:spPr>
          <a:xfrm>
            <a:off x="508000" y="5638800"/>
            <a:ext cx="11176000" cy="330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A6B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系统在设备外部完成观察、生成、执行与归因；三类产出可直接交付开发、评审与下一轮回归。</a:t>
            </a:r>
            <a:endParaRPr sz="1600" b="0">
              <a:solidFill>
                <a:srgbClr val="4A6B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系统总体框架：七个环节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6" name="流1"/>
          <p:cNvSpPr/>
          <p:nvPr/>
        </p:nvSpPr>
        <p:spPr>
          <a:xfrm>
            <a:off x="508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EAF6FE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采集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流号1"/>
          <p:cNvSpPr txBox="1"/>
          <p:nvPr/>
        </p:nvSpPr>
        <p:spPr>
          <a:xfrm>
            <a:off x="889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流产出1"/>
          <p:cNvSpPr txBox="1"/>
          <p:nvPr/>
        </p:nvSpPr>
        <p:spPr>
          <a:xfrm>
            <a:off x="736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截图与控件树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9" name="流2"/>
          <p:cNvSpPr/>
          <p:nvPr/>
        </p:nvSpPr>
        <p:spPr>
          <a:xfrm>
            <a:off x="2032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DCF0FD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理解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0" name="流号2"/>
          <p:cNvSpPr txBox="1"/>
          <p:nvPr/>
        </p:nvSpPr>
        <p:spPr>
          <a:xfrm>
            <a:off x="2413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1" name="流产出2"/>
          <p:cNvSpPr txBox="1"/>
          <p:nvPr/>
        </p:nvSpPr>
        <p:spPr>
          <a:xfrm>
            <a:off x="2260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控件清单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2" name="流3"/>
          <p:cNvSpPr/>
          <p:nvPr/>
        </p:nvSpPr>
        <p:spPr>
          <a:xfrm>
            <a:off x="3556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CEE9FC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规划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3" name="流号3"/>
          <p:cNvSpPr txBox="1"/>
          <p:nvPr/>
        </p:nvSpPr>
        <p:spPr>
          <a:xfrm>
            <a:off x="3937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4" name="流产出3"/>
          <p:cNvSpPr txBox="1"/>
          <p:nvPr/>
        </p:nvSpPr>
        <p:spPr>
          <a:xfrm>
            <a:off x="3784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页面状态图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5" name="流4"/>
          <p:cNvSpPr/>
          <p:nvPr/>
        </p:nvSpPr>
        <p:spPr>
          <a:xfrm>
            <a:off x="5080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BEE1F9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6" name="流号4"/>
          <p:cNvSpPr txBox="1"/>
          <p:nvPr/>
        </p:nvSpPr>
        <p:spPr>
          <a:xfrm>
            <a:off x="5461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7" name="流产出4"/>
          <p:cNvSpPr txBox="1"/>
          <p:nvPr/>
        </p:nvSpPr>
        <p:spPr>
          <a:xfrm>
            <a:off x="5308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可执行用例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8" name="流5"/>
          <p:cNvSpPr/>
          <p:nvPr/>
        </p:nvSpPr>
        <p:spPr>
          <a:xfrm>
            <a:off x="6604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AED8F6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9" name="流号5"/>
          <p:cNvSpPr txBox="1"/>
          <p:nvPr/>
        </p:nvSpPr>
        <p:spPr>
          <a:xfrm>
            <a:off x="6985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05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0" name="流产出5"/>
          <p:cNvSpPr txBox="1"/>
          <p:nvPr/>
        </p:nvSpPr>
        <p:spPr>
          <a:xfrm>
            <a:off x="6832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结果与耗时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1" name="流6"/>
          <p:cNvSpPr/>
          <p:nvPr/>
        </p:nvSpPr>
        <p:spPr>
          <a:xfrm>
            <a:off x="8128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9CCEF2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2" name="流号6"/>
          <p:cNvSpPr txBox="1"/>
          <p:nvPr/>
        </p:nvSpPr>
        <p:spPr>
          <a:xfrm>
            <a:off x="8509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06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3" name="流产出6"/>
          <p:cNvSpPr txBox="1"/>
          <p:nvPr/>
        </p:nvSpPr>
        <p:spPr>
          <a:xfrm>
            <a:off x="8356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归因结论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4" name="流7"/>
          <p:cNvSpPr/>
          <p:nvPr/>
        </p:nvSpPr>
        <p:spPr>
          <a:xfrm>
            <a:off x="9652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8AC4EE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沉淀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5" name="流号7"/>
          <p:cNvSpPr txBox="1"/>
          <p:nvPr/>
        </p:nvSpPr>
        <p:spPr>
          <a:xfrm>
            <a:off x="10033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07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流产出7"/>
          <p:cNvSpPr txBox="1"/>
          <p:nvPr/>
        </p:nvSpPr>
        <p:spPr>
          <a:xfrm>
            <a:off x="9880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回归集与报告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功能带"/>
          <p:cNvSpPr/>
          <p:nvPr/>
        </p:nvSpPr>
        <p:spPr>
          <a:xfrm>
            <a:off x="508000" y="4292600"/>
            <a:ext cx="3327400" cy="584200"/>
          </a:xfrm>
          <a:prstGeom prst="roundRect">
            <a:avLst>
              <a:gd name="adj" fmla="val 16000"/>
            </a:avLst>
          </a:prstGeom>
          <a:solidFill>
            <a:srgbClr val="E3F2FD"/>
          </a:solidFill>
          <a:ln w="12700">
            <a:solidFill>
              <a:srgbClr val="4FA9E8"/>
            </a:solidFill>
          </a:ln>
          <a:effectLst/>
        </p:spPr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感知与定位　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功能带"/>
          <p:cNvSpPr/>
          <p:nvPr/>
        </p:nvSpPr>
        <p:spPr>
          <a:xfrm>
            <a:off x="3886200" y="4292600"/>
            <a:ext cx="3276600" cy="584200"/>
          </a:xfrm>
          <a:prstGeom prst="roundRect">
            <a:avLst>
              <a:gd name="adj" fmla="val 16000"/>
            </a:avLst>
          </a:prstGeom>
          <a:solidFill>
            <a:srgbClr val="C6E4F9"/>
          </a:solidFill>
          <a:ln w="12700">
            <a:solidFill>
              <a:srgbClr val="4FA9E8"/>
            </a:solidFill>
          </a:ln>
          <a:effectLst/>
        </p:spPr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探索与生成　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功能带"/>
          <p:cNvSpPr/>
          <p:nvPr/>
        </p:nvSpPr>
        <p:spPr>
          <a:xfrm>
            <a:off x="7213600" y="4292600"/>
            <a:ext cx="4470400" cy="584200"/>
          </a:xfrm>
          <a:prstGeom prst="roundRect">
            <a:avLst>
              <a:gd name="adj" fmla="val 16000"/>
            </a:avLst>
          </a:prstGeom>
          <a:solidFill>
            <a:srgbClr val="A8D2F2"/>
          </a:solidFill>
          <a:ln w="12700">
            <a:solidFill>
              <a:srgbClr val="4FA9E8"/>
            </a:solidFill>
          </a:ln>
          <a:effectLst/>
        </p:spPr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执行与归因　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0" name="流备注"/>
          <p:cNvSpPr/>
          <p:nvPr/>
        </p:nvSpPr>
        <p:spPr>
          <a:xfrm>
            <a:off x="508000" y="5638800"/>
            <a:ext cx="11176000" cy="584200"/>
          </a:xfrm>
          <a:prstGeom prst="roundRect">
            <a:avLst>
              <a:gd name="adj" fmla="val 22000"/>
            </a:avLst>
          </a:prstGeom>
          <a:solidFill>
            <a:srgbClr val="E6F6FE"/>
          </a:solidFill>
          <a:ln>
            <a:noFill/>
          </a:ln>
          <a:effectLst/>
        </p:spPr>
        <p:txBody>
          <a:bodyPr wrap="square" rtlCol="0" anchor="ctr"/>
          <a:lstStyle/>
          <a:p>
            <a:pPr algn="l">
              <a:lnSpc>
                <a:spcPct val="100000"/>
              </a:lnSpc>
            </a:pPr>
            <a:r>
              <a:rPr lang="en-US"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             </a:t>
            </a: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箭头方向即数据流向：每个环节的产出是下一环节的输入。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"/>
          <p:cNvSpPr txBox="1"/>
          <p:nvPr/>
        </p:nvSpPr>
        <p:spPr>
          <a:xfrm>
            <a:off x="215900" y="165100"/>
            <a:ext cx="990600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lang="zh-CN"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功能一：多源感知与元素定位</a:t>
            </a:r>
            <a:endParaRPr sz="24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功能一 图注"/>
          <p:cNvSpPr txBox="1"/>
          <p:nvPr/>
        </p:nvSpPr>
        <p:spPr>
          <a:xfrm>
            <a:off x="505460" y="4614545"/>
            <a:ext cx="5842000" cy="1743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来自源码与用例，</a:t>
            </a: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观察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来自控件树、截图与文字识别 —— 连同源码共四路来源。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每条判断只做一次双向比对：两边都在 → 确认；只在一侧 → 差异即缺陷线索。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3A5A7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控件树不可用则转视觉，视觉不足再转文字：通道逐级降级，输出格式一致。</a:t>
            </a:r>
            <a:endParaRPr sz="1600" b="0">
              <a:solidFill>
                <a:srgbClr val="3A5A7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功能一 通道1"/>
          <p:cNvSpPr/>
          <p:nvPr/>
        </p:nvSpPr>
        <p:spPr>
          <a:xfrm>
            <a:off x="6654800" y="838200"/>
            <a:ext cx="5029200" cy="12192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控件树直取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树结构完整、控件带标识时，按标识取节点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功能一 通道2"/>
          <p:cNvSpPr/>
          <p:nvPr/>
        </p:nvSpPr>
        <p:spPr>
          <a:xfrm>
            <a:off x="6654800" y="2184400"/>
            <a:ext cx="5029200" cy="12192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视觉通道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树内候选不足时，改由模型从截图枚举目标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功能一 通道3"/>
          <p:cNvSpPr/>
          <p:nvPr/>
        </p:nvSpPr>
        <p:spPr>
          <a:xfrm>
            <a:off x="6654800" y="3530600"/>
            <a:ext cx="5029200" cy="12192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文字通道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纯 Canvas 无节点时，OCR 读出界面文本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功能一 通道4"/>
          <p:cNvSpPr/>
          <p:nvPr/>
        </p:nvSpPr>
        <p:spPr>
          <a:xfrm>
            <a:off x="6654800" y="4876800"/>
            <a:ext cx="5029200" cy="12192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 特殊形态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折叠屏展开与折叠两态，按形态切换布局基准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" name="功能一 融合图" descr="fusion_plain_r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20" y="1035050"/>
            <a:ext cx="6456680" cy="33407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"/>
          <p:cNvSpPr txBox="1"/>
          <p:nvPr/>
        </p:nvSpPr>
        <p:spPr>
          <a:xfrm>
            <a:off x="215900" y="165100"/>
            <a:ext cx="990600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lang="zh-CN"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功能二：自动探索与用例生成</a:t>
            </a:r>
            <a:endParaRPr sz="24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功能二 探索头"/>
          <p:cNvSpPr txBox="1"/>
          <p:nvPr/>
        </p:nvSpPr>
        <p:spPr>
          <a:xfrm>
            <a:off x="508000" y="1346200"/>
            <a:ext cx="5334000" cy="292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　</a:t>
            </a:r>
            <a:r>
              <a:rPr lang="zh-CN"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让</a:t>
            </a: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应用自己走一遍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功能二 生成头"/>
          <p:cNvSpPr txBox="1"/>
          <p:nvPr/>
        </p:nvSpPr>
        <p:spPr>
          <a:xfrm>
            <a:off x="6350000" y="1346200"/>
            <a:ext cx="53340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　把路径写成用例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功能二 探索1"/>
          <p:cNvSpPr/>
          <p:nvPr/>
        </p:nvSpPr>
        <p:spPr>
          <a:xfrm>
            <a:off x="508000" y="18288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候选排序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优先选择信息增益最大的控件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功能二 探索2"/>
          <p:cNvSpPr/>
          <p:nvPr/>
        </p:nvSpPr>
        <p:spPr>
          <a:xfrm>
            <a:off x="508000" y="27432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防粘滞　</a:t>
            </a:r>
            <a:r>
              <a:rPr lang="en-US"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相似页面之间不往复跳转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功能二 探索3"/>
          <p:cNvSpPr/>
          <p:nvPr/>
        </p:nvSpPr>
        <p:spPr>
          <a:xfrm>
            <a:off x="508000" y="36576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回退校验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异常路径自动退回上一页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功能二 探索4"/>
          <p:cNvSpPr/>
          <p:nvPr/>
        </p:nvSpPr>
        <p:spPr>
          <a:xfrm>
            <a:off x="508000" y="45720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状态去重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同页不同数据合并为一个状态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功能二 生成1"/>
          <p:cNvSpPr/>
          <p:nvPr/>
        </p:nvSpPr>
        <p:spPr>
          <a:xfrm>
            <a:off x="6350000" y="18288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路径规划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在状态图上选取目标页，串联可达步骤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功能二 生成2"/>
          <p:cNvSpPr/>
          <p:nvPr/>
        </p:nvSpPr>
        <p:spPr>
          <a:xfrm>
            <a:off x="6350000" y="27432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目标锚定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锚定控件身份，不写屏幕坐标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功能二 生成3"/>
          <p:cNvSpPr/>
          <p:nvPr/>
        </p:nvSpPr>
        <p:spPr>
          <a:xfrm>
            <a:off x="6350000" y="36576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断言选取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取页面期望态，每 2–3 步一个检查点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功能二 生成4"/>
          <p:cNvSpPr/>
          <p:nvPr/>
        </p:nvSpPr>
        <p:spPr>
          <a:xfrm>
            <a:off x="6350000" y="45720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产物形式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结构化用例，可导出 hypium 脚本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功能二 箭头"/>
          <p:cNvSpPr txBox="1"/>
          <p:nvPr/>
        </p:nvSpPr>
        <p:spPr>
          <a:xfrm>
            <a:off x="5867400" y="3175000"/>
            <a:ext cx="457200" cy="5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endParaRPr sz="28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功能二 左产出"/>
          <p:cNvSpPr txBox="1"/>
          <p:nvPr/>
        </p:nvSpPr>
        <p:spPr>
          <a:xfrm>
            <a:off x="508000" y="5588000"/>
            <a:ext cx="53340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产出　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页面状态图：页面是状态，跳转是边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功能二 右产出"/>
          <p:cNvSpPr txBox="1"/>
          <p:nvPr/>
        </p:nvSpPr>
        <p:spPr>
          <a:xfrm>
            <a:off x="6350000" y="5588000"/>
            <a:ext cx="53340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产出　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可执行用例：步骤 + 断言 + 可导出脚本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"/>
          <p:cNvSpPr txBox="1"/>
          <p:nvPr/>
        </p:nvSpPr>
        <p:spPr>
          <a:xfrm>
            <a:off x="215900" y="165100"/>
            <a:ext cx="990600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lang="zh-CN"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功能三：执行与归因</a:t>
            </a:r>
            <a:endParaRPr sz="24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功能三 执行"/>
          <p:cNvSpPr/>
          <p:nvPr/>
        </p:nvSpPr>
        <p:spPr>
          <a:xfrm>
            <a:off x="508000" y="1066800"/>
            <a:ext cx="5461000" cy="1574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28600" tIns="152400" rIns="177800" bIns="127000" rtlCol="0" anchor="t"/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</a:t>
            </a:r>
            <a:endParaRPr sz="20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零部署直连设备，不修改被测应用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先等页面稳定再操作，手势齐备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危险控件不进入压力测试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功能三 压测"/>
          <p:cNvSpPr/>
          <p:nvPr/>
        </p:nvSpPr>
        <p:spPr>
          <a:xfrm>
            <a:off x="6223000" y="1066800"/>
            <a:ext cx="5461000" cy="1574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28600" tIns="152400" rIns="177800" bIns="127000" rtlCol="0" anchor="t"/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压力测试</a:t>
            </a:r>
            <a:endParaRPr sz="20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重复点击、连续滑动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页面反复进出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长时间运行，分块编排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功能三 归因"/>
          <p:cNvSpPr/>
          <p:nvPr/>
        </p:nvSpPr>
        <p:spPr>
          <a:xfrm>
            <a:off x="508000" y="2819400"/>
            <a:ext cx="5461000" cy="1574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28600" tIns="152400" rIns="177800" bIns="127000" rtlCol="0" anchor="t"/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</a:t>
            </a:r>
            <a:endParaRPr sz="20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六类信号同时取证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四分类：定位 / 时序 / 应用 / 用例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环境问题与证据不足不计入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功能三 沉淀"/>
          <p:cNvSpPr/>
          <p:nvPr/>
        </p:nvSpPr>
        <p:spPr>
          <a:xfrm>
            <a:off x="6223000" y="2819400"/>
            <a:ext cx="5461000" cy="1574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28600" tIns="152400" rIns="177800" bIns="127000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lang="zh-CN" sz="20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</a:t>
            </a:r>
            <a:endParaRPr lang="zh-CN" sz="20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轨迹转可重放回归用例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三格式报告：md / html / json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回归集随探索自动增长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功能三 判据"/>
          <p:cNvSpPr/>
          <p:nvPr/>
        </p:nvSpPr>
        <p:spPr>
          <a:xfrm>
            <a:off x="508000" y="4597400"/>
            <a:ext cx="11176000" cy="1625600"/>
          </a:xfrm>
          <a:prstGeom prst="roundRect">
            <a:avLst>
              <a:gd name="adj" fmla="val 9000"/>
            </a:avLst>
          </a:prstGeom>
          <a:solidFill>
            <a:srgbClr val="E6F6FE"/>
          </a:solidFill>
          <a:ln w="12700">
            <a:solidFill>
              <a:srgbClr val="CFE6F7"/>
            </a:solidFill>
          </a:ln>
          <a:effectLst/>
        </p:spPr>
        <p:txBody>
          <a:bodyPr wrap="square" lIns="228600" tIns="152400" rIns="177800" bIns="127000" rtlCol="0" anchor="t"/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归因判据　</a:t>
            </a:r>
            <a:r>
              <a:rPr sz="1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先核验再定论；证据不足</a:t>
            </a:r>
            <a:r>
              <a:rPr lang="zh-CN" sz="1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归因为未知</a:t>
            </a:r>
            <a:endParaRPr sz="1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时间吻合：失败发生在该时间窗内　　</a:t>
            </a:r>
            <a:r>
              <a:rPr 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归属吻合：崩溃记录的应用名与被测应用一致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证据充分：崩溃原因与调用栈前 6 层　　</a:t>
            </a:r>
            <a:r>
              <a:rPr 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阈值：证据分低于 0.5 不判应用缺陷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并列时按 用例 → 时序 → 定位 的固定优先级取舍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三个应用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场景，三种树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5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2194560" cy="3904487"/>
          </a:xfrm>
          <a:prstGeom prst="rect">
            <a:avLst/>
          </a:prstGeom>
        </p:spPr>
      </p:pic>
      <p:pic>
        <p:nvPicPr>
          <p:cNvPr id="76" name="Picture 912" descr="image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2834640" y="1051560"/>
            <a:ext cx="2194560" cy="3904487"/>
          </a:xfrm>
          <a:prstGeom prst="rect">
            <a:avLst/>
          </a:prstGeom>
        </p:spPr>
      </p:pic>
      <p:pic>
        <p:nvPicPr>
          <p:cNvPr id="77" name="Picture 913" descr="image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166360" y="1051560"/>
            <a:ext cx="2194560" cy="3904487"/>
          </a:xfrm>
          <a:prstGeom prst="rect">
            <a:avLst/>
          </a:prstGeom>
        </p:spPr>
      </p:pic>
      <p:sp>
        <p:nvSpPr>
          <p:cNvPr id="78" name="RightCard"/>
          <p:cNvSpPr/>
          <p:nvPr/>
        </p:nvSpPr>
        <p:spPr>
          <a:xfrm>
            <a:off x="7635240" y="1051560"/>
            <a:ext cx="4023360" cy="49377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三种树，同一套流程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桌面（左）：控件树完整，18 个控件全部携带文案，控件树直取即可命中，单次定位约 50ms。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设置（中）：183 个可见节点、可交互仅 28 个、带 id 为 0 —— 定位候选不足，转视觉通道：截图交多模态模型枚举可点控件，11 项认对 10 项（90.9%）。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 · 表盘（右）：纯 Canvas 绘制，无可交互节点，转 OCR 通道读出 7 行文本。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通道选择由树的健康度自动决定，三条通道共用同一套判定规则。</a:t>
            </a:r>
            <a:endParaRPr sz="16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TextBox 16"/>
          <p:cNvSpPr txBox="1"/>
          <p:nvPr/>
        </p:nvSpPr>
        <p:spPr>
          <a:xfrm>
            <a:off x="495300" y="5130800"/>
            <a:ext cx="2197100" cy="121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桌面</a:t>
            </a:r>
            <a:endParaRPr sz="17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18 控件全带文案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树直取 50ms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TextBox 17"/>
          <p:cNvSpPr txBox="1"/>
          <p:nvPr>
            <p:custDataLst>
              <p:tags r:id="rId6"/>
            </p:custDataLst>
          </p:nvPr>
        </p:nvSpPr>
        <p:spPr>
          <a:xfrm>
            <a:off x="2832100" y="5130800"/>
            <a:ext cx="2197100" cy="121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设置</a:t>
            </a:r>
            <a:endParaRPr sz="17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28 可交互 · 无 id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视觉通道 90.9%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TextBox 18"/>
          <p:cNvSpPr txBox="1"/>
          <p:nvPr>
            <p:custDataLst>
              <p:tags r:id="rId7"/>
            </p:custDataLst>
          </p:nvPr>
        </p:nvSpPr>
        <p:spPr>
          <a:xfrm>
            <a:off x="5168900" y="5130800"/>
            <a:ext cx="2197100" cy="121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 · 表盘</a:t>
            </a:r>
            <a:endParaRPr sz="17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纯 Canvas 无节点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OCR 读 7 行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pPr algn="l">
              <a:buClrTx/>
              <a:buSzTx/>
            </a:pPr>
            <a:r>
              <a:rPr sz="240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生成与压力测试：四类覆盖</a:t>
            </a:r>
            <a:endParaRPr sz="240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4" name="P14 用例文件" descr="fig_p14a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000" y="889000"/>
            <a:ext cx="5461000" cy="3924300"/>
          </a:xfrm>
          <a:prstGeom prst="rect">
            <a:avLst/>
          </a:prstGeom>
        </p:spPr>
      </p:pic>
      <p:sp>
        <p:nvSpPr>
          <p:cNvPr id="86" name="P14 解析"/>
          <p:cNvSpPr/>
          <p:nvPr/>
        </p:nvSpPr>
        <p:spPr>
          <a:xfrm>
            <a:off x="508000" y="5003800"/>
            <a:ext cx="11176000" cy="1168400"/>
          </a:xfrm>
          <a:prstGeom prst="roundRect">
            <a:avLst>
              <a:gd name="adj" fmla="val 10000"/>
            </a:avLst>
          </a:prstGeom>
          <a:solidFill>
            <a:srgbClr val="E6F6FE"/>
          </a:solidFill>
          <a:ln w="12700">
            <a:solidFill>
              <a:srgbClr val="CFE6F7"/>
            </a:solidFill>
          </a:ln>
          <a:effectLst/>
        </p:spPr>
        <p:txBody>
          <a:bodyPr wrap="square" lIns="254000" tIns="127000" rIns="254000" bIns="127000" rtlCol="0" anchor="ctr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　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左边这条 9 步用例由探索图自动拆出，含 4 次等待、2 处断言，是可直接执行的产物而非文本描述。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　压力测试四类</a:t>
            </a:r>
            <a:r>
              <a:rPr lang="zh-CN"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重复点击 · 连续滑动 · 页面反复进出 · 长时间运行</a:t>
            </a:r>
            <a:r>
              <a:rPr lang="zh-CN"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共用同一套执行与归因链路；长时间运行拆 115 条同构用例分块跑，失败能定位到轮次与步骤，可从断点续跑。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7" name="P14 执行报告" descr="fig_p1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889000"/>
            <a:ext cx="5461000" cy="387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失败归因实证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P15 标签1"/>
          <p:cNvSpPr txBox="1"/>
          <p:nvPr>
            <p:custDataLst>
              <p:tags r:id="rId1"/>
            </p:custDataLst>
          </p:nvPr>
        </p:nvSpPr>
        <p:spPr>
          <a:xfrm>
            <a:off x="508000" y="914400"/>
            <a:ext cx="8382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现象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P15 正文1"/>
          <p:cNvSpPr txBox="1"/>
          <p:nvPr>
            <p:custDataLst>
              <p:tags r:id="rId2"/>
            </p:custDataLst>
          </p:nvPr>
        </p:nvSpPr>
        <p:spPr>
          <a:xfrm>
            <a:off x="1371600" y="914400"/>
            <a:ext cx="54610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 轮，每轮固定失败 1 步，累计 90 次。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P15 标签2"/>
          <p:cNvSpPr txBox="1"/>
          <p:nvPr>
            <p:custDataLst>
              <p:tags r:id="rId3"/>
            </p:custDataLst>
          </p:nvPr>
        </p:nvSpPr>
        <p:spPr>
          <a:xfrm>
            <a:off x="508000" y="1879600"/>
            <a:ext cx="8382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取证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P15 正文2"/>
          <p:cNvSpPr txBox="1"/>
          <p:nvPr>
            <p:custDataLst>
              <p:tags r:id="rId4"/>
            </p:custDataLst>
          </p:nvPr>
        </p:nvSpPr>
        <p:spPr>
          <a:xfrm>
            <a:off x="1371600" y="1879600"/>
            <a:ext cx="54610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失败全在「轨迹-3」；同批「轨迹-1」8 步全过；前台核验 0 失败。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P15 标签3"/>
          <p:cNvSpPr txBox="1"/>
          <p:nvPr>
            <p:custDataLst>
              <p:tags r:id="rId5"/>
            </p:custDataLst>
          </p:nvPr>
        </p:nvSpPr>
        <p:spPr>
          <a:xfrm>
            <a:off x="508000" y="2844800"/>
            <a:ext cx="8382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判定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P15 正文3"/>
          <p:cNvSpPr txBox="1"/>
          <p:nvPr>
            <p:custDataLst>
              <p:tags r:id="rId6"/>
            </p:custDataLst>
          </p:nvPr>
        </p:nvSpPr>
        <p:spPr>
          <a:xfrm>
            <a:off x="1371600" y="2844800"/>
            <a:ext cx="54610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排除应用与定位，属用例缺陷：轨迹-3 依赖遗留状态。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P15 标签4"/>
          <p:cNvSpPr txBox="1"/>
          <p:nvPr>
            <p:custDataLst>
              <p:tags r:id="rId7"/>
            </p:custDataLst>
          </p:nvPr>
        </p:nvSpPr>
        <p:spPr>
          <a:xfrm>
            <a:off x="508000" y="3810000"/>
            <a:ext cx="8382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P15 正文4"/>
          <p:cNvSpPr txBox="1"/>
          <p:nvPr>
            <p:custDataLst>
              <p:tags r:id="rId8"/>
            </p:custDataLst>
          </p:nvPr>
        </p:nvSpPr>
        <p:spPr>
          <a:xfrm>
            <a:off x="1371600" y="3810000"/>
            <a:ext cx="54610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每轮前强制停止并重启，用例之间不继承页面状态。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P15 标签5"/>
          <p:cNvSpPr txBox="1"/>
          <p:nvPr>
            <p:custDataLst>
              <p:tags r:id="rId9"/>
            </p:custDataLst>
          </p:nvPr>
        </p:nvSpPr>
        <p:spPr>
          <a:xfrm>
            <a:off x="508000" y="4775200"/>
            <a:ext cx="8382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P15 正文5"/>
          <p:cNvSpPr txBox="1"/>
          <p:nvPr>
            <p:custDataLst>
              <p:tags r:id="rId10"/>
            </p:custDataLst>
          </p:nvPr>
        </p:nvSpPr>
        <p:spPr>
          <a:xfrm>
            <a:off x="1371600" y="4775200"/>
            <a:ext cx="54610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后两版 0 失败：115 轮、1380 步、126.9 分钟。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5" name="P15 证据" descr="fig_p15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10400" y="914400"/>
            <a:ext cx="4597400" cy="3479800"/>
          </a:xfrm>
          <a:prstGeom prst="rect">
            <a:avLst/>
          </a:prstGeom>
        </p:spPr>
      </p:pic>
      <p:sp>
        <p:nvSpPr>
          <p:cNvPr id="56" name="P15 判定要点"/>
          <p:cNvSpPr txBox="1"/>
          <p:nvPr/>
        </p:nvSpPr>
        <p:spPr>
          <a:xfrm>
            <a:off x="7010400" y="4521200"/>
            <a:ext cx="46736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判定要点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失败只跟一条用例绑定、每轮一致 —— 指向用例自身，而非应用。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P15 处置"/>
          <p:cNvSpPr/>
          <p:nvPr/>
        </p:nvSpPr>
        <p:spPr>
          <a:xfrm>
            <a:off x="508000" y="5816600"/>
            <a:ext cx="11176000" cy="558800"/>
          </a:xfrm>
          <a:prstGeom prst="roundRect">
            <a:avLst>
              <a:gd name="adj" fmla="val 20000"/>
            </a:avLst>
          </a:prstGeom>
          <a:solidFill>
            <a:srgbClr val="E6F6FE"/>
          </a:solidFill>
          <a:ln w="12700">
            <a:solidFill>
              <a:srgbClr val="CFE6F7"/>
            </a:solidFill>
          </a:ln>
          <a:effectLst/>
        </p:spPr>
        <p:txBody>
          <a:bodyPr wrap="square" lIns="228600" rIns="2286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归因结论决定处置去向　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应用缺陷移交开发者、环境问题退回重跑、用例缺陷回改用例。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pPr algn="l">
              <a:spcAft>
                <a:spcPts val="400"/>
              </a:spcAft>
              <a:buClrTx/>
              <a:buSzTx/>
            </a:pPr>
            <a:r>
              <a:rPr sz="240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长时间运行</a:t>
            </a:r>
            <a:r>
              <a:rPr sz="240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测试</a:t>
            </a:r>
            <a:endParaRPr sz="240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TextBox 2"/>
          <p:cNvSpPr txBox="1"/>
          <p:nvPr/>
        </p:nvSpPr>
        <p:spPr>
          <a:xfrm>
            <a:off x="7214235" y="1482090"/>
            <a:ext cx="69494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115 轮 · 0 失败</a:t>
            </a:r>
            <a:endParaRPr lang="zh-CN" sz="5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TextBox 3"/>
          <p:cNvSpPr txBox="1"/>
          <p:nvPr/>
        </p:nvSpPr>
        <p:spPr>
          <a:xfrm>
            <a:off x="7213600" y="2616200"/>
            <a:ext cx="4470400" cy="167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</a:rPr>
              <a:t>DAYU200 真机，连续 126.9 分钟</a:t>
            </a:r>
            <a:endParaRPr lang="zh-CN" sz="20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</a:rPr>
              <a:t>每轮回放 12 步 + 探索爆发 + 前台核验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</a:rPr>
              <a:t>零人工干预，失败步骤 0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</a:rPr>
              <a:t>内存后半段降 1.70%，无持续增长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208" name="Picture 12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880" y="1016000"/>
            <a:ext cx="6205220" cy="3410585"/>
          </a:xfrm>
          <a:prstGeom prst="rect">
            <a:avLst/>
          </a:prstGeom>
        </p:spPr>
      </p:pic>
      <p:sp>
        <p:nvSpPr>
          <p:cNvPr id="210" name="Rounded Rectangle 123"/>
          <p:cNvSpPr/>
          <p:nvPr/>
        </p:nvSpPr>
        <p:spPr>
          <a:xfrm>
            <a:off x="508000" y="4597400"/>
            <a:ext cx="11201400" cy="1854200"/>
          </a:xfrm>
          <a:prstGeom prst="roundRect">
            <a:avLst>
              <a:gd name="adj" fmla="val 8000"/>
            </a:avLst>
          </a:prstGeom>
          <a:solidFill>
            <a:srgbClr val="10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27000" rtlCol="0" anchor="t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7FD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执行日志摘录 · b15_real_v3.log（节选）</a:t>
            </a:r>
            <a:endParaRPr sz="1600" b="1">
              <a:solidFill>
                <a:srgbClr val="7FD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8F1FF"/>
                </a:solidFill>
                <a:latin typeface="Consolas" panose="020B0609020204030204"/>
                <a:ea typeface="微软雅黑" panose="020B0503020204020204" pitchFamily="34" charset="-122"/>
              </a:rPr>
              <a:t>[12:10:22] 周期   1/115: replay 12/12 步 | 累计   12 步（失败 0）| 1.1 分钟</a:t>
            </a:r>
            <a:endParaRPr sz="1600" b="0">
              <a:solidFill>
                <a:srgbClr val="D8F1FF"/>
              </a:solidFill>
              <a:latin typeface="Consolas" panose="020B0609020204030204"/>
              <a:ea typeface="微软雅黑" panose="020B0503020204020204" pitchFamily="34" charset="-122"/>
            </a:endParaR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8F1FF"/>
                </a:solidFill>
                <a:latin typeface="Consolas" panose="020B0609020204030204"/>
                <a:ea typeface="微软雅黑" panose="020B0503020204020204" pitchFamily="34" charset="-122"/>
              </a:rPr>
              <a:t>[13:13:14] 周期  58/115: replay 12/12 步 | 累计  696 步（失败 0）| 1.1 分钟</a:t>
            </a:r>
            <a:endParaRPr sz="1600" b="0">
              <a:solidFill>
                <a:srgbClr val="D8F1FF"/>
              </a:solidFill>
              <a:latin typeface="Consolas" panose="020B0609020204030204"/>
              <a:ea typeface="微软雅黑" panose="020B0503020204020204" pitchFamily="34" charset="-122"/>
            </a:endParaR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8F1FF"/>
                </a:solidFill>
                <a:latin typeface="Consolas" panose="020B0609020204030204"/>
                <a:ea typeface="微软雅黑" panose="020B0503020204020204" pitchFamily="34" charset="-122"/>
              </a:rPr>
              <a:t>[14:16:06] 周期 115/115: replay 12/12 步 | 累计 1380 步（失败 0）| 1.1 分钟</a:t>
            </a:r>
            <a:endParaRPr sz="1600" b="0">
              <a:solidFill>
                <a:srgbClr val="D8F1FF"/>
              </a:solidFill>
              <a:latin typeface="Consolas" panose="020B0609020204030204"/>
              <a:ea typeface="微软雅黑" panose="020B0503020204020204" pitchFamily="34" charset="-122"/>
            </a:endParaR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9FE09F"/>
                </a:solidFill>
                <a:latin typeface="Consolas" panose="020B0609020204030204"/>
                <a:ea typeface="微软雅黑" panose="020B0503020204020204" pitchFamily="34" charset="-122"/>
              </a:rPr>
              <a:t>[14:16:06] 全部周期完成: 115 周期 / 1380 步（失败 0）→ 达标</a:t>
            </a:r>
            <a:endParaRPr sz="1600" b="0">
              <a:solidFill>
                <a:srgbClr val="9FE09F"/>
              </a:solidFill>
              <a:latin typeface="Consolas" panose="020B060902020403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"/>
          <p:cNvSpPr txBox="1"/>
          <p:nvPr/>
        </p:nvSpPr>
        <p:spPr>
          <a:xfrm>
            <a:off x="215900" y="196533"/>
            <a:ext cx="9906000" cy="3689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创新</a:t>
            </a:r>
            <a:r>
              <a:rPr lang="zh-CN"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：四条设计</a:t>
            </a:r>
            <a:endParaRPr sz="24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序号"/>
          <p:cNvSpPr txBox="1"/>
          <p:nvPr>
            <p:custDataLst>
              <p:tags r:id="rId1"/>
            </p:custDataLst>
          </p:nvPr>
        </p:nvSpPr>
        <p:spPr>
          <a:xfrm>
            <a:off x="508000" y="1092200"/>
            <a:ext cx="889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FA9E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sz="2600" b="1">
              <a:solidFill>
                <a:srgbClr val="4FA9E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小标题"/>
          <p:cNvSpPr txBox="1"/>
          <p:nvPr>
            <p:custDataLst>
              <p:tags r:id="rId2"/>
            </p:custDataLst>
          </p:nvPr>
        </p:nvSpPr>
        <p:spPr>
          <a:xfrm>
            <a:off x="1371600" y="1092200"/>
            <a:ext cx="3810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四路证据，双向比对</a:t>
            </a:r>
            <a:endParaRPr sz="20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说明"/>
          <p:cNvSpPr txBox="1"/>
          <p:nvPr>
            <p:custDataLst>
              <p:tags r:id="rId3"/>
            </p:custDataLst>
          </p:nvPr>
        </p:nvSpPr>
        <p:spPr>
          <a:xfrm>
            <a:off x="1371600" y="1362075"/>
            <a:ext cx="103124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源码与应用声明</a:t>
            </a:r>
            <a:r>
              <a:rPr lang="zh-CN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普遍样例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，控件树、截图与文字识别回答</a:t>
            </a:r>
            <a:r>
              <a:rPr lang="zh-CN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实际数据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Connector 5"/>
          <p:cNvCxnSpPr/>
          <p:nvPr>
            <p:custDataLst>
              <p:tags r:id="rId4"/>
            </p:custDataLst>
          </p:nvPr>
        </p:nvCxnSpPr>
        <p:spPr>
          <a:xfrm>
            <a:off x="508000" y="2311400"/>
            <a:ext cx="11176000" cy="0"/>
          </a:xfrm>
          <a:prstGeom prst="line">
            <a:avLst/>
          </a:prstGeom>
          <a:ln w="9525">
            <a:solidFill>
              <a:srgbClr val="DCE9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序号"/>
          <p:cNvSpPr txBox="1"/>
          <p:nvPr>
            <p:custDataLst>
              <p:tags r:id="rId5"/>
            </p:custDataLst>
          </p:nvPr>
        </p:nvSpPr>
        <p:spPr>
          <a:xfrm>
            <a:off x="508000" y="2432685"/>
            <a:ext cx="889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FA9E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sz="2600" b="1">
              <a:solidFill>
                <a:srgbClr val="4FA9E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小标题"/>
          <p:cNvSpPr txBox="1"/>
          <p:nvPr>
            <p:custDataLst>
              <p:tags r:id="rId6"/>
            </p:custDataLst>
          </p:nvPr>
        </p:nvSpPr>
        <p:spPr>
          <a:xfrm>
            <a:off x="1371600" y="2432685"/>
            <a:ext cx="3810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通道逐级降级</a:t>
            </a:r>
            <a:endParaRPr sz="20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说明"/>
          <p:cNvSpPr txBox="1"/>
          <p:nvPr>
            <p:custDataLst>
              <p:tags r:id="rId7"/>
            </p:custDataLst>
          </p:nvPr>
        </p:nvSpPr>
        <p:spPr>
          <a:xfrm>
            <a:off x="1371600" y="2654300"/>
            <a:ext cx="103124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控件树可用则直取，候选不足转视觉模型，纯画布转文字识别；三条通道输出同一格式，后续流程不区分来源。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" name="Connector 9"/>
          <p:cNvCxnSpPr/>
          <p:nvPr>
            <p:custDataLst>
              <p:tags r:id="rId8"/>
            </p:custDataLst>
          </p:nvPr>
        </p:nvCxnSpPr>
        <p:spPr>
          <a:xfrm>
            <a:off x="508000" y="3581400"/>
            <a:ext cx="11176000" cy="0"/>
          </a:xfrm>
          <a:prstGeom prst="line">
            <a:avLst/>
          </a:prstGeom>
          <a:ln w="9525">
            <a:solidFill>
              <a:srgbClr val="DCE9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序号"/>
          <p:cNvSpPr txBox="1"/>
          <p:nvPr>
            <p:custDataLst>
              <p:tags r:id="rId9"/>
            </p:custDataLst>
          </p:nvPr>
        </p:nvSpPr>
        <p:spPr>
          <a:xfrm>
            <a:off x="508000" y="3702050"/>
            <a:ext cx="889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FA9E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sz="2600" b="1">
              <a:solidFill>
                <a:srgbClr val="4FA9E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小标题"/>
          <p:cNvSpPr txBox="1"/>
          <p:nvPr>
            <p:custDataLst>
              <p:tags r:id="rId10"/>
            </p:custDataLst>
          </p:nvPr>
        </p:nvSpPr>
        <p:spPr>
          <a:xfrm>
            <a:off x="1371600" y="3714115"/>
            <a:ext cx="3810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零部署外部观察</a:t>
            </a:r>
            <a:endParaRPr sz="20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说明"/>
          <p:cNvSpPr txBox="1"/>
          <p:nvPr>
            <p:custDataLst>
              <p:tags r:id="rId11"/>
            </p:custDataLst>
          </p:nvPr>
        </p:nvSpPr>
        <p:spPr>
          <a:xfrm>
            <a:off x="1397000" y="3970655"/>
            <a:ext cx="103124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不打包测试安装包、不改被测应用一行代码；同一套用例可跨应用复用，换应用只需换入口。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4" name="Connector 13"/>
          <p:cNvCxnSpPr/>
          <p:nvPr>
            <p:custDataLst>
              <p:tags r:id="rId12"/>
            </p:custDataLst>
          </p:nvPr>
        </p:nvCxnSpPr>
        <p:spPr>
          <a:xfrm>
            <a:off x="508000" y="4851400"/>
            <a:ext cx="11176000" cy="0"/>
          </a:xfrm>
          <a:prstGeom prst="line">
            <a:avLst/>
          </a:prstGeom>
          <a:ln w="9525">
            <a:solidFill>
              <a:srgbClr val="DCE9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序号"/>
          <p:cNvSpPr txBox="1"/>
          <p:nvPr>
            <p:custDataLst>
              <p:tags r:id="rId13"/>
            </p:custDataLst>
          </p:nvPr>
        </p:nvSpPr>
        <p:spPr>
          <a:xfrm>
            <a:off x="508000" y="4995545"/>
            <a:ext cx="889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FA9E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sz="2600" b="1">
              <a:solidFill>
                <a:srgbClr val="4FA9E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小标题"/>
          <p:cNvSpPr txBox="1"/>
          <p:nvPr>
            <p:custDataLst>
              <p:tags r:id="rId14"/>
            </p:custDataLst>
          </p:nvPr>
        </p:nvSpPr>
        <p:spPr>
          <a:xfrm>
            <a:off x="1397000" y="4995545"/>
            <a:ext cx="3810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证据与结论分离</a:t>
            </a:r>
            <a:endParaRPr sz="20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说明"/>
          <p:cNvSpPr txBox="1"/>
          <p:nvPr>
            <p:custDataLst>
              <p:tags r:id="rId15"/>
            </p:custDataLst>
          </p:nvPr>
        </p:nvSpPr>
        <p:spPr>
          <a:xfrm>
            <a:off x="1397000" y="5287010"/>
            <a:ext cx="103124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信号采集只出证据与置信度，归因模块据此下结论；证据不足时</a:t>
            </a:r>
            <a:r>
              <a:rPr lang="zh-CN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标为未知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，不硬凑一个结论。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收束"/>
          <p:cNvSpPr txBox="1"/>
          <p:nvPr>
            <p:custDataLst>
              <p:tags r:id="rId16"/>
            </p:custDataLst>
          </p:nvPr>
        </p:nvSpPr>
        <p:spPr>
          <a:xfrm>
            <a:off x="508000" y="6214428"/>
            <a:ext cx="11176000" cy="2457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endParaRPr sz="1600" b="0">
              <a:solidFill>
                <a:srgbClr val="4A6B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900" y="165100"/>
            <a:ext cx="8775700" cy="431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命题对照：13 条逐条验收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22" name="验收表"/>
          <p:cNvGraphicFramePr>
            <a:graphicFrameLocks noGrp="1"/>
          </p:cNvGraphicFramePr>
          <p:nvPr/>
        </p:nvGraphicFramePr>
        <p:xfrm>
          <a:off x="508000" y="939800"/>
          <a:ext cx="11176000" cy="5194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5400"/>
                <a:gridCol w="4699000"/>
                <a:gridCol w="1016000"/>
                <a:gridCol w="4165600"/>
              </a:tblGrid>
              <a:tr h="406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分类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12700" cap="flat" cmpd="sng" algn="ctr">
                      <a:solidFill>
                        <a:srgbClr val="0879C9"/>
                      </a:solidFill>
                    </a:lnL>
                    <a:lnR w="12700" cap="flat" cmpd="sng" algn="ctr">
                      <a:solidFill>
                        <a:srgbClr val="0879C9"/>
                      </a:solidFill>
                    </a:lnR>
                    <a:lnT w="12700" cap="flat" cmpd="sng" algn="ctr">
                      <a:solidFill>
                        <a:srgbClr val="0879C9"/>
                      </a:solidFill>
                    </a:lnT>
                    <a:lnB w="12700" cap="flat" cmpd="sng" algn="ctr">
                      <a:solidFill>
                        <a:srgbClr val="0879C9"/>
                      </a:solidFill>
                    </a:lnB>
                    <a:solidFill>
                      <a:srgbClr val="E6F6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命题要求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12700" cap="flat" cmpd="sng" algn="ctr">
                      <a:solidFill>
                        <a:srgbClr val="0879C9"/>
                      </a:solidFill>
                    </a:lnL>
                    <a:lnR w="12700" cap="flat" cmpd="sng" algn="ctr">
                      <a:solidFill>
                        <a:srgbClr val="0879C9"/>
                      </a:solidFill>
                    </a:lnR>
                    <a:lnT w="12700" cap="flat" cmpd="sng" algn="ctr">
                      <a:solidFill>
                        <a:srgbClr val="0879C9"/>
                      </a:solidFill>
                    </a:lnT>
                    <a:lnB w="12700" cap="flat" cmpd="sng" algn="ctr">
                      <a:solidFill>
                        <a:srgbClr val="0879C9"/>
                      </a:solidFill>
                    </a:lnB>
                    <a:solidFill>
                      <a:srgbClr val="E6F6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情况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12700" cap="flat" cmpd="sng" algn="ctr">
                      <a:solidFill>
                        <a:srgbClr val="0879C9"/>
                      </a:solidFill>
                    </a:lnL>
                    <a:lnR w="12700" cap="flat" cmpd="sng" algn="ctr">
                      <a:solidFill>
                        <a:srgbClr val="0879C9"/>
                      </a:solidFill>
                    </a:lnR>
                    <a:lnT w="12700" cap="flat" cmpd="sng" algn="ctr">
                      <a:solidFill>
                        <a:srgbClr val="0879C9"/>
                      </a:solidFill>
                    </a:lnT>
                    <a:lnB w="12700" cap="flat" cmpd="sng" algn="ctr">
                      <a:solidFill>
                        <a:srgbClr val="0879C9"/>
                      </a:solidFill>
                    </a:lnB>
                    <a:solidFill>
                      <a:srgbClr val="E6F6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实测与落点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12700" cap="flat" cmpd="sng" algn="ctr">
                      <a:solidFill>
                        <a:srgbClr val="0879C9"/>
                      </a:solidFill>
                    </a:lnL>
                    <a:lnR w="12700" cap="flat" cmpd="sng" algn="ctr">
                      <a:solidFill>
                        <a:srgbClr val="0879C9"/>
                      </a:solidFill>
                    </a:lnR>
                    <a:lnT w="12700" cap="flat" cmpd="sng" algn="ctr">
                      <a:solidFill>
                        <a:srgbClr val="0879C9"/>
                      </a:solidFill>
                    </a:lnT>
                    <a:lnB w="12700" cap="flat" cmpd="sng" algn="ctr">
                      <a:solidFill>
                        <a:srgbClr val="0879C9"/>
                      </a:solidFill>
                    </a:lnB>
                    <a:solidFill>
                      <a:srgbClr val="E6F6FE"/>
                    </a:solidFill>
                  </a:tcPr>
                </a:tc>
              </a:tr>
              <a:tr h="3683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① 感知定位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E1F1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基01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采集截图与布局，识别可交互元素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四路来源 · 仅 70/1648 带 id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挑01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多模态理解截图与布局，识别意图与路径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超额完成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一致率 97.8% · 免微调 67.4%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 探索生成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E1F1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基02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至少 3 类控件交互的脚本生成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五类动作 · 生成 26 条用例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基03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可复用脚本，含断言，框架可执行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静态可执行 92.3% · 无断言 0 条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挑02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自然语言生成问题复现脚本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真机 23/24 · 第二轮 22/24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挑03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自动探索跳转，生成状态图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超额完成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3/3 页 · 5 状态 · 7 跳转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 执行归因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E1F1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基04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至少 2 类测试场景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问题复现 · 探索 · 压力测试 · 回归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挑04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压力测试脚本生成四类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超额完成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115 轮 · 0 失败 · 126.9 分钟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挑05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识别崩溃、卡死、白屏、无响应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六类信号 · 四分类归因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挑06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用例沉淀与复用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轨迹转回归集，可重放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 交付验证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E1F1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基05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至少 1 个应用、3 个页面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超额完成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13 个应用 · 46 项样本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基06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提交架构文档、说明、结果、报告、演示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五份材料齐备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挑07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可孵化为测试 Agent 或工具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4A6B8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→ 命令行 · 离线 · 脚本导出</a:t>
                      </a:r>
                      <a:endParaRPr sz="1600" b="0">
                        <a:solidFill>
                          <a:srgbClr val="4A6B8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2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文本框 8"/>
          <p:cNvSpPr txBox="1"/>
          <p:nvPr/>
        </p:nvSpPr>
        <p:spPr>
          <a:xfrm>
            <a:off x="3630897" y="2504731"/>
            <a:ext cx="507752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2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3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4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5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6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7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8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9.xml><?xml version="1.0" encoding="utf-8"?>
<p:tagLst xmlns:p="http://schemas.openxmlformats.org/presentationml/2006/main">
  <p:tag name="KSO_WM_DIAGRAM_VIRTUALLY_FRAME" val="{&quot;height&quot;:417.2,&quot;left&quot;:223,&quot;top&quot;:82.8,&quot;width&quot;:357}"/>
</p:tagLst>
</file>

<file path=ppt/tags/tag10.xml><?xml version="1.0" encoding="utf-8"?>
<p:tagLst xmlns:p="http://schemas.openxmlformats.org/presentationml/2006/main">
  <p:tag name="KSO_WM_DIAGRAM_VIRTUALLY_FRAME" val="{&quot;height&quot;:417.2,&quot;left&quot;:223,&quot;top&quot;:82.8,&quot;width&quot;:357}"/>
</p:tagLst>
</file>

<file path=ppt/tags/tag11.xml><?xml version="1.0" encoding="utf-8"?>
<p:tagLst xmlns:p="http://schemas.openxmlformats.org/presentationml/2006/main">
  <p:tag name="KSO_WM_DIAGRAM_VIRTUALLY_FRAME" val="{&quot;height&quot;:417.2,&quot;left&quot;:223,&quot;top&quot;:82.8,&quot;width&quot;:357}"/>
</p:tagLst>
</file>

<file path=ppt/tags/tag12.xml><?xml version="1.0" encoding="utf-8"?>
<p:tagLst xmlns:p="http://schemas.openxmlformats.org/presentationml/2006/main">
  <p:tag name="KSO_WM_DIAGRAM_VIRTUALLY_FRAME" val="{&quot;height&quot;:417.2,&quot;left&quot;:223,&quot;top&quot;:82.8,&quot;width&quot;:357}"/>
</p:tagLst>
</file>

<file path=ppt/tags/tag13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14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15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16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17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18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19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20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21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22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23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24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25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26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27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28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29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0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1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2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3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4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5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6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7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8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3551</Words>
  <Application>WPS 演示</Application>
  <PresentationFormat/>
  <Paragraphs>397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1" baseType="lpstr">
      <vt:lpstr>Arial</vt:lpstr>
      <vt:lpstr>宋体</vt:lpstr>
      <vt:lpstr>Wingdings</vt:lpstr>
      <vt:lpstr>Source Han Sans CN Normal</vt:lpstr>
      <vt:lpstr>微软雅黑</vt:lpstr>
      <vt:lpstr>Source Han Sans CN Bold</vt:lpstr>
      <vt:lpstr>Source Han Sans CN Regular</vt:lpstr>
      <vt:lpstr>Microsoft YaHei Regular</vt:lpstr>
      <vt:lpstr>Consolas</vt:lpstr>
      <vt:lpstr>HarmonyOS Sans</vt:lpstr>
      <vt:lpstr>FFont-Family</vt:lpstr>
      <vt:lpstr>Arial Unicode MS</vt:lpstr>
      <vt:lpstr>KSOFBCC610B3</vt:lpstr>
      <vt:lpstr>等线</vt:lpstr>
      <vt:lpstr>Calibri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未期</cp:lastModifiedBy>
  <cp:revision>9</cp:revision>
  <dcterms:created xsi:type="dcterms:W3CDTF">2026-10-29T04:39:00Z</dcterms:created>
  <dcterms:modified xsi:type="dcterms:W3CDTF">2026-10-30T05:01:07Z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1A6DA3413B0A4B4692244F580C576D44_12</vt:lpwstr>
  </property>
  <property fmtid="{D5CDD505-2E9C-101B-9397-08002B2CF9AE}" pid="3" name="KSOProductBuildVer">
    <vt:lpwstr>2052-12.1.0.29161</vt:lpwstr>
  </property>
</Properties>
</file>