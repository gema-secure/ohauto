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88" r:id="rId26"/>
    <p:sldId id="260" r:id="rId5"/>
    <p:sldId id="289" r:id="rId27"/>
    <p:sldId id="262" r:id="rId7"/>
    <p:sldId id="283" r:id="rId8"/>
    <p:sldId id="290" r:id="rId28"/>
    <p:sldId id="263" r:id="rId9"/>
    <p:sldId id="265" r:id="rId10"/>
    <p:sldId id="278" r:id="rId11"/>
    <p:sldId id="287" r:id="rId12"/>
    <p:sldId id="264" r:id="rId13"/>
    <p:sldId id="268" r:id="rId14"/>
    <p:sldId id="269" r:id="rId15"/>
    <p:sldId id="291" r:id="rId29"/>
    <p:sldId id="272" r:id="rId16"/>
    <p:sldId id="285" r:id="rId17"/>
    <p:sldId id="274" r:id="rId18"/>
    <p:sldId id="276" r:id="rId19"/>
    <p:sldId id="284" r:id="rId20"/>
    <p:sldId id="286" r:id="rId21"/>
    <p:sldId id="25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8A8F6"/>
    <a:srgbClr val="0F7FF6"/>
    <a:srgbClr val="7BBC49"/>
    <a:srgbClr val="77BB69"/>
    <a:srgbClr val="329AD7"/>
    <a:srgbClr val="F7F9FC"/>
    <a:srgbClr val="9DC0E3"/>
    <a:srgbClr val="DFEAF6"/>
    <a:srgbClr val="E1E0E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91" autoAdjust="0"/>
    <p:restoredTop sz="94607" autoAdjust="0"/>
  </p:normalViewPr>
  <p:slideViewPr>
    <p:cSldViewPr snapToGrid="0" showGuides="1">
      <p:cViewPr varScale="1">
        <p:scale>
          <a:sx n="62" d="100"/>
          <a:sy n="62" d="100"/>
        </p:scale>
        <p:origin x="1192" y="52"/>
      </p:cViewPr>
      <p:guideLst>
        <p:guide orient="horz" pos="23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Relationship Id="rId26" Type="http://schemas.openxmlformats.org/officeDocument/2006/relationships/slide" Target="slides/slide3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数据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08A8F6"/>
              </a:solidFill>
            </c:spPr>
          </c:dPt>
          <c:dPt>
            <c:idx val="1"/>
            <c:invertIfNegative val="0"/>
            <c:bubble3D val="0"/>
            <c:spPr>
              <a:solidFill>
                <a:srgbClr val="DCE6EC"/>
              </a:solidFill>
            </c:spPr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带 id 的控件</c:v>
                </c:pt>
                <c:pt idx="1">
                  <c:v>不带 id 的控件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5.62</c:v>
                </c:pt>
                <c:pt idx="1">
                  <c:v>94.38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12700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0"/>
    <c:extLst>
      <c:ext uri="{0b15fc19-7d7d-44ad-8c2d-2c3a37ce22c3}">
        <chartProps xmlns="https://web.wps.cn/et/2018/main" chartId="{e6d95405-100d-442e-8c3c-cb60ec7c3933}"/>
      </c:ext>
    </c:extLst>
  </c:chart>
  <c:txPr>
    <a:bodyPr/>
    <a:lstStyle/>
    <a:p>
      <a:pPr>
        <a:defRPr lang="zh-CN" sz="1200">
          <a:latin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视觉通道（本项目）</c:v>
                </c:pt>
              </c:strCache>
            </c:strRef>
          </c:tx>
          <c:spPr>
            <a:solidFill>
              <a:srgbClr val="08A8F6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8A8F6"/>
              </a:solidFill>
            </c:spPr>
          </c:dPt>
          <c:dPt>
            <c:idx val="1"/>
            <c:invertIfNegative val="0"/>
            <c:bubble3D val="0"/>
            <c:spPr>
              <a:solidFill>
                <a:srgbClr val="DCE6EC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首批 20 项</c:v>
                </c:pt>
                <c:pt idx="1">
                  <c:v>扩充批 26 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65.4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控件树单通道（对照）</c:v>
                </c:pt>
              </c:strCache>
            </c:strRef>
          </c:tx>
          <c:spPr>
            <a:solidFill>
              <a:srgbClr val="D8DFE7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8A8F6"/>
              </a:solidFill>
            </c:spPr>
          </c:dPt>
          <c:dPt>
            <c:idx val="1"/>
            <c:invertIfNegative val="0"/>
            <c:bubble3D val="0"/>
            <c:spPr>
              <a:solidFill>
                <a:srgbClr val="DCE6EC"/>
              </a:solidFill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首批 20 项</c:v>
                </c:pt>
                <c:pt idx="1">
                  <c:v>扩充批 26 项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15.4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20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5e5f0dc-b550-4e82-ab1c-de8bf4c37771}"/>
      </c:ext>
    </c:extLst>
  </c:chart>
  <c:txPr>
    <a:bodyPr/>
    <a:lstStyle/>
    <a:p>
      <a:pPr>
        <a:defRPr lang="zh-CN" sz="1200">
          <a:latin typeface="微软雅黑" panose="020B0503020204020204" pitchFamily="34" charset="-122"/>
        </a:defRPr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E6E62-0A4A-440F-A3A0-1904151E0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DF4-6413-405D-8311-20A510DC5E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【口径，备查】5.62% 取自首批 7 个真实应用、800 个控件节点（45 / 800）；评测集扩到 13 个应用后，其中 11 个应用的 id 数为 0。右侧比例条把 800 个节点画成一条，蓝色段即带 id 的 45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四层职责：连接与执行层封装 hdc（采集控件树与截图、注入输入、调度执行）；探索与生成层驱动遍历并构建页面状态图，把自然语言与探索轨迹转成带断言的用例；融合与定位层让控件树、视觉、OCR、源码四路证据独立判断后按角色融合；诊断与报告层在失败时打包现场证据、按五类判据归因并输出可复核报告。原第 5 页的四行逐层说明已下线，全文保留在此。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【边界条件，备查】静态源要求被测应用提供源码；系统应用实测在线 2–3 源；降级结果均须在报告中标注。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形态一全文：桌面 211 个可见节点 / 18 个可交互控件 / id 数为 0，但 18 个控件全部带文案标签（应用图标名）。控件树 hints 按关键词直接命中，即 L1 静态候选，约 50ms，全程不调用模型。扩充评测 26 项中 L1 免调 65.4%、一致率 100%；桌面 18 个可交互控件无一调用模型。树健康时多模态零成本介入，这是分层降级的第一层，省下的是延迟与调用费用。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形态二（设置 com.ohos.settings）：183 个可见节点、28 个可交互控件，id 与文案两项全空——树能给出位置，给不出名字。树候选不足时转入半盲页流程，截图送多模态模型枚举可交互目标，产出带视觉框与标签的伪节点，直接流进既有探索循环。11 项评测中 9 项一致（81.8%），是十三个应用里最难的靶标，未命中的 2 项可在评测报告中回溯成因。（一致性口径：系统识别框与控件树标注框的 IoU@0.5。）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形态三（时钟 ohos.samples.etsclock 表盘页）：77 个可见节点、可交互控件 0 个，4 条文案全挂在非交互节点上。该次运行只有 runtime（22 条主张）与 ocr（7 条）两个源，没有静态源，被声明的目标为 0；同一页 runtime 22 条主张里没有 14:54:11，ocr 7 行里读到它，融合报告把该文案归入「未声明（仅观察）」共 13 条，属信息级，不作缺陷计。报告原文：_out/fusion_clock_v2.md。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7 页脚注原文：十三个应用中十一个的 id 数为 0，控件树单通道不可用是生态层面的普遍事实。视觉一致率跨应用 81.8%–100%，两批合计 45/46=97.8%（与控件树的一致性口径，离线评测、思考模式关闭）。* 桌面与信息页无可交互文案控件（图标入口为主），未进入评测集，如实标注。</a:t>
            </a:r>
          </a:p>
          <a:p>
            <a:r>
              <a:t>【口径，备查】* 桌面与信息页无可交互文案控件（图标入口为主），未进入评测集。 一致率均为与控件树标注框的一致性（IoU@0.5），离线评测、思考模式关闭。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归因：失败瞬间打包四项证据（截图、连续多棵控件树、faultlogger 日志、设备状态），一次打包供判定与换代共用。置信度由实测标定：崩溃 1.0（faultlogger 是硬日志）、无窗口 0.95、布局异常 0 误报；kill -11 产生日志判 1.0，kill -9 只计弱证据。判据不足时输出未知，不猜。自愈：失败按（来源, 代次, locator_id）幂等记账，同一失败不重复计数；连续失败达阈值触发换代，换代产物写回账本，可挂 CI 复测。新定位器入账前必须在树上唯一命中（L1 id 精确或 L3 层级路径口径），L4 视觉与 L5 坐标兜底不参与自愈验证。五级降链本身属于定位层，已在第 7 页展示，本页不再重复。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六阶段流水线每一步只校验两件事：这一步的产物能不能失败、失败原因是否指向被测应用。测试点覆盖功能、边界、异常、界面、性能、兼容六个维度。断言基准取自探索状态图与真实控件树（页面应有状态 + 点击后结果），有出处，不由模型想象。通过闸的用例导出 hypium 脚本（API 15 官方 API），由真机测试框架执行；压测脚本支持重复点击、连续滑动、页面反复进出、长时间运行四类。实测：hypium 导出真机 2/2 通过；用例健康度复用 calculator 7/7、note_stability 2/2。度量层教训：以步骤通过率评价用例，指标会奖励空壳用例（全过但没有断言），空壳闸在导出前拒收这类用例。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14 页图表口径：20 条评测项、--dry 不调模型的离线评测；控件树补全文案后多数控件无需调用模型即可定位，70.0% 对 10.0%。</a:t>
            </a:r>
          </a:p>
          <a:p>
            <a:r>
              <a:t>【口径，备查】应用级与引擎级靶标不同，数字分列。</a:t>
            </a:r>
          </a:p>
          <a:p>
            <a:r>
              <a:t>【口径，备查】一致率均为与控件树标注框的一致性（IoU@0.5），不是绝对准确率，离线评测。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【口径，备查】两批均为与控件树标注的一致性，不是绝对准确率。</a:t>
            </a:r>
          </a:p>
          <a:p>
            <a:r>
              <a:t>【口径，备查】页面覆盖按 page_path 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【口径，备查】口径：跨形态数字来自模拟器四实例（Mate X7 / Pura 90 Pro / MatePad Pro 13 / MateBook Pro），与真机数字分列，不混合使用。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未实现（备查，不在版面）：录制回放、性能专项采集（帧率 / CPU）、多屏 displayId 通路。物理真机 1 台（DAYU200）；跨形态数字来自折叠屏模拟器四实例，已与真机数字分列，不混合使用。</a:t>
            </a:r>
          </a:p>
          <a:p>
            <a:r>
              <a:t>【口径，备查】用例级数字取 20 条样本、两轮执行。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</a:blip>
          <a:srcRect b="13216"/>
          <a:stretch>
            <a:fillRect/>
          </a:stretch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1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1"/>
          </p:cNvPicPr>
          <p:nvPr userDrawn="1"/>
        </p:nvPicPr>
        <p:blipFill>
          <a:blip r:embed="rId3" cstate="print">
            <a:alphaModFix amt="21000"/>
          </a:blip>
          <a:srcRect/>
          <a:stretch>
            <a:fillRect/>
          </a:stretch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2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/>
              <a:t>单击此处编辑母版文本</a:t>
            </a:r>
            <a:endParaRPr kumimoji="1" lang="zh-CN" altLang="en-US"/>
          </a:p>
        </p:txBody>
      </p:sp>
      <p:pic>
        <p:nvPicPr>
          <p:cNvPr id="29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1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3" name="图片 3"/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biLevel thresh="25000"/>
          </a:blip>
          <a:srcRect t="32381"/>
          <a:stretch>
            <a:fillRect/>
          </a:stretch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3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40" name="组合 1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2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1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8A8F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文本框 10"/>
          <p:cNvSpPr txBox="1"/>
          <p:nvPr userDrawn="1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  <a:endParaRPr lang="en-US" altLang="zh-CN" sz="3200" b="1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47" name="组合 5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 lang="zh-CN" altLang="en-US" sz="1400" kern="1200" dirty="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9" name="直接连接符 7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3417888" y="5226665"/>
            <a:ext cx="5356225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gema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2026年10月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6"/>
          <p:cNvSpPr txBox="1"/>
          <p:nvPr/>
        </p:nvSpPr>
        <p:spPr>
          <a:xfrm>
            <a:off x="869656" y="1706953"/>
            <a:ext cx="10830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2026</a:t>
            </a:r>
            <a:r>
              <a:rPr lang="zh-CN" altLang="en-US" sz="4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开源鸿蒙大学生创新大赛</a:t>
            </a:r>
            <a:r>
              <a:rPr lang="en-US" altLang="zh-CN" sz="4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-</a:t>
            </a:r>
            <a:r>
              <a:rPr lang="zh-CN" altLang="en-US" sz="4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赛道一</a:t>
            </a:r>
            <a:endParaRPr lang="en-US" altLang="zh-CN" sz="4800" b="1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502920" y="2868089"/>
            <a:ext cx="11183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 err="1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面向 OpenHarmony 的多模态智能测试系统</a:t>
            </a:r>
            <a:endParaRPr lang="en-US" altLang="zh-CN" sz="2800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445"/>
            <a:ext cx="3321050" cy="1042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>
            <p:custDataLst>
              <p:tags r:id="rId1"/>
            </p:custDataLst>
          </p:nvPr>
        </p:nvSpPr>
        <p:spPr>
          <a:xfrm>
            <a:off x="2741964" y="1883664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26"/>
          <p:cNvSpPr/>
          <p:nvPr>
            <p:custDataLst>
              <p:tags r:id="rId1"/>
            </p:custDataLst>
          </p:nvPr>
        </p:nvSpPr>
        <p:spPr>
          <a:xfrm>
            <a:off x="2741964" y="2752344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27"/>
          <p:cNvSpPr/>
          <p:nvPr>
            <p:custDataLst>
              <p:tags r:id="rId2"/>
            </p:custDataLst>
          </p:nvPr>
        </p:nvSpPr>
        <p:spPr>
          <a:xfrm>
            <a:off x="3585244" y="3621024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功能介绍</a:t>
            </a:r>
            <a:endParaRPr lang="zh-CN" altLang="en-US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>
            <p:custDataLst>
              <p:tags r:id="rId3"/>
            </p:custDataLst>
          </p:nvPr>
        </p:nvSpPr>
        <p:spPr>
          <a:xfrm>
            <a:off x="2734344" y="3621024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29"/>
          <p:cNvSpPr/>
          <p:nvPr>
            <p:custDataLst>
              <p:tags r:id="rId4"/>
            </p:custDataLst>
          </p:nvPr>
        </p:nvSpPr>
        <p:spPr>
          <a:xfrm>
            <a:off x="3585244" y="4489704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验证结果与边界权衡</a:t>
            </a:r>
            <a:endParaRPr lang="zh-CN" altLang="en-US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>
            <p:custDataLst>
              <p:tags r:id="rId5"/>
            </p:custDataLst>
          </p:nvPr>
        </p:nvSpPr>
        <p:spPr>
          <a:xfrm>
            <a:off x="2734344" y="4489704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44"/>
          <p:cNvSpPr/>
          <p:nvPr>
            <p:custDataLst>
              <p:tags r:id="rId6"/>
            </p:custDataLst>
          </p:nvPr>
        </p:nvSpPr>
        <p:spPr>
          <a:xfrm>
            <a:off x="3597944" y="1883664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难点分析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1" name="圆角矩形 44"/>
          <p:cNvSpPr/>
          <p:nvPr>
            <p:custDataLst>
              <p:tags r:id="rId6"/>
            </p:custDataLst>
          </p:nvPr>
        </p:nvSpPr>
        <p:spPr>
          <a:xfrm>
            <a:off x="3597944" y="2752344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系统设计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 lang="zh-CN">
                <a:solidFill>
                  <a:srgbClr val="CBE4F8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0128" y="2569463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zh-CN">
                <a:solidFill>
                  <a:srgbClr val="0B3E63"/>
                </a:solidFill>
                <a:latin typeface="微软雅黑"/>
                <a:ea typeface="微软雅黑"/>
              </a:rPr>
              <a:t>难点分析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328416" y="3502152"/>
            <a:ext cx="1280160" cy="0"/>
          </a:xfrm>
          <a:prstGeom prst="line">
            <a:avLst/>
          </a:prstGeom>
          <a:ln w="38100">
            <a:solidFill>
              <a:srgbClr val="08A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328416" y="3666744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lang="zh-CN">
                <a:solidFill>
                  <a:srgbClr val="5A6472"/>
                </a:solidFill>
                <a:latin typeface="微软雅黑"/>
                <a:ea typeface="微软雅黑"/>
              </a:rPr>
              <a:t>控件树给不出定位依据，失败给不出原因，用例给不出断言。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三个难点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6" name="Rounded Rectangle 905"/>
          <p:cNvSpPr/>
          <p:nvPr/>
        </p:nvSpPr>
        <p:spPr>
          <a:xfrm>
            <a:off x="502920" y="1188720"/>
            <a:ext cx="3576320" cy="2148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5.62%</a:t>
            </a:r>
            <a:endParaRPr sz="2600" b="1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控件定位依据不足</a:t>
            </a:r>
            <a:endParaRPr sz="17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 个控件节点中带 id 的只有 45 个；纯 Canvas 应用没有可交互节点。</a:t>
            </a:r>
            <a:endParaRPr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7" name="Rounded Rectangle 906"/>
          <p:cNvSpPr/>
          <p:nvPr/>
        </p:nvSpPr>
        <p:spPr>
          <a:xfrm>
            <a:off x="4307840" y="1188720"/>
            <a:ext cx="3576320" cy="2148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步骤失败</a:t>
            </a:r>
            <a:endParaRPr sz="2600" b="1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失败缺乏归因</a:t>
            </a:r>
            <a:endParaRPr sz="17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框架只报步骤失败，不给原因；设备异常、应用缺陷、脚本缺陷需人工分辨。</a:t>
            </a:r>
            <a:endParaRPr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8" name="Rounded Rectangle 907"/>
          <p:cNvSpPr/>
          <p:nvPr/>
        </p:nvSpPr>
        <p:spPr>
          <a:xfrm>
            <a:off x="8112760" y="1188720"/>
            <a:ext cx="3576320" cy="2148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通过率虚高</a:t>
            </a:r>
            <a:endParaRPr sz="2600" b="1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生成用例可信度不足</a:t>
            </a:r>
            <a:endParaRPr sz="17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脚本步骤全过、没有断言，通过率被抬高，真实质量被掩盖。</a:t>
            </a:r>
            <a:endParaRPr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10" name="Chart 909"/>
          <p:cNvGraphicFramePr>
            <a:graphicFrameLocks noGrp="1"/>
          </p:cNvGraphicFramePr>
          <p:nvPr/>
        </p:nvGraphicFramePr>
        <p:xfrm>
          <a:off x="502920" y="3918585"/>
          <a:ext cx="630936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12" name="TextBox 911"/>
          <p:cNvSpPr txBox="1"/>
          <p:nvPr/>
        </p:nvSpPr>
        <p:spPr>
          <a:xfrm>
            <a:off x="502920" y="5577840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三个问题同出一源，控件树不为测试而设计、失败信号没有结构化记录、生成用例缺少验证闭环。</a:t>
            </a:r>
            <a:endParaRPr sz="14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3" name="Card_Ratio"/>
          <p:cNvSpPr/>
          <p:nvPr/>
        </p:nvSpPr>
        <p:spPr>
          <a:xfrm>
            <a:off x="7040880" y="3886200"/>
            <a:ext cx="4645152" cy="1554480"/>
          </a:xfrm>
          <a:prstGeom prst="roundRect">
            <a:avLst>
              <a:gd name="adj" fmla="val 10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7269480" y="402336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 个节点里，45 个带 id</a:t>
            </a:r>
            <a:endParaRPr lang="zh-CN" sz="145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5" name="Bar_total"/>
          <p:cNvSpPr/>
          <p:nvPr/>
        </p:nvSpPr>
        <p:spPr>
          <a:xfrm>
            <a:off x="7269480" y="4443984"/>
            <a:ext cx="4187952" cy="274320"/>
          </a:xfrm>
          <a:prstGeom prst="roundRect">
            <a:avLst>
              <a:gd name="adj" fmla="val 12000"/>
            </a:avLst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Bar_id"/>
          <p:cNvSpPr/>
          <p:nvPr/>
        </p:nvSpPr>
        <p:spPr>
          <a:xfrm>
            <a:off x="7269480" y="4443984"/>
            <a:ext cx="235362" cy="274320"/>
          </a:xfrm>
          <a:prstGeom prst="roundRect">
            <a:avLst>
              <a:gd name="adj" fmla="val 12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TextBox 916"/>
          <p:cNvSpPr txBox="1"/>
          <p:nvPr/>
        </p:nvSpPr>
        <p:spPr>
          <a:xfrm>
            <a:off x="7269480" y="48463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200" b="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 755 个节点没有 id，只能靠文案、层级路径或视觉推断。</a:t>
            </a:r>
            <a:endParaRPr lang="zh-CN" sz="1200" b="0">
              <a:solidFill>
                <a:srgbClr val="3E4A5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 lang="zh-CN">
                <a:solidFill>
                  <a:srgbClr val="CBE4F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0128" y="2569463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zh-CN">
                <a:solidFill>
                  <a:srgbClr val="0B3E63"/>
                </a:solidFill>
                <a:latin typeface="微软雅黑"/>
                <a:ea typeface="微软雅黑"/>
              </a:rPr>
              <a:t>系统设计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328416" y="3502152"/>
            <a:ext cx="1280160" cy="0"/>
          </a:xfrm>
          <a:prstGeom prst="line">
            <a:avLst/>
          </a:prstGeom>
          <a:ln w="38100">
            <a:solidFill>
              <a:srgbClr val="08A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328416" y="3666744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lang="zh-CN">
                <a:solidFill>
                  <a:srgbClr val="5A6472"/>
                </a:solidFill>
                <a:latin typeface="微软雅黑"/>
                <a:ea typeface="微软雅黑"/>
              </a:rPr>
              <a:t>四层架构，一条从探索到沉淀的证据闭环。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系统总体设计：一条证据闭环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2" name="Picture 907" descr="loop_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10424160" cy="3474720"/>
          </a:xfrm>
          <a:prstGeom prst="rect">
            <a:avLst/>
          </a:prstGeom>
        </p:spPr>
      </p:pic>
      <p:sp>
        <p:nvSpPr>
          <p:cNvPr id="917" name="TextBox 916"/>
          <p:cNvSpPr txBox="1"/>
          <p:nvPr/>
        </p:nvSpPr>
        <p:spPr>
          <a:xfrm>
            <a:off x="502920" y="5193792"/>
            <a:ext cx="11183112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四层主链路均在 DAYU200 真机（OpenHarmony 5.0.3.135）上跑通，零部署、不插桩。</a:t>
            </a:r>
            <a:endParaRPr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8" name="TextBox 917"/>
          <p:cNvSpPr txBox="1"/>
          <p:nvPr/>
        </p:nvSpPr>
        <p:spPr>
          <a:xfrm>
            <a:off x="502920" y="4700016"/>
            <a:ext cx="2743200" cy="24828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连接与执行层</a:t>
            </a:r>
            <a:endParaRPr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291840" y="4700016"/>
            <a:ext cx="2743200" cy="24828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spcAft>
                <a:spcPts val="0"/>
              </a:spcAft>
              <a:buClrTx/>
              <a:buSzTx/>
              <a:buFontTx/>
            </a:pPr>
            <a:r>
              <a:rPr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探索与生成层</a:t>
            </a:r>
            <a:endParaRPr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6080760" y="4700016"/>
            <a:ext cx="2743200" cy="24828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spcAft>
                <a:spcPts val="0"/>
              </a:spcAft>
              <a:buClrTx/>
              <a:buSzTx/>
              <a:buFontTx/>
            </a:pPr>
            <a:r>
              <a:rPr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融合与定位层</a:t>
            </a:r>
            <a:endParaRPr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8869680" y="4700016"/>
            <a:ext cx="2743200" cy="24828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spcAft>
                <a:spcPts val="0"/>
              </a:spcAft>
              <a:buClrTx/>
              <a:buSzTx/>
              <a:buFontTx/>
            </a:pPr>
            <a:r>
              <a:rPr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诊断与报告层</a:t>
            </a:r>
            <a:endParaRPr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905"/>
          <p:cNvSpPr/>
          <p:nvPr/>
        </p:nvSpPr>
        <p:spPr>
          <a:xfrm>
            <a:off x="254000" y="4700905"/>
            <a:ext cx="10414000" cy="104013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800"/>
              </a:spcAft>
            </a:pPr>
            <a:endParaRPr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ounded Rectangle 905"/>
          <p:cNvSpPr/>
          <p:nvPr/>
        </p:nvSpPr>
        <p:spPr>
          <a:xfrm>
            <a:off x="254000" y="3462655"/>
            <a:ext cx="10414000" cy="104013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800"/>
              </a:spcAft>
            </a:pPr>
            <a:endParaRPr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ounded Rectangle 905"/>
          <p:cNvSpPr/>
          <p:nvPr/>
        </p:nvSpPr>
        <p:spPr>
          <a:xfrm>
            <a:off x="254000" y="2186305"/>
            <a:ext cx="10414000" cy="104013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800"/>
              </a:spcAft>
            </a:pPr>
            <a:endParaRPr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19456" y="173736"/>
            <a:ext cx="11176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altLang="en-US" sz="280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 系统能力全景：四层九域</a:t>
            </a:r>
            <a:endParaRPr lang="zh-CN" altLang="en-US" sz="280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Rounded Rectangle 905"/>
          <p:cNvSpPr/>
          <p:nvPr/>
        </p:nvSpPr>
        <p:spPr>
          <a:xfrm>
            <a:off x="254000" y="973455"/>
            <a:ext cx="10414000" cy="104013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800"/>
              </a:spcAft>
            </a:pPr>
            <a:endParaRPr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406400" y="1123950"/>
            <a:ext cx="18796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0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连接与执行层</a:t>
            </a:r>
            <a:endParaRPr lang="zh-CN" sz="20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06400" y="2368550"/>
            <a:ext cx="18796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0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探索与生成层</a:t>
            </a:r>
            <a:endParaRPr lang="zh-CN" sz="20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406400" y="3613150"/>
            <a:ext cx="18796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0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融合与定位层</a:t>
            </a:r>
            <a:endParaRPr lang="zh-CN" sz="20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406400" y="4857750"/>
            <a:ext cx="18796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0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诊断与报告层</a:t>
            </a:r>
            <a:endParaRPr lang="zh-CN" sz="20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2413000" y="1123950"/>
            <a:ext cx="2540000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95" name="圆角矩形 94"/>
          <p:cNvSpPr/>
          <p:nvPr/>
        </p:nvSpPr>
        <p:spPr>
          <a:xfrm>
            <a:off x="5080000" y="1123950"/>
            <a:ext cx="2540000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96" name="圆角矩形 95"/>
          <p:cNvSpPr/>
          <p:nvPr/>
        </p:nvSpPr>
        <p:spPr>
          <a:xfrm>
            <a:off x="7747000" y="1123950"/>
            <a:ext cx="2540000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97" name="圆角矩形 96"/>
          <p:cNvSpPr/>
          <p:nvPr/>
        </p:nvSpPr>
        <p:spPr>
          <a:xfrm>
            <a:off x="2414016" y="2368550"/>
            <a:ext cx="4064508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98" name="圆角矩形 97"/>
          <p:cNvSpPr/>
          <p:nvPr/>
        </p:nvSpPr>
        <p:spPr>
          <a:xfrm>
            <a:off x="6606540" y="2368550"/>
            <a:ext cx="4064508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99" name="圆角矩形 98"/>
          <p:cNvSpPr/>
          <p:nvPr/>
        </p:nvSpPr>
        <p:spPr>
          <a:xfrm>
            <a:off x="2414016" y="3613150"/>
            <a:ext cx="4064508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100" name="圆角矩形 99"/>
          <p:cNvSpPr/>
          <p:nvPr/>
        </p:nvSpPr>
        <p:spPr>
          <a:xfrm>
            <a:off x="6606540" y="3613150"/>
            <a:ext cx="4064508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101" name="圆角矩形 100"/>
          <p:cNvSpPr/>
          <p:nvPr/>
        </p:nvSpPr>
        <p:spPr>
          <a:xfrm>
            <a:off x="2414016" y="4857750"/>
            <a:ext cx="4064508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102" name="圆角矩形 101"/>
          <p:cNvSpPr/>
          <p:nvPr/>
        </p:nvSpPr>
        <p:spPr>
          <a:xfrm>
            <a:off x="6606540" y="4857750"/>
            <a:ext cx="4064508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5B7EB"/>
            </a:solidFill>
            <a:prstDash val="solid"/>
          </a:ln>
        </p:spPr>
        <p:txBody>
          <a:bodyPr/>
          <a:p/>
        </p:txBody>
      </p:sp>
      <p:sp>
        <p:nvSpPr>
          <p:cNvPr id="103" name="矩形 102"/>
          <p:cNvSpPr/>
          <p:nvPr/>
        </p:nvSpPr>
        <p:spPr>
          <a:xfrm>
            <a:off x="2540000" y="118745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设备接入与执行</a:t>
            </a:r>
            <a:endParaRPr lang="zh-CN" sz="15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5207000" y="118745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执行与调度</a:t>
            </a:r>
            <a:endParaRPr lang="zh-CN" sz="15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7874000" y="118745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仿真与离线能力</a:t>
            </a:r>
            <a:endParaRPr lang="zh-CN" sz="15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2542032" y="24320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页面探索</a:t>
            </a:r>
            <a:endParaRPr lang="zh-CN" sz="15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6734555" y="24320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用例生成</a:t>
            </a:r>
            <a:endParaRPr lang="zh-CN" sz="15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2542032" y="36766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界面感知与定位</a:t>
            </a:r>
            <a:endParaRPr lang="zh-CN" sz="15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6734555" y="36766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特殊形态支持</a:t>
            </a:r>
            <a:endParaRPr lang="zh-CN" sz="15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2542032" y="49212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缺陷发现与归因</a:t>
            </a:r>
            <a:endParaRPr lang="zh-CN" sz="15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734555" y="49212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报告与资产沉淀</a:t>
            </a:r>
            <a:endParaRPr lang="zh-CN" sz="15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2511425" y="1492250"/>
            <a:ext cx="2540635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零部署接管 · hdc 自动定位 · 环境自检</a:t>
            </a:r>
            <a:endParaRPr 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5207000" y="150495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稳健等待 · 全套手势 · 长稳编排</a:t>
            </a:r>
            <a:endParaRPr 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874000" y="150495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离线模拟 · 故障注入 · 无真机全链</a:t>
            </a:r>
            <a:endParaRPr 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2542032" y="27495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自动跳转 · 状态图 · 防粘滞</a:t>
            </a:r>
            <a:endParaRPr 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6734555" y="27495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 转用例 · 空壳闸 · 导出 hypium</a:t>
            </a:r>
            <a:endParaRPr 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2542032" y="39941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语义定位 · 多模态视觉 · 五级降链</a:t>
            </a:r>
            <a:endParaRPr 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6734555" y="3994785"/>
            <a:ext cx="3808476" cy="30416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折叠屏双态 · 四类差异 · 模拟器跑测</a:t>
            </a:r>
            <a:endParaRPr 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542032" y="5238750"/>
            <a:ext cx="3808476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六类信号 · 四分类归因 · 归因回写</a:t>
            </a:r>
            <a:endParaRPr 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6734555" y="5226050"/>
            <a:ext cx="3808476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三格式报告 · 轨迹回归集 · 用例体检</a:t>
            </a:r>
            <a:endParaRPr lang="zh-CN" sz="11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直接连接符 120"/>
          <p:cNvSpPr/>
          <p:nvPr/>
        </p:nvSpPr>
        <p:spPr>
          <a:xfrm>
            <a:off x="11366500" y="984250"/>
            <a:ext cx="0" cy="4572000"/>
          </a:xfrm>
          <a:prstGeom prst="line">
            <a:avLst/>
          </a:prstGeom>
          <a:noFill/>
          <a:ln w="22860">
            <a:solidFill>
              <a:srgbClr val="0C447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5" name="矩形 124"/>
          <p:cNvSpPr/>
          <p:nvPr/>
        </p:nvSpPr>
        <p:spPr>
          <a:xfrm>
            <a:off x="10795000" y="104775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</a:t>
            </a:r>
            <a:endParaRPr lang="zh-CN" sz="12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10795000" y="168275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endParaRPr lang="zh-CN" sz="12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10795000" y="231775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</a:t>
            </a:r>
            <a:endParaRPr lang="zh-CN" sz="12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0795000" y="295275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endParaRPr lang="zh-CN" sz="12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10795000" y="358775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归因</a:t>
            </a:r>
            <a:endParaRPr lang="zh-CN" sz="12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10795000" y="422275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沉淀</a:t>
            </a:r>
            <a:endParaRPr lang="zh-CN" sz="12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508000" y="59055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5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九域之中，定位、诊断、生成三域由后面三节关键技术展开。</a:t>
            </a:r>
            <a:endParaRPr lang="zh-CN" sz="1300" b="1">
              <a:solidFill>
                <a:srgbClr val="0C44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 lang="zh-CN">
                <a:solidFill>
                  <a:srgbClr val="CBE4F8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0128" y="2569463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zh-CN">
                <a:solidFill>
                  <a:srgbClr val="0B3E63"/>
                </a:solidFill>
                <a:latin typeface="微软雅黑"/>
                <a:ea typeface="微软雅黑"/>
              </a:rPr>
              <a:t>功能介绍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328416" y="3502152"/>
            <a:ext cx="1280160" cy="0"/>
          </a:xfrm>
          <a:prstGeom prst="line">
            <a:avLst/>
          </a:prstGeom>
          <a:ln w="38100">
            <a:solidFill>
              <a:srgbClr val="08A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328416" y="3666744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lang="zh-CN">
                <a:solidFill>
                  <a:srgbClr val="5A6472"/>
                </a:solidFill>
                <a:latin typeface="微软雅黑"/>
                <a:ea typeface="微软雅黑"/>
              </a:rPr>
              <a:t>定位、自愈、生成：三个能力，各解决一个问题。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四源融合定位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4" name="Picture 908" descr="fu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215" y="1133348"/>
            <a:ext cx="6035040" cy="3129280"/>
          </a:xfrm>
          <a:prstGeom prst="rect">
            <a:avLst/>
          </a:prstGeom>
        </p:spPr>
      </p:pic>
      <p:sp>
        <p:nvSpPr>
          <p:cNvPr id="910" name="Rounded Rectangle 909"/>
          <p:cNvSpPr/>
          <p:nvPr/>
        </p:nvSpPr>
        <p:spPr>
          <a:xfrm>
            <a:off x="6766560" y="1133348"/>
            <a:ext cx="4922520" cy="1005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双确认 → confirmed</a:t>
            </a:r>
            <a:endParaRPr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声明与观察一致，控件可信存在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1" name="Rounded Rectangle 910"/>
          <p:cNvSpPr/>
          <p:nvPr/>
        </p:nvSpPr>
        <p:spPr>
          <a:xfrm>
            <a:off x="6766560" y="2290572"/>
            <a:ext cx="4922520" cy="1005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声明有 · 观察无</a:t>
            </a:r>
            <a:endParaRPr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missing：判为疑似缺陷（差异即缺陷）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2" name="Rounded Rectangle 911"/>
          <p:cNvSpPr/>
          <p:nvPr/>
        </p:nvSpPr>
        <p:spPr>
          <a:xfrm>
            <a:off x="6722110" y="3428746"/>
            <a:ext cx="4922520" cy="1005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声明无 · 观察有</a:t>
            </a:r>
            <a:endParaRPr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undeclared：源码未声明的实现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3" name="Rounded Rectangle 912"/>
          <p:cNvSpPr/>
          <p:nvPr/>
        </p:nvSpPr>
        <p:spPr>
          <a:xfrm>
            <a:off x="502920" y="4877816"/>
            <a:ext cx="11186160" cy="1298448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lnSpc>
                <a:spcPct val="108000"/>
              </a:lnSpc>
              <a:spcAft>
                <a:spcPts val="240"/>
              </a:spcAft>
            </a:pPr>
            <a:r>
              <a:rPr lang="zh-CN" altLang="en-US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源按角色分两类：声明源（静态源码、用例声明），观察源（运行时控件树、截图视觉、OCR）。</a:t>
            </a:r>
            <a:endParaRPr lang="zh-CN" altLang="en-US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180"/>
              </a:spcAft>
            </a:pPr>
            <a:r>
              <a:rPr lang="zh-CN" altLang="en-US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每条主张是一个 Claim：kind（标识维度）、value（取值）、scope（页面范围）、evidence（证据）；声明与观察按这三项逐条对齐。</a:t>
            </a:r>
            <a:endParaRPr lang="zh-CN" altLang="en-US"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endParaRPr lang="zh-CN" altLang="en-US"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形态一：树健康，L1 免调模型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1" name="Picture 910" descr="launcher_overl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2834640" cy="5039360"/>
          </a:xfrm>
          <a:prstGeom prst="rect">
            <a:avLst/>
          </a:prstGeom>
        </p:spPr>
      </p:pic>
      <p:sp>
        <p:nvSpPr>
          <p:cNvPr id="912" name="Rounded Rectangle 911"/>
          <p:cNvSpPr/>
          <p:nvPr/>
        </p:nvSpPr>
        <p:spPr>
          <a:xfrm>
            <a:off x="3566160" y="1097280"/>
            <a:ext cx="8122920" cy="1005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实测数据</a:t>
            </a:r>
            <a:endParaRPr sz="16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 211 个可见节点，18 个可交互控件，id 数为 0——但 18 个控件全部带文案标签（应用图标名）。</a:t>
            </a:r>
            <a:endParaRPr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3" name="Rounded Rectangle 912"/>
          <p:cNvSpPr/>
          <p:nvPr/>
        </p:nvSpPr>
        <p:spPr>
          <a:xfrm>
            <a:off x="3566160" y="2176272"/>
            <a:ext cx="8122920" cy="1005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触发机制</a:t>
            </a:r>
            <a:endParaRPr sz="16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控件树 hints 按关键词直接命中，即 L1 静态候选：约 50ms，全程不调用模型。</a:t>
            </a:r>
            <a:endParaRPr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4" name="Rounded Rectangle 913"/>
          <p:cNvSpPr/>
          <p:nvPr/>
        </p:nvSpPr>
        <p:spPr>
          <a:xfrm>
            <a:off x="3566160" y="3255264"/>
            <a:ext cx="8122920" cy="1005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评测结果</a:t>
            </a:r>
            <a:endParaRPr sz="16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扩充评测 26 项中 L1 免调 65.4%、一致率 100%；桌面 18 个可交互控件无一调用模型。</a:t>
            </a:r>
            <a:endParaRPr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5" name="Rounded Rectangle 914"/>
          <p:cNvSpPr/>
          <p:nvPr/>
        </p:nvSpPr>
        <p:spPr>
          <a:xfrm>
            <a:off x="3566160" y="4334256"/>
            <a:ext cx="8122920" cy="10058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设计含义</a:t>
            </a:r>
            <a:endParaRPr sz="16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树健康时无需调用多模态——这是分层降级的第一层，省下的是延迟与调用费用。</a:t>
            </a:r>
            <a:endParaRPr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6" name="TextBox 915"/>
          <p:cNvSpPr txBox="1"/>
          <p:nvPr/>
        </p:nvSpPr>
        <p:spPr>
          <a:xfrm>
            <a:off x="502920" y="73152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三形态按控件树给出的定位依据划分：树健康（hints 命中）、缺 id（有树无依据）、纯 Canvas（无可交互节点）。</a:t>
            </a:r>
            <a:endParaRPr lang="zh-CN" altLang="en-US"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3566160" y="5376672"/>
            <a:ext cx="81198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72"/>
                </a:solidFill>
                <a:latin typeface="微软雅黑" panose="020B0503020204020204" pitchFamily="34" charset="-122"/>
              </a:rPr>
              <a:t>定位按五级降链逐级放宽，本页命中 L1：</a:t>
            </a:r>
            <a:endParaRPr sz="1050" b="0">
              <a:solidFill>
                <a:srgbClr val="5A6472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8" name="Rounded Rectangle 917"/>
          <p:cNvSpPr/>
          <p:nvPr/>
        </p:nvSpPr>
        <p:spPr>
          <a:xfrm>
            <a:off x="3566160" y="5650992"/>
            <a:ext cx="1506931" cy="512064"/>
          </a:xfrm>
          <a:prstGeom prst="roundRect">
            <a:avLst>
              <a:gd name="adj" fmla="val 22000"/>
            </a:avLst>
          </a:prstGeom>
          <a:solidFill>
            <a:srgbClr val="EFF7FD"/>
          </a:solidFill>
          <a:ln w="11430">
            <a:solidFill>
              <a:srgbClr val="CF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6FB8"/>
                </a:solidFill>
                <a:latin typeface="微软雅黑" panose="020B0503020204020204" pitchFamily="34" charset="-122"/>
              </a:rPr>
              <a:t>L1</a:t>
            </a:r>
            <a:endParaRPr sz="1200" b="1">
              <a:solidFill>
                <a:srgbClr val="0B6FB8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850">
                <a:solidFill>
                  <a:srgbClr val="5A6472"/>
                </a:solidFill>
                <a:latin typeface="微软雅黑" panose="020B0503020204020204" pitchFamily="34" charset="-122"/>
              </a:rPr>
              <a:t>id 精确</a:t>
            </a:r>
            <a:endParaRPr sz="850">
              <a:solidFill>
                <a:srgbClr val="4A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9" name="Rounded Rectangle 918"/>
          <p:cNvSpPr/>
          <p:nvPr/>
        </p:nvSpPr>
        <p:spPr>
          <a:xfrm>
            <a:off x="5219395" y="5650992"/>
            <a:ext cx="1506931" cy="512064"/>
          </a:xfrm>
          <a:prstGeom prst="roundRect">
            <a:avLst>
              <a:gd name="adj" fmla="val 22000"/>
            </a:avLst>
          </a:prstGeom>
          <a:solidFill>
            <a:srgbClr val="EFF7FD"/>
          </a:solidFill>
          <a:ln w="11430">
            <a:solidFill>
              <a:srgbClr val="CF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6FB8"/>
                </a:solidFill>
                <a:latin typeface="微软雅黑" panose="020B0503020204020204" pitchFamily="34" charset="-122"/>
              </a:rPr>
              <a:t>L2</a:t>
            </a:r>
            <a:endParaRPr sz="1200" b="1">
              <a:solidFill>
                <a:srgbClr val="0B6FB8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850">
                <a:solidFill>
                  <a:srgbClr val="5A6472"/>
                </a:solidFill>
                <a:latin typeface="微软雅黑" panose="020B0503020204020204" pitchFamily="34" charset="-122"/>
              </a:rPr>
              <a:t>id 模糊 + 文案</a:t>
            </a:r>
            <a:endParaRPr sz="850">
              <a:solidFill>
                <a:srgbClr val="4A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0" name="Rounded Rectangle 919"/>
          <p:cNvSpPr/>
          <p:nvPr/>
        </p:nvSpPr>
        <p:spPr>
          <a:xfrm>
            <a:off x="6872630" y="5650992"/>
            <a:ext cx="1506931" cy="512064"/>
          </a:xfrm>
          <a:prstGeom prst="roundRect">
            <a:avLst>
              <a:gd name="adj" fmla="val 22000"/>
            </a:avLst>
          </a:prstGeom>
          <a:solidFill>
            <a:srgbClr val="EFF7FD"/>
          </a:solidFill>
          <a:ln w="11430">
            <a:solidFill>
              <a:srgbClr val="CF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6FB8"/>
                </a:solidFill>
                <a:latin typeface="微软雅黑" panose="020B0503020204020204" pitchFamily="34" charset="-122"/>
              </a:rPr>
              <a:t>L3</a:t>
            </a:r>
            <a:endParaRPr sz="1200" b="1">
              <a:solidFill>
                <a:srgbClr val="0B6FB8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850">
                <a:solidFill>
                  <a:srgbClr val="5A6472"/>
                </a:solidFill>
                <a:latin typeface="微软雅黑" panose="020B0503020204020204" pitchFamily="34" charset="-122"/>
              </a:rPr>
              <a:t>层级路径 + 类型</a:t>
            </a:r>
            <a:endParaRPr sz="850">
              <a:solidFill>
                <a:srgbClr val="4A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1" name="Rounded Rectangle 920"/>
          <p:cNvSpPr/>
          <p:nvPr/>
        </p:nvSpPr>
        <p:spPr>
          <a:xfrm>
            <a:off x="8525865" y="5650992"/>
            <a:ext cx="1506931" cy="512064"/>
          </a:xfrm>
          <a:prstGeom prst="roundRect">
            <a:avLst>
              <a:gd name="adj" fmla="val 22000"/>
            </a:avLst>
          </a:prstGeom>
          <a:solidFill>
            <a:srgbClr val="EFF7FD"/>
          </a:solidFill>
          <a:ln w="11430">
            <a:solidFill>
              <a:srgbClr val="CF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6FB8"/>
                </a:solidFill>
                <a:latin typeface="微软雅黑" panose="020B0503020204020204" pitchFamily="34" charset="-122"/>
              </a:rPr>
              <a:t>L4</a:t>
            </a:r>
            <a:endParaRPr sz="1200" b="1">
              <a:solidFill>
                <a:srgbClr val="0B6FB8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850">
                <a:solidFill>
                  <a:srgbClr val="5A6472"/>
                </a:solidFill>
                <a:latin typeface="微软雅黑" panose="020B0503020204020204" pitchFamily="34" charset="-122"/>
              </a:rPr>
              <a:t>视觉语义</a:t>
            </a:r>
            <a:endParaRPr sz="850">
              <a:solidFill>
                <a:srgbClr val="4A5563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2" name="Rounded Rectangle 921"/>
          <p:cNvSpPr/>
          <p:nvPr/>
        </p:nvSpPr>
        <p:spPr>
          <a:xfrm>
            <a:off x="10179100" y="5650992"/>
            <a:ext cx="1506931" cy="512064"/>
          </a:xfrm>
          <a:prstGeom prst="roundRect">
            <a:avLst>
              <a:gd name="adj" fmla="val 22000"/>
            </a:avLst>
          </a:prstGeom>
          <a:solidFill>
            <a:srgbClr val="EFF7FD"/>
          </a:solidFill>
          <a:ln w="11430">
            <a:solidFill>
              <a:srgbClr val="CF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6FB8"/>
                </a:solidFill>
                <a:latin typeface="微软雅黑" panose="020B0503020204020204" pitchFamily="34" charset="-122"/>
              </a:rPr>
              <a:t>L5</a:t>
            </a:r>
            <a:endParaRPr sz="1200" b="1">
              <a:solidFill>
                <a:srgbClr val="0B6FB8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850">
                <a:solidFill>
                  <a:srgbClr val="5A6472"/>
                </a:solidFill>
                <a:latin typeface="微软雅黑" panose="020B0503020204020204" pitchFamily="34" charset="-122"/>
              </a:rPr>
              <a:t>坐标兜底 · 告警</a:t>
            </a:r>
            <a:endParaRPr sz="850">
              <a:solidFill>
                <a:srgbClr val="4A556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5067" y="171415"/>
            <a:ext cx="8412480" cy="457200"/>
          </a:xfrm>
        </p:spPr>
        <p:txBody>
          <a:bodyPr wrap="square"/>
          <a:lstStyle/>
          <a:p>
            <a:r>
              <a:rPr lang="zh-CN" sz="2800" b="0">
                <a:solidFill>
                  <a:srgbClr val="1A1A1A"/>
                </a:solidFill>
              </a:rPr>
              <a:t>03 形态二：缺 id，也无文案</a:t>
            </a:r>
            <a:endParaRPr lang="zh-CN" b="0">
              <a:solidFill>
                <a:srgbClr val="1A1A1A"/>
              </a:solidFill>
            </a:endParaRPr>
          </a:p>
        </p:txBody>
      </p:sp>
      <p:sp>
        <p:nvSpPr>
          <p:cNvPr id="911" name="Rounded Rectangle 910"/>
          <p:cNvSpPr/>
          <p:nvPr/>
        </p:nvSpPr>
        <p:spPr>
          <a:xfrm>
            <a:off x="3989070" y="1005840"/>
            <a:ext cx="7696835" cy="42062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ctr"/>
            <a:r>
              <a:rPr sz="1350" b="1">
                <a:solidFill>
                  <a:srgbClr val="0B6FB8"/>
                </a:solidFill>
                <a:latin typeface="微软雅黑" panose="020B0503020204020204" pitchFamily="34" charset="-122"/>
              </a:rPr>
              <a:t>形态二 · 设置 com.ohos.settings</a:t>
            </a:r>
            <a:endParaRPr sz="1350" b="1">
              <a:solidFill>
                <a:srgbClr val="0B6F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2" name="Rounded Rectangle 911"/>
          <p:cNvSpPr/>
          <p:nvPr/>
        </p:nvSpPr>
        <p:spPr>
          <a:xfrm>
            <a:off x="3989070" y="1645920"/>
            <a:ext cx="7696835" cy="78638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l"/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实测：</a:t>
            </a: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183 个可见节点、28 个可交互控件；id 与文案两项均为 0。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3" name="Rounded Rectangle 912"/>
          <p:cNvSpPr/>
          <p:nvPr/>
        </p:nvSpPr>
        <p:spPr>
          <a:xfrm>
            <a:off x="3989070" y="2596896"/>
            <a:ext cx="7696835" cy="78638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l"/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触发：</a:t>
            </a: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树候选不足转入半盲页流程；截图送多模态枚举目标，产出带视觉框与标签的伪节点</a:t>
            </a:r>
            <a:r>
              <a:rPr lang="zh-CN" altLang="en-US" sz="14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4" name="Rounded Rectangle 913"/>
          <p:cNvSpPr/>
          <p:nvPr/>
        </p:nvSpPr>
        <p:spPr>
          <a:xfrm>
            <a:off x="3989070" y="3547872"/>
            <a:ext cx="7696835" cy="78638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l"/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接入：</a:t>
            </a: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伪节点直接流进既有探索循环，不需要为视觉单写一条链路</a:t>
            </a:r>
            <a:r>
              <a:rPr lang="zh-CN" altLang="en-US" sz="14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ounded Rectangle 911"/>
          <p:cNvSpPr/>
          <p:nvPr/>
        </p:nvSpPr>
        <p:spPr>
          <a:xfrm>
            <a:off x="3989070" y="4498848"/>
            <a:ext cx="7696835" cy="78638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l"/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项评测中 9 项一致（81.8%），是十三个应用里最难的靶标；未命中的 2 项可在报告中回溯成因</a:t>
            </a:r>
            <a:r>
              <a:rPr lang="zh-CN" altLang="en-US" sz="14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1" name="Picture 920" descr="app_settings_overl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1055"/>
            <a:ext cx="3335020" cy="59302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5067" y="171415"/>
            <a:ext cx="8412480" cy="457200"/>
          </a:xfrm>
        </p:spPr>
        <p:txBody>
          <a:bodyPr wrap="square"/>
          <a:lstStyle/>
          <a:p>
            <a:r>
              <a:rPr lang="zh-CN" sz="2800" b="0">
                <a:solidFill>
                  <a:srgbClr val="1A1A1A"/>
                </a:solidFill>
              </a:rPr>
              <a:t>03 形态三：纯 Canvas 页</a:t>
            </a:r>
            <a:endParaRPr lang="zh-CN" b="0">
              <a:solidFill>
                <a:srgbClr val="1A1A1A"/>
              </a:solidFill>
            </a:endParaRPr>
          </a:p>
        </p:txBody>
      </p:sp>
      <p:sp>
        <p:nvSpPr>
          <p:cNvPr id="915" name="Rounded Rectangle 914"/>
          <p:cNvSpPr/>
          <p:nvPr/>
        </p:nvSpPr>
        <p:spPr>
          <a:xfrm>
            <a:off x="3989070" y="1005840"/>
            <a:ext cx="7696835" cy="42062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ctr"/>
            <a:r>
              <a:rPr sz="1350" b="1">
                <a:solidFill>
                  <a:srgbClr val="0B6FB8"/>
                </a:solidFill>
                <a:latin typeface="微软雅黑" panose="020B0503020204020204" pitchFamily="34" charset="-122"/>
              </a:rPr>
              <a:t>形态三 · 时钟 ohos.samples.etsclock（表盘页）</a:t>
            </a:r>
            <a:endParaRPr sz="1350" b="1">
              <a:solidFill>
                <a:srgbClr val="0B6FB8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6" name="Rounded Rectangle 915"/>
          <p:cNvSpPr/>
          <p:nvPr/>
        </p:nvSpPr>
        <p:spPr>
          <a:xfrm>
            <a:off x="3989070" y="1645920"/>
            <a:ext cx="7696835" cy="78638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l"/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实测：</a:t>
            </a: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 个可见节点里可交互控件 0 个；4 条文案全挂在非交互节点上，整棵树没有可定位目标。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7" name="Rounded Rectangle 916"/>
          <p:cNvSpPr/>
          <p:nvPr/>
        </p:nvSpPr>
        <p:spPr>
          <a:xfrm>
            <a:off x="3989070" y="2596896"/>
            <a:ext cx="7696835" cy="78638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l"/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触发：</a:t>
            </a: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树不可用，转 OCR；读出 7 行文字——时间 14:54:11、电量 11%、信号 02:54。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8" name="Rounded Rectangle 917"/>
          <p:cNvSpPr/>
          <p:nvPr/>
        </p:nvSpPr>
        <p:spPr>
          <a:xfrm>
            <a:off x="3989070" y="3547872"/>
            <a:ext cx="7696835" cy="78638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l"/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证据：同一页 runtime 22 条主张里没有 14:54:11，ocr 7 行里有；两个源看到的是不同子集。</a:t>
            </a:r>
            <a:endParaRPr lang="zh-CN" altLang="en-US" sz="16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ounded Rectangle 915"/>
          <p:cNvSpPr/>
          <p:nvPr/>
        </p:nvSpPr>
        <p:spPr>
          <a:xfrm>
            <a:off x="3989070" y="4498848"/>
            <a:ext cx="7696835" cy="786384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l"/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融合报告把该文案归入 undeclared；未声明目标 13 条均为仅观察级，不作缺陷计。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9" name="Rounded Rectangle 918"/>
          <p:cNvSpPr/>
          <p:nvPr/>
        </p:nvSpPr>
        <p:spPr>
          <a:xfrm>
            <a:off x="3989070" y="5541264"/>
            <a:ext cx="7696835" cy="640080"/>
          </a:xfrm>
          <a:prstGeom prst="roundRect">
            <a:avLst/>
          </a:prstGeom>
          <a:solidFill>
            <a:srgbClr val="E6F6FE"/>
          </a:solidFill>
          <a:ln w="9525">
            <a:solidFill>
              <a:srgbClr val="08A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18288" rtlCol="0" anchor="ctr"/>
          <a:lstStyle/>
          <a:p>
            <a:pPr algn="ctr"/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纯 Canvas 页是没有语义锚点</a:t>
            </a:r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的，OCR 是唯一能读到内容的通道。</a:t>
            </a:r>
            <a:endParaRPr lang="zh-CN" altLang="en-US" sz="16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0" name="Picture 919" descr="etsc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1055"/>
            <a:ext cx="3335020" cy="5930265"/>
          </a:xfrm>
          <a:prstGeom prst="rect">
            <a:avLst/>
          </a:prstGeom>
        </p:spPr>
      </p:pic>
      <p:sp>
        <p:nvSpPr>
          <p:cNvPr id="921" name="Frame909"/>
          <p:cNvSpPr/>
          <p:nvPr/>
        </p:nvSpPr>
        <p:spPr>
          <a:xfrm>
            <a:off x="502920" y="821055"/>
            <a:ext cx="3335020" cy="5930265"/>
          </a:xfrm>
          <a:prstGeom prst="rect">
            <a:avLst/>
          </a:prstGeom>
          <a:noFill/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跨应用实测：十三个应用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438912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00" b="0" lang="zh-CN">
                <a:solidFill>
                  <a:srgbClr val="5A6472"/>
                </a:solidFill>
                <a:latin typeface="微软雅黑"/>
                <a:ea typeface="微软雅黑"/>
              </a:rPr>
              <a:t>两批评测 · 46 项样本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89888"/>
            <a:ext cx="4480560" cy="1417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600" b="1" lang="zh-CN">
                <a:solidFill>
                  <a:srgbClr val="0B6FB8"/>
                </a:solidFill>
                <a:latin typeface="微软雅黑"/>
                <a:ea typeface="微软雅黑"/>
              </a:rPr>
              <a:t>97.8%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89504"/>
            <a:ext cx="448056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000" b="0" lang="zh-CN">
                <a:solidFill>
                  <a:srgbClr val="1A1A1A"/>
                </a:solidFill>
                <a:latin typeface="微软雅黑"/>
                <a:ea typeface="微软雅黑"/>
              </a:rPr>
              <a:t>45 / 46 项一致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46704"/>
            <a:ext cx="448056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000" b="0" lang="zh-CN">
                <a:solidFill>
                  <a:srgbClr val="1A1A1A"/>
                </a:solidFill>
                <a:latin typeface="微软雅黑"/>
                <a:ea typeface="微软雅黑"/>
              </a:rPr>
              <a:t>最难靶标 81.8%（设置页）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49240"/>
            <a:ext cx="658368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800" b="1" lang="zh-CN">
                <a:solidFill>
                  <a:srgbClr val="0B6FB8"/>
                </a:solidFill>
                <a:latin typeface="微软雅黑"/>
                <a:ea typeface="微软雅黑"/>
              </a:rPr>
              <a:t>13 个应用里 11 个的 id 数为 0，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42432"/>
            <a:ext cx="658368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800" b="1" lang="zh-CN">
                <a:solidFill>
                  <a:srgbClr val="0B6FB8"/>
                </a:solidFill>
                <a:latin typeface="微软雅黑"/>
                <a:ea typeface="微软雅黑"/>
              </a:rPr>
              <a:t>定位只能靠文案、层级与视觉这三条通道。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042415"/>
            <a:ext cx="173736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 b="1" lang="zh-CN">
                <a:solidFill>
                  <a:srgbClr val="0B6FB8"/>
                </a:solidFill>
                <a:latin typeface="微软雅黑"/>
                <a:ea typeface="微软雅黑"/>
              </a:rPr>
              <a:t>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042415"/>
            <a:ext cx="91440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500" b="1" lang="zh-CN">
                <a:solidFill>
                  <a:srgbClr val="0B6FB8"/>
                </a:solidFill>
                <a:latin typeface="微软雅黑"/>
                <a:ea typeface="微软雅黑"/>
              </a:rPr>
              <a:t>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042415"/>
            <a:ext cx="132588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500" b="1" lang="zh-CN">
                <a:solidFill>
                  <a:srgbClr val="0B6FB8"/>
                </a:solidFill>
                <a:latin typeface="微软雅黑"/>
                <a:ea typeface="微软雅黑"/>
              </a:rPr>
              <a:t>可交互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042415"/>
            <a:ext cx="96012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500" b="1" lang="zh-CN">
                <a:solidFill>
                  <a:srgbClr val="0B6FB8"/>
                </a:solidFill>
                <a:latin typeface="微软雅黑"/>
                <a:ea typeface="微软雅黑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1042415"/>
            <a:ext cx="1874519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500" b="1" lang="zh-CN">
                <a:solidFill>
                  <a:srgbClr val="0B6FB8"/>
                </a:solidFill>
                <a:latin typeface="微软雅黑"/>
                <a:ea typeface="微软雅黑"/>
              </a:rPr>
              <a:t>一致率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1389888"/>
            <a:ext cx="6556248" cy="0"/>
          </a:xfrm>
          <a:prstGeom prst="line">
            <a:avLst/>
          </a:prstGeom>
          <a:ln w="11430">
            <a:solidFill>
              <a:srgbClr val="C9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74920" y="1481328"/>
            <a:ext cx="173736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设置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81328"/>
            <a:ext cx="91440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481328"/>
            <a:ext cx="132588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481328"/>
            <a:ext cx="9601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1481328"/>
            <a:ext cx="1874519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81.8%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938528"/>
            <a:ext cx="173736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938528"/>
            <a:ext cx="91440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211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938528"/>
            <a:ext cx="132588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938528"/>
            <a:ext cx="9601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938528"/>
            <a:ext cx="1874519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无合格项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395728"/>
            <a:ext cx="173736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时钟 · 表盘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395728"/>
            <a:ext cx="91440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395728"/>
            <a:ext cx="132588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395728"/>
            <a:ext cx="9601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395728"/>
            <a:ext cx="1874519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走 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852928"/>
            <a:ext cx="173736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备忘录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852928"/>
            <a:ext cx="91440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852928"/>
            <a:ext cx="132588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852928"/>
            <a:ext cx="9601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852928"/>
            <a:ext cx="1874519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3310128"/>
            <a:ext cx="173736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计算器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310128"/>
            <a:ext cx="91440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310128"/>
            <a:ext cx="132588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310128"/>
            <a:ext cx="9601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310128"/>
            <a:ext cx="1874519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id 充足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3767328"/>
            <a:ext cx="173736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时钟 · 翻页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767328"/>
            <a:ext cx="91440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3767328"/>
            <a:ext cx="132588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767328"/>
            <a:ext cx="9601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3767328"/>
            <a:ext cx="1874519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600" b="0" lang="zh-CN">
                <a:solidFill>
                  <a:srgbClr val="1A1A1A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370832"/>
            <a:ext cx="658368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 b="0" lang="zh-CN">
                <a:solidFill>
                  <a:srgbClr val="5A6472"/>
                </a:solidFill>
                <a:latin typeface="微软雅黑"/>
                <a:ea typeface="微软雅黑"/>
              </a:rPr>
              <a:t>其余 7 个应用：5 个 100%，信息页无合格项，音乐未进评测集。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失败归因与自愈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8" name="Picture 913" descr="heal_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10424160" cy="2360187"/>
          </a:xfrm>
          <a:prstGeom prst="rect">
            <a:avLst/>
          </a:prstGeom>
        </p:spPr>
      </p:pic>
      <p:sp>
        <p:nvSpPr>
          <p:cNvPr id="915" name="Rounded Rectangle 914"/>
          <p:cNvSpPr/>
          <p:nvPr/>
        </p:nvSpPr>
        <p:spPr>
          <a:xfrm>
            <a:off x="502920" y="3595370"/>
            <a:ext cx="5478780" cy="2235835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300"/>
              </a:spcAft>
            </a:pPr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归因：先取证，再判定</a:t>
            </a:r>
            <a:endParaRPr lang="zh-CN" altLang="en-US" sz="16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失败瞬间打包：截图 + 连续多棵控件树 + faultlogger + 设备状态。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endParaRPr lang="zh-CN" altLang="en-US"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判据强度由实测标定：kill -11 判 1.0，kill -9 只计弱证据；判据不足时输出未知，不作推断。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6" name="Rounded Rectangle 915"/>
          <p:cNvSpPr/>
          <p:nvPr/>
        </p:nvSpPr>
        <p:spPr>
          <a:xfrm>
            <a:off x="6210300" y="3595370"/>
            <a:ext cx="5478780" cy="2235835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300"/>
              </a:spcAft>
            </a:pPr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自愈：换代产物回写账本</a:t>
            </a:r>
            <a:endParaRPr lang="zh-CN" altLang="en-US" sz="16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endParaRPr lang="zh-CN" altLang="en-US"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失败按 (来源, 代次, locator_id) 幂等记账，同一失败不重复计数。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连续失败达阈值触发换代；新定位器须先在树上唯一命中（L1 或 L3）才入账。</a:t>
            </a:r>
            <a:endParaRPr lang="zh-CN" altLang="en-US"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endParaRPr lang="zh-CN" altLang="en-US"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502920" y="5989320"/>
            <a:ext cx="1118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归因与自愈共用同一份取证包，打包一次供判定与换代两处使用。</a:t>
            </a:r>
            <a:endParaRPr sz="14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可信用例生成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5" name="Rounded Rectangle 914"/>
          <p:cNvSpPr/>
          <p:nvPr>
            <p:custDataLst>
              <p:tags r:id="rId1"/>
            </p:custDataLst>
          </p:nvPr>
        </p:nvSpPr>
        <p:spPr>
          <a:xfrm>
            <a:off x="502920" y="1234440"/>
            <a:ext cx="457200" cy="1051560"/>
          </a:xfrm>
          <a:prstGeom prst="roundRect">
            <a:avLst>
              <a:gd name="adj" fmla="val 8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6" name="Rounded Rectangle 915"/>
          <p:cNvSpPr/>
          <p:nvPr>
            <p:custDataLst>
              <p:tags r:id="rId2"/>
            </p:custDataLst>
          </p:nvPr>
        </p:nvSpPr>
        <p:spPr>
          <a:xfrm>
            <a:off x="1069848" y="1234440"/>
            <a:ext cx="10619232" cy="105156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300"/>
              </a:spcAft>
            </a:pPr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可失败性机械校验</a:t>
            </a:r>
            <a:endParaRPr lang="zh-CN" altLang="en-US" sz="16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六阶段流水线：解析需求 → 生成测试点（六维度）→ 选控件 → 写 DSL → 静态校验 → 导出闸。每步只校验两件事：能不能失败、失败是否指向应用。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7" name="Rounded Rectangle 916"/>
          <p:cNvSpPr/>
          <p:nvPr>
            <p:custDataLst>
              <p:tags r:id="rId3"/>
            </p:custDataLst>
          </p:nvPr>
        </p:nvSpPr>
        <p:spPr>
          <a:xfrm>
            <a:off x="502920" y="2441448"/>
            <a:ext cx="457200" cy="1051560"/>
          </a:xfrm>
          <a:prstGeom prst="roundRect">
            <a:avLst>
              <a:gd name="adj" fmla="val 8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8" name="Rounded Rectangle 917"/>
          <p:cNvSpPr/>
          <p:nvPr>
            <p:custDataLst>
              <p:tags r:id="rId4"/>
            </p:custDataLst>
          </p:nvPr>
        </p:nvSpPr>
        <p:spPr>
          <a:xfrm>
            <a:off x="1069848" y="2441448"/>
            <a:ext cx="10619232" cy="105156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300"/>
              </a:spcAft>
            </a:pPr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断言从事实提取</a:t>
            </a:r>
            <a:endParaRPr lang="zh-CN" altLang="en-US" sz="16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断言基准取自于探索状态图与真实控件树，写的是页面应有状态与点击后的结果，</a:t>
            </a: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而不由模型想象。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9" name="Rounded Rectangle 918"/>
          <p:cNvSpPr/>
          <p:nvPr>
            <p:custDataLst>
              <p:tags r:id="rId5"/>
            </p:custDataLst>
          </p:nvPr>
        </p:nvSpPr>
        <p:spPr>
          <a:xfrm>
            <a:off x="502920" y="3648456"/>
            <a:ext cx="457200" cy="1051560"/>
          </a:xfrm>
          <a:prstGeom prst="roundRect">
            <a:avLst>
              <a:gd name="adj" fmla="val 8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0" name="Rounded Rectangle 919"/>
          <p:cNvSpPr/>
          <p:nvPr>
            <p:custDataLst>
              <p:tags r:id="rId6"/>
            </p:custDataLst>
          </p:nvPr>
        </p:nvSpPr>
        <p:spPr>
          <a:xfrm>
            <a:off x="1069848" y="3648456"/>
            <a:ext cx="10619232" cy="105156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300"/>
              </a:spcAft>
            </a:pPr>
            <a:r>
              <a:rPr lang="zh-CN" altLang="en-US" sz="15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生成-执行-反馈闭环</a:t>
            </a:r>
            <a:endParaRPr lang="zh-CN" altLang="en-US" sz="155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lang="zh-CN" altLang="en-US" sz="14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模型按执行结果与归因</a:t>
            </a:r>
            <a:r>
              <a:rPr lang="zh-CN" altLang="en-US" sz="14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来迭代；过闸用例导出 hypium 脚本（API 15），真机执行；压测覆盖重复点击、连续滑动、页面反复进出、长稳四类。</a:t>
            </a:r>
            <a:endParaRPr lang="zh-CN" altLang="en-US"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502920" y="5029200"/>
            <a:ext cx="11186160" cy="5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altLang="en-US" sz="1600" b="1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实测：hypium 导出真机 2/2 通过；用例健康度复用 calculator 7/7、note_stability 2/2。</a:t>
            </a:r>
            <a:endParaRPr lang="zh-CN" altLang="en-US" sz="1600" b="1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300"/>
              </a:spcAft>
            </a:pPr>
            <a:r>
              <a:rPr lang="zh-CN" altLang="en-US" sz="16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指标设计：以步骤通过率评价用例会奖励空壳，导出前由空壳闸拒收。</a:t>
            </a:r>
            <a:endParaRPr lang="zh-CN" altLang="en-US" sz="16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 lang="zh-CN">
                <a:solidFill>
                  <a:srgbClr val="CBE4F8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0128" y="2569463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zh-CN">
                <a:solidFill>
                  <a:srgbClr val="0B3E63"/>
                </a:solidFill>
                <a:latin typeface="微软雅黑"/>
                <a:ea typeface="微软雅黑"/>
              </a:rPr>
              <a:t>验证结果与边界权衡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328416" y="3502152"/>
            <a:ext cx="1280160" cy="0"/>
          </a:xfrm>
          <a:prstGeom prst="line">
            <a:avLst/>
          </a:prstGeom>
          <a:ln w="38100">
            <a:solidFill>
              <a:srgbClr val="08A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328416" y="3666744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lang="zh-CN">
                <a:solidFill>
                  <a:srgbClr val="5A6472"/>
                </a:solidFill>
                <a:latin typeface="微软雅黑"/>
                <a:ea typeface="微软雅黑"/>
              </a:rPr>
              <a:t>十三个应用、四种形态，全部真机；边界如实列出。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真机验证结果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6949440" cy="8686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5600" b="1" lang="zh-CN">
                <a:solidFill>
                  <a:srgbClr val="0B6FB8"/>
                </a:solidFill>
                <a:latin typeface="微软雅黑"/>
                <a:ea typeface="微软雅黑"/>
              </a:rPr>
              <a:t>115 轮，0 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39696"/>
            <a:ext cx="704088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000" b="0" lang="zh-CN">
                <a:solidFill>
                  <a:srgbClr val="1A1A1A"/>
                </a:solidFill>
                <a:latin typeface="微软雅黑"/>
                <a:ea typeface="微软雅黑"/>
              </a:rPr>
              <a:t>连续 126.9 分钟，每轮 12 步，全部在真机上跑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244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5568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21892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28216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34540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40864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47188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53512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59836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72484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78808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5132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91456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97780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04104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10428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16752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23076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29400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35724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42048" y="2761488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15568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421892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28216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034540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340864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647188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53512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59836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566160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72484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178808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85132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91456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7780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04104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710428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16752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23076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629400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935724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242048" y="3067812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09244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15568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421892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728216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034540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340864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647188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953512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259836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566160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872484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178808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485132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91456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097780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404104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710428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016752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323076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629400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935724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242048" y="337413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02920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09244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15568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421892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728216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034540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2340864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647188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953512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259836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566160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872484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178808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485132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791456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097780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404104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710428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016752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323076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629400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935724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242048" y="368046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502920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09244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115568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421892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728216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034540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340864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647188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2953512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3259836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3566160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3872484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178808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4485132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4791456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097780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5404104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5710428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016752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323076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6629400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6935724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242048" y="3986784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2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4384548"/>
            <a:ext cx="731520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 b="0" lang="zh-CN">
                <a:solidFill>
                  <a:srgbClr val="5A6472"/>
                </a:solidFill>
                <a:latin typeface="微软雅黑"/>
                <a:ea typeface="微软雅黑"/>
              </a:rPr>
              <a:t>一格是一轮；115 格全部通过，过程中没有一次人工干预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183879" y="1152144"/>
            <a:ext cx="3520440" cy="5669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3400" b="1" lang="zh-CN">
                <a:solidFill>
                  <a:srgbClr val="0B6FB8"/>
                </a:solidFill>
                <a:latin typeface="微软雅黑"/>
                <a:ea typeface="微软雅黑"/>
              </a:rPr>
              <a:t>126.9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02168" y="1700784"/>
            <a:ext cx="347472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 b="0" lang="zh-CN">
                <a:solidFill>
                  <a:srgbClr val="5A6472"/>
                </a:solidFill>
                <a:latin typeface="微软雅黑"/>
                <a:ea typeface="微软雅黑"/>
              </a:rPr>
              <a:t>分钟连续执行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183879" y="2157984"/>
            <a:ext cx="3520440" cy="5669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3400" b="1" lang="zh-CN">
                <a:solidFill>
                  <a:srgbClr val="0B6FB8"/>
                </a:solidFill>
                <a:latin typeface="微软雅黑"/>
                <a:ea typeface="微软雅黑"/>
              </a:rPr>
              <a:t>115 / 115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02168" y="2706624"/>
            <a:ext cx="347472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 b="0" lang="zh-CN">
                <a:solidFill>
                  <a:srgbClr val="5A6472"/>
                </a:solidFill>
                <a:latin typeface="微软雅黑"/>
                <a:ea typeface="微软雅黑"/>
              </a:rPr>
              <a:t>前台核验通过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83879" y="3163824"/>
            <a:ext cx="3520440" cy="5669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3400" b="1" lang="zh-CN">
                <a:solidFill>
                  <a:srgbClr val="0B6FB8"/>
                </a:solidFill>
                <a:latin typeface="微软雅黑"/>
                <a:ea typeface="微软雅黑"/>
              </a:rPr>
              <a:t>-1.70%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202168" y="3712463"/>
            <a:ext cx="347472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 b="0" lang="zh-CN">
                <a:solidFill>
                  <a:srgbClr val="5A6472"/>
                </a:solidFill>
                <a:latin typeface="微软雅黑"/>
                <a:ea typeface="微软雅黑"/>
              </a:rPr>
              <a:t>PSS 斜率，无内存泄漏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83879" y="4169663"/>
            <a:ext cx="3520440" cy="5669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3400" b="1" lang="zh-CN">
                <a:solidFill>
                  <a:srgbClr val="0B6FB8"/>
                </a:solidFill>
                <a:latin typeface="微软雅黑"/>
                <a:ea typeface="微软雅黑"/>
              </a:rPr>
              <a:t>1380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02168" y="4718303"/>
            <a:ext cx="347472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 b="0" lang="zh-CN">
                <a:solidFill>
                  <a:srgbClr val="5A6472"/>
                </a:solidFill>
                <a:latin typeface="微软雅黑"/>
                <a:ea typeface="微软雅黑"/>
              </a:rPr>
              <a:t>步累计执行（115 轮 × 12 步）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</a:rPr>
              <a:t>04 定位通道与覆盖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2" name="TextBox 921"/>
          <p:cNvSpPr txBox="1"/>
          <p:nvPr/>
        </p:nvSpPr>
        <p:spPr>
          <a:xfrm>
            <a:off x="504825" y="104775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定位通道对比：L1 免调模型率</a:t>
            </a:r>
            <a:endParaRPr sz="14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23" name="Chart 922"/>
          <p:cNvGraphicFramePr>
            <a:graphicFrameLocks noGrp="1"/>
          </p:cNvGraphicFramePr>
          <p:nvPr/>
        </p:nvGraphicFramePr>
        <p:xfrm>
          <a:off x="504825" y="1428750"/>
          <a:ext cx="59055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24" name="Rounded Rectangle 923"/>
          <p:cNvSpPr/>
          <p:nvPr/>
        </p:nvSpPr>
        <p:spPr>
          <a:xfrm>
            <a:off x="6667500" y="1428750"/>
            <a:ext cx="5019675" cy="180975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137160" bIns="27432" rtlCol="0" anchor="ctr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读数说明</a:t>
            </a:r>
            <a:endParaRPr sz="14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补充树候选文案后，多数控件无需调用模型：首批 70.0% 对 10.0%，扩充批 65.4% 对 15.4%。</a:t>
            </a:r>
            <a:endParaRPr sz="12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ounded Rectangle 922"/>
          <p:cNvSpPr/>
          <p:nvPr/>
        </p:nvSpPr>
        <p:spPr>
          <a:xfrm>
            <a:off x="6667500" y="3476625"/>
            <a:ext cx="5019675" cy="1952625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137160" bIns="27432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探索覆盖率</a:t>
            </a:r>
            <a:endParaRPr sz="145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页面覆盖 3/3 = 100%；5 状态 / 7 跳转。</a:t>
            </a:r>
            <a:endParaRPr sz="14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lang="zh-CN" altLang="en-US"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跨形态：折叠屏双态</a:t>
            </a:r>
            <a:endParaRPr lang="zh-CN" altLang="en-US"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5" name="Picture 919" descr="fold_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7315200" cy="3396342"/>
          </a:xfrm>
          <a:prstGeom prst="rect">
            <a:avLst/>
          </a:prstGeom>
        </p:spPr>
      </p:pic>
      <p:sp>
        <p:nvSpPr>
          <p:cNvPr id="921" name="Rounded Rectangle 920"/>
          <p:cNvSpPr/>
          <p:nvPr/>
        </p:nvSpPr>
        <p:spPr>
          <a:xfrm>
            <a:off x="8046720" y="1188720"/>
            <a:ext cx="3642360" cy="146304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双态实测（同一应用）</a:t>
            </a:r>
            <a:endParaRPr sz="145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展开态 2416×2210 / 236 元素，收起态 1080×2444 / 110 元素。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" name="Rounded Rectangle 921"/>
          <p:cNvSpPr/>
          <p:nvPr/>
        </p:nvSpPr>
        <p:spPr>
          <a:xfrm>
            <a:off x="8046720" y="2788920"/>
            <a:ext cx="3642360" cy="178308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差异检出（四类判据之二）</a:t>
            </a:r>
            <a:endParaRPr sz="145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设置页：缺失 77、溢出 4；桌面页：缺失 14、溢出 1。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溢出是真缺陷候选：遮罩与动效控件越出父容器。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3" name="Rounded Rectangle 922"/>
          <p:cNvSpPr/>
          <p:nvPr/>
        </p:nvSpPr>
        <p:spPr>
          <a:xfrm>
            <a:off x="502920" y="4864608"/>
            <a:ext cx="11186160" cy="658368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互证：134 个重放失败步骤全部集中在收起态，与静态差异报告同源印证。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4" name="TextBox 923"/>
          <p:cNvSpPr txBox="1"/>
          <p:nvPr/>
        </p:nvSpPr>
        <p:spPr>
          <a:xfrm>
            <a:off x="502920" y="73152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5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折叠屏双态是本页样本；phone / tablet / 2in1 走同一套流程，同样适用。</a:t>
            </a:r>
            <a:endParaRPr lang="zh-CN" altLang="en-US" sz="15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已知边界与设计权衡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" name="Rounded Rectangle 921"/>
          <p:cNvSpPr/>
          <p:nvPr/>
        </p:nvSpPr>
        <p:spPr>
          <a:xfrm>
            <a:off x="502920" y="1280160"/>
            <a:ext cx="420624" cy="1280160"/>
          </a:xfrm>
          <a:prstGeom prst="roundRect">
            <a:avLst>
              <a:gd name="adj" fmla="val 8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3" name="Rounded Rectangle 922"/>
          <p:cNvSpPr/>
          <p:nvPr/>
        </p:nvSpPr>
        <p:spPr>
          <a:xfrm>
            <a:off x="1033272" y="1280160"/>
            <a:ext cx="10655808" cy="128016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定位延迟</a:t>
            </a:r>
            <a:endParaRPr sz="14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P50 1388ms，其中 99% 是设备侧一次 dumpLayout 往返，宿主解析与匹配约 10ms。方向是减少 dump 次数：页级缓存、结构指纹命中即跳过。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4" name="Rounded Rectangle 923"/>
          <p:cNvSpPr/>
          <p:nvPr/>
        </p:nvSpPr>
        <p:spPr>
          <a:xfrm>
            <a:off x="502920" y="2651760"/>
            <a:ext cx="420624" cy="1280160"/>
          </a:xfrm>
          <a:prstGeom prst="roundRect">
            <a:avLst>
              <a:gd name="adj" fmla="val 8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5" name="Rounded Rectangle 924"/>
          <p:cNvSpPr/>
          <p:nvPr/>
        </p:nvSpPr>
        <p:spPr>
          <a:xfrm>
            <a:off x="1033272" y="2651760"/>
            <a:ext cx="10655808" cy="128016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自愈的真机边界</a:t>
            </a:r>
            <a:endParaRPr sz="14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离线受控树自愈 10/10；真机树 id 覆盖仅 5.62%，换代正常触发。纯 Canvas 键盘（按键在树里连文案都没有）线索全灭时，自动换到视觉通道定人，真机降级链 A/B/C/D 四场景全 PASS，换代后直连命中。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6" name="Rounded Rectangle 925"/>
          <p:cNvSpPr/>
          <p:nvPr/>
        </p:nvSpPr>
        <p:spPr>
          <a:xfrm>
            <a:off x="502920" y="4023360"/>
            <a:ext cx="420624" cy="1280160"/>
          </a:xfrm>
          <a:prstGeom prst="roundRect">
            <a:avLst>
              <a:gd name="adj" fmla="val 8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7" name="Rounded Rectangle 926"/>
          <p:cNvSpPr/>
          <p:nvPr/>
        </p:nvSpPr>
        <p:spPr>
          <a:xfrm>
            <a:off x="1033272" y="4023360"/>
            <a:ext cx="10655808" cy="128016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用例生成的真实边界</a:t>
            </a:r>
            <a:endParaRPr sz="140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真机执行 L3，两轮：L2 均 24/26 = 92.3%（空壳 0）；用例级 23/24 与 22/24、步骤级 176/177 与 170/172。此前 0/2 的根因是断言写错页面，已按页给控件清单修正。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rm"/>
          <p:cNvSpPr/>
          <p:nvPr/>
        </p:nvSpPr>
        <p:spPr>
          <a:xfrm>
            <a:off x="502920" y="1024128"/>
            <a:ext cx="7406640" cy="4389120"/>
          </a:xfrm>
          <a:prstGeom prst="roundRect">
            <a:avLst>
              <a:gd name="adj" fmla="val 3000"/>
            </a:avLst>
          </a:prstGeom>
          <a:solidFill>
            <a:srgbClr val="1B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rmBar"/>
          <p:cNvSpPr/>
          <p:nvPr/>
        </p:nvSpPr>
        <p:spPr>
          <a:xfrm>
            <a:off x="502920" y="1024128"/>
            <a:ext cx="7406640" cy="365760"/>
          </a:xfrm>
          <a:prstGeom prst="roundRect">
            <a:avLst>
              <a:gd name="adj" fmla="val 10000"/>
            </a:avLst>
          </a:prstGeom>
          <a:solidFill>
            <a:srgbClr val="2A3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4088" y="115214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3544" y="115214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43000" y="115214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63040" y="1106424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zh-CN">
                <a:solidFill>
                  <a:srgbClr val="C8D2E0"/>
                </a:solidFill>
                <a:latin typeface="Consolas"/>
                <a:ea typeface="Consolas"/>
              </a:rPr>
              <a:t>demo_full_chain.py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1554480"/>
            <a:ext cx="6903720" cy="3703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500" b="1" lang="en-US">
                <a:solidFill>
                  <a:srgbClr val="5BD07E"/>
                </a:solidFill>
                <a:latin typeface="Consolas"/>
                <a:ea typeface="微软雅黑"/>
              </a:rPr>
              <a:t>$ </a:t>
            </a:r>
            <a:r>
              <a:rPr sz="1500" b="1" lang="en-US">
                <a:solidFill>
                  <a:srgbClr val="FFFFFF"/>
                </a:solidFill>
                <a:latin typeface="Consolas"/>
                <a:ea typeface="微软雅黑"/>
              </a:rPr>
              <a:t>python tools/demo_full_chain.py</a:t>
            </a:r>
          </a:p>
          <a:p>
            <a:pPr>
              <a:lnSpc>
                <a:spcPct val="128000"/>
              </a:lnSpc>
            </a:pPr>
            <a:r>
              <a:rPr sz="1300" b="0" lang="en-US">
                <a:solidFill>
                  <a:srgbClr val="8E99AB"/>
                </a:solidFill>
                <a:latin typeface="Consolas"/>
                <a:ea typeface="微软雅黑"/>
              </a:rPr>
              <a:t>模式：离线（FakeHdc 模拟设备，不连真机、不联网）</a:t>
            </a:r>
          </a:p>
          <a:p>
            <a:pPr>
              <a:lnSpc>
                <a:spcPct val="128000"/>
              </a:lnSpc>
            </a:pPr>
            <a:r>
              <a:rPr sz="1400" b="0" lang="en-US">
                <a:solidFill>
                  <a:srgbClr val="D8E0EC"/>
                </a:solidFill>
                <a:latin typeface="Consolas"/>
                <a:ea typeface="微软雅黑"/>
              </a:rPr>
              <a:t>[1/8] 拉起应用</a:t>
            </a:r>
            <a:r>
              <a:rPr sz="1400" b="0" lang="en-US">
                <a:solidFill>
                  <a:srgbClr val="5BD07E"/>
                </a:solidFill>
                <a:latin typeface="Consolas"/>
                <a:ea typeface="微软雅黑"/>
              </a:rPr>
              <a:t>            ✓ login</a:t>
            </a:r>
          </a:p>
          <a:p>
            <a:pPr>
              <a:lnSpc>
                <a:spcPct val="128000"/>
              </a:lnSpc>
            </a:pPr>
            <a:r>
              <a:rPr sz="1400" b="0" lang="en-US">
                <a:solidFill>
                  <a:srgbClr val="D8E0EC"/>
                </a:solidFill>
                <a:latin typeface="Consolas"/>
                <a:ea typeface="微软雅黑"/>
              </a:rPr>
              <a:t>[2/8] 语义定位</a:t>
            </a:r>
            <a:r>
              <a:rPr sz="1400" b="0" lang="en-US">
                <a:solidFill>
                  <a:srgbClr val="5BD07E"/>
                </a:solidFill>
                <a:latin typeface="Consolas"/>
                <a:ea typeface="微软雅黑"/>
              </a:rPr>
              <a:t>          ✓ id / 文本 / 模糊 三路命中</a:t>
            </a:r>
          </a:p>
          <a:p>
            <a:pPr>
              <a:lnSpc>
                <a:spcPct val="128000"/>
              </a:lnSpc>
            </a:pPr>
            <a:r>
              <a:rPr sz="1400" b="0" lang="en-US">
                <a:solidFill>
                  <a:srgbClr val="D8E0EC"/>
                </a:solidFill>
                <a:latin typeface="Consolas"/>
                <a:ea typeface="微软雅黑"/>
              </a:rPr>
              <a:t>[3/8] 输入 → 点击 → 断言</a:t>
            </a:r>
            <a:r>
              <a:rPr sz="1400" b="0" lang="en-US">
                <a:solidFill>
                  <a:srgbClr val="5BD07E"/>
                </a:solidFill>
                <a:latin typeface="Consolas"/>
                <a:ea typeface="微软雅黑"/>
              </a:rPr>
              <a:t>  ✓「首页」出现</a:t>
            </a:r>
          </a:p>
          <a:p>
            <a:pPr>
              <a:lnSpc>
                <a:spcPct val="128000"/>
              </a:lnSpc>
            </a:pPr>
            <a:r>
              <a:rPr sz="1400" b="0" lang="en-US">
                <a:solidFill>
                  <a:srgbClr val="D8E0EC"/>
                </a:solidFill>
                <a:latin typeface="Consolas"/>
                <a:ea typeface="微软雅黑"/>
              </a:rPr>
              <a:t>[4/8] 自动探索</a:t>
            </a:r>
            <a:r>
              <a:rPr sz="1400" b="0" lang="en-US">
                <a:solidFill>
                  <a:srgbClr val="5BD07E"/>
                </a:solidFill>
                <a:latin typeface="Consolas"/>
                <a:ea typeface="微软雅黑"/>
              </a:rPr>
              <a:t>          ✓ 3 状态 / 11 跳转</a:t>
            </a:r>
          </a:p>
          <a:p>
            <a:pPr>
              <a:lnSpc>
                <a:spcPct val="128000"/>
              </a:lnSpc>
            </a:pPr>
            <a:r>
              <a:rPr sz="1400" b="0" lang="en-US">
                <a:solidFill>
                  <a:srgbClr val="D8E0EC"/>
                </a:solidFill>
                <a:latin typeface="Consolas"/>
                <a:ea typeface="微软雅黑"/>
              </a:rPr>
              <a:t>[5/8] 自然语言 → 用例</a:t>
            </a:r>
            <a:r>
              <a:rPr sz="1400" b="0" lang="en-US">
                <a:solidFill>
                  <a:srgbClr val="5BD07E"/>
                </a:solidFill>
                <a:latin typeface="Consolas"/>
                <a:ea typeface="微软雅黑"/>
              </a:rPr>
              <a:t>     ✓ 5 步用例落盘</a:t>
            </a:r>
          </a:p>
          <a:p>
            <a:pPr>
              <a:lnSpc>
                <a:spcPct val="128000"/>
              </a:lnSpc>
            </a:pPr>
            <a:r>
              <a:rPr sz="1400" b="0" lang="en-US">
                <a:solidFill>
                  <a:srgbClr val="D8E0EC"/>
                </a:solidFill>
                <a:latin typeface="Consolas"/>
                <a:ea typeface="微软雅黑"/>
              </a:rPr>
              <a:t>[6/8] 执行生成的用例</a:t>
            </a:r>
            <a:r>
              <a:rPr sz="1400" b="0" lang="en-US">
                <a:solidFill>
                  <a:srgbClr val="5BD07E"/>
                </a:solidFill>
                <a:latin typeface="Consolas"/>
                <a:ea typeface="微软雅黑"/>
              </a:rPr>
              <a:t>     ✓ 5 / 5 通过</a:t>
            </a:r>
          </a:p>
          <a:p>
            <a:pPr>
              <a:lnSpc>
                <a:spcPct val="128000"/>
              </a:lnSpc>
            </a:pPr>
            <a:r>
              <a:rPr sz="1400" b="0" lang="en-US">
                <a:solidFill>
                  <a:srgbClr val="D8E0EC"/>
                </a:solidFill>
                <a:latin typeface="Consolas"/>
                <a:ea typeface="微软雅黑"/>
              </a:rPr>
              <a:t>[7/8] 失败步归因</a:t>
            </a:r>
            <a:r>
              <a:rPr sz="1400" b="0" lang="en-US">
                <a:solidFill>
                  <a:srgbClr val="5BD07E"/>
                </a:solidFill>
                <a:latin typeface="Consolas"/>
                <a:ea typeface="微软雅黑"/>
              </a:rPr>
              <a:t>        ✓ 定位失败 0.60，已回写自愈</a:t>
            </a:r>
          </a:p>
          <a:p>
            <a:pPr>
              <a:lnSpc>
                <a:spcPct val="128000"/>
              </a:lnSpc>
            </a:pPr>
            <a:r>
              <a:rPr sz="1400" b="0" lang="en-US">
                <a:solidFill>
                  <a:srgbClr val="D8E0EC"/>
                </a:solidFill>
                <a:latin typeface="Consolas"/>
                <a:ea typeface="微软雅黑"/>
              </a:rPr>
              <a:t>[8/8] 生成报告</a:t>
            </a:r>
            <a:r>
              <a:rPr sz="1400" b="0" lang="en-US">
                <a:solidFill>
                  <a:srgbClr val="5BD07E"/>
                </a:solidFill>
                <a:latin typeface="Consolas"/>
                <a:ea typeface="微软雅黑"/>
              </a:rPr>
              <a:t>          ✓ json / md / html</a:t>
            </a:r>
          </a:p>
          <a:p>
            <a:pPr>
              <a:lnSpc>
                <a:spcPct val="128000"/>
              </a:lnSpc>
            </a:pPr>
            <a:r>
              <a:rPr sz="1500" b="1" lang="en-US">
                <a:solidFill>
                  <a:srgbClr val="5AC8FA"/>
                </a:solidFill>
                <a:latin typeface="Consolas"/>
                <a:ea typeface="微软雅黑"/>
              </a:rPr>
              <a:t>8 / 8 步骤通过，产物 3 份，离线模式下用时约 32 秒</a:t>
            </a:r>
          </a:p>
          <a:p>
            <a:pPr>
              <a:lnSpc>
                <a:spcPct val="128000"/>
              </a:lnSpc>
            </a:pPr>
            <a:r>
              <a:rPr sz="1200" b="0" lang="en-US">
                <a:solidFill>
                  <a:srgbClr val="8E99AB"/>
                </a:solidFill>
                <a:latin typeface="Consolas"/>
                <a:ea typeface="微软雅黑"/>
              </a:rPr>
              <a:t>只依赖 Python 3.9+ 与 hdc，不引入第三方框架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1024128"/>
            <a:ext cx="3547872" cy="1298448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115214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zh-CN">
                <a:solidFill>
                  <a:srgbClr val="0B6FB8"/>
                </a:solidFill>
                <a:latin typeface="微软雅黑"/>
                <a:ea typeface="微软雅黑"/>
              </a:rPr>
              <a:t>01  </a:t>
            </a:r>
            <a:r>
              <a:rPr sz="1700" b="1" lang="zh-CN">
                <a:solidFill>
                  <a:srgbClr val="1A1A1A"/>
                </a:solidFill>
                <a:latin typeface="微软雅黑"/>
                <a:ea typeface="微软雅黑"/>
              </a:rPr>
              <a:t>三种报告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7" y="1536192"/>
            <a:ext cx="31638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3A4553"/>
                </a:solidFill>
                <a:latin typeface="微软雅黑"/>
                <a:ea typeface="微软雅黑"/>
              </a:rPr>
              <a:t>JSON 接 CI 看趋势，Markdown 进 PR，HTML 带截图归档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2487168"/>
            <a:ext cx="3547872" cy="1298448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40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zh-CN">
                <a:solidFill>
                  <a:srgbClr val="0B6FB8"/>
                </a:solidFill>
                <a:latin typeface="微软雅黑"/>
                <a:ea typeface="微软雅黑"/>
              </a:rPr>
              <a:t>02  </a:t>
            </a:r>
            <a:r>
              <a:rPr sz="1700" b="1" lang="zh-CN">
                <a:solidFill>
                  <a:srgbClr val="1A1A1A"/>
                </a:solidFill>
                <a:latin typeface="微软雅黑"/>
                <a:ea typeface="微软雅黑"/>
              </a:rPr>
              <a:t>四步上手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7" y="2999232"/>
            <a:ext cx="31638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3A4553"/>
                </a:solidFill>
                <a:latin typeface="微软雅黑"/>
                <a:ea typeface="微软雅黑"/>
              </a:rPr>
              <a:t>doctor → offline_demo → dump_tree → smoke_test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38160" y="3950208"/>
            <a:ext cx="3547872" cy="1298448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407822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zh-CN">
                <a:solidFill>
                  <a:srgbClr val="0B6FB8"/>
                </a:solidFill>
                <a:latin typeface="微软雅黑"/>
                <a:ea typeface="微软雅黑"/>
              </a:rPr>
              <a:t>03  </a:t>
            </a:r>
            <a:r>
              <a:rPr sz="1700" b="1" lang="zh-CN">
                <a:solidFill>
                  <a:srgbClr val="1A1A1A"/>
                </a:solidFill>
                <a:latin typeface="微软雅黑"/>
                <a:ea typeface="微软雅黑"/>
              </a:rPr>
              <a:t>轨迹成资产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39327" y="4462272"/>
            <a:ext cx="31638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zh-CN">
                <a:solidFill>
                  <a:srgbClr val="3A4553"/>
                </a:solidFill>
                <a:latin typeface="微软雅黑"/>
                <a:ea typeface="微软雅黑"/>
              </a:rPr>
              <a:t>留痕反推步骤，冷启动重放 4/4 命中，可挂 CI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650992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lang="zh-CN">
                <a:solidFill>
                  <a:srgbClr val="0B6FB8"/>
                </a:solidFill>
                <a:latin typeface="微软雅黑"/>
                <a:ea typeface="微软雅黑"/>
              </a:rPr>
              <a:t>一条命令，从拉起应用到三份报告，中途没有一次人工干预。</a:t>
            </a:r>
          </a:p>
        </p:txBody>
      </p:sp>
      <p:sp>
        <p:nvSpPr>
          <p:cNvPr id="68" name="TitleRestored"/>
          <p:cNvSpPr txBox="1"/>
          <p:nvPr/>
        </p:nvSpPr>
        <p:spPr>
          <a:xfrm>
            <a:off x="219456" y="173736"/>
            <a:ext cx="8129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0" lang="zh-CN">
                <a:solidFill>
                  <a:srgbClr val="1A1A1A"/>
                </a:solidFill>
                <a:latin typeface="微软雅黑"/>
                <a:ea typeface="微软雅黑"/>
              </a:rPr>
              <a:t>04 可复现交付：一条命令跑通全链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80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团队分工</a:t>
            </a:r>
            <a:endParaRPr sz="280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Rounded Rectangle 914"/>
          <p:cNvSpPr/>
          <p:nvPr/>
        </p:nvSpPr>
        <p:spPr>
          <a:xfrm>
            <a:off x="504825" y="1276350"/>
            <a:ext cx="2381250" cy="1200150"/>
          </a:xfrm>
          <a:prstGeom prst="roundRect">
            <a:avLst>
              <a:gd name="adj" fmla="val 8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李士伊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视觉与定位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Rounded Rectangle 915"/>
          <p:cNvSpPr/>
          <p:nvPr/>
        </p:nvSpPr>
        <p:spPr>
          <a:xfrm>
            <a:off x="3000375" y="1276350"/>
            <a:ext cx="8686800" cy="120015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vision / locator / matcher / layout</a:t>
            </a:r>
            <a:endParaRPr sz="155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截图视觉定位、候选匹配、版面分析。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Rounded Rectangle 914"/>
          <p:cNvSpPr/>
          <p:nvPr/>
        </p:nvSpPr>
        <p:spPr>
          <a:xfrm>
            <a:off x="504825" y="2667000"/>
            <a:ext cx="2381250" cy="1200150"/>
          </a:xfrm>
          <a:prstGeom prst="roundRect">
            <a:avLst>
              <a:gd name="adj" fmla="val 8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郑阿伟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探索与生成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Rounded Rectangle 915"/>
          <p:cNvSpPr/>
          <p:nvPr/>
        </p:nvSpPr>
        <p:spPr>
          <a:xfrm>
            <a:off x="3000375" y="2667000"/>
            <a:ext cx="8686800" cy="120015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explorer / action / generator / diagnose</a:t>
            </a:r>
            <a:endParaRPr sz="155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页面状态图探索、用例生成、失败诊断。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Rounded Rectangle 914"/>
          <p:cNvSpPr/>
          <p:nvPr/>
        </p:nvSpPr>
        <p:spPr>
          <a:xfrm>
            <a:off x="504825" y="4057650"/>
            <a:ext cx="2381250" cy="1200150"/>
          </a:xfrm>
          <a:prstGeom prst="roundRect">
            <a:avLst>
              <a:gd name="adj" fmla="val 8000"/>
            </a:avLst>
          </a:prstGeom>
          <a:solidFill>
            <a:srgbClr val="08A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周承志</a:t>
            </a:r>
            <a:endParaRPr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队长 · 集成与质量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Rounded Rectangle 915"/>
          <p:cNvSpPr/>
          <p:nvPr/>
        </p:nvSpPr>
        <p:spPr>
          <a:xfrm>
            <a:off x="3000375" y="4057650"/>
            <a:ext cx="8686800" cy="1200150"/>
          </a:xfrm>
          <a:prstGeom prst="roundRect">
            <a:avLst>
              <a:gd name="adj" fmla="val 8000"/>
            </a:avLst>
          </a:prstGeom>
          <a:solidFill>
            <a:srgbClr val="E6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6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hdc / driver / runner / fusion / tools / tests</a:t>
            </a:r>
            <a:endParaRPr sz="1550" b="1">
              <a:solidFill>
                <a:srgbClr val="0B6F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350" b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设备通信与执行调度、四源融合内核、质量门禁（1557 项测试 / 覆盖率 89%）、集成与文档。</a:t>
            </a:r>
            <a:endParaRPr sz="1350" b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TextBox 916"/>
          <p:cNvSpPr txBox="1"/>
          <p:nvPr/>
        </p:nvSpPr>
        <p:spPr>
          <a:xfrm>
            <a:off x="504825" y="5505450"/>
            <a:ext cx="111823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A64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协作方式：跨模块改动经代码评审、自动化测试、真机验证、文档同步四步合入。</a:t>
            </a:r>
            <a:endParaRPr sz="1300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8"/>
          <p:cNvSpPr txBox="1"/>
          <p:nvPr/>
        </p:nvSpPr>
        <p:spPr>
          <a:xfrm>
            <a:off x="3630897" y="2504731"/>
            <a:ext cx="50775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800000000000000" charset="0"/>
              </a:rPr>
              <a:t>谢  谢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800000000000000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2.9,&quot;left&quot;:215.3026771653543,&quot;top&quot;:168.3631496062992,&quot;width&quot;:607.7709448818898}"/>
</p:tagLst>
</file>

<file path=ppt/tags/tag2.xml><?xml version="1.0" encoding="utf-8"?>
<p:tagLst xmlns:p="http://schemas.openxmlformats.org/presentationml/2006/main">
  <p:tag name="KSO_WM_DIAGRAM_VIRTUALLY_FRAME" val="{&quot;height&quot;:202.9,&quot;left&quot;:215.3026771653543,&quot;top&quot;:168.3631496062992,&quot;width&quot;:607.7709448818898}"/>
</p:tagLst>
</file>

<file path=ppt/tags/tag3.xml><?xml version="1.0" encoding="utf-8"?>
<p:tagLst xmlns:p="http://schemas.openxmlformats.org/presentationml/2006/main">
  <p:tag name="KSO_WM_DIAGRAM_VIRTUALLY_FRAME" val="{&quot;height&quot;:202.9,&quot;left&quot;:215.3026771653543,&quot;top&quot;:168.3631496062992,&quot;width&quot;:607.7709448818898}"/>
</p:tagLst>
</file>

<file path=ppt/tags/tag4.xml><?xml version="1.0" encoding="utf-8"?>
<p:tagLst xmlns:p="http://schemas.openxmlformats.org/presentationml/2006/main">
  <p:tag name="KSO_WM_DIAGRAM_VIRTUALLY_FRAME" val="{&quot;height&quot;:202.9,&quot;left&quot;:215.3026771653543,&quot;top&quot;:168.3631496062992,&quot;width&quot;:607.7709448818898}"/>
</p:tagLst>
</file>

<file path=ppt/tags/tag5.xml><?xml version="1.0" encoding="utf-8"?>
<p:tagLst xmlns:p="http://schemas.openxmlformats.org/presentationml/2006/main">
  <p:tag name="KSO_WM_DIAGRAM_VIRTUALLY_FRAME" val="{&quot;height&quot;:202.9,&quot;left&quot;:215.3026771653543,&quot;top&quot;:168.3631496062992,&quot;width&quot;:607.7709448818898}"/>
</p:tagLst>
</file>

<file path=ppt/tags/tag6.xml><?xml version="1.0" encoding="utf-8"?>
<p:tagLst xmlns:p="http://schemas.openxmlformats.org/presentationml/2006/main">
  <p:tag name="KSO_WM_DIAGRAM_VIRTUALLY_FRAME" val="{&quot;height&quot;:202.9,&quot;left&quot;:215.3026771653543,&quot;top&quot;:168.3631496062992,&quot;width&quot;:607.7709448818898}"/>
</p:tagLst>
</file>

<file path=ppt/tags/tag7.xml><?xml version="1.0" encoding="utf-8"?>
<p:tagLst xmlns:p="http://schemas.openxmlformats.org/presentationml/2006/main">
  <p:tag name="KSO_WM_DIAGRAM_VIRTUALLY_FRAME" val="{&quot;height&quot;:272.88,&quot;left&quot;:39.6,&quot;top&quot;:97.2,&quot;width&quot;:880.8}"/>
</p:tagLst>
</file>

<file path=ppt/tags/tag8.xml><?xml version="1.0" encoding="utf-8"?>
<p:tagLst xmlns:p="http://schemas.openxmlformats.org/presentationml/2006/main">
  <p:tag name="KSO_WM_DIAGRAM_VIRTUALLY_FRAME" val="{&quot;height&quot;:272.88,&quot;left&quot;:39.6,&quot;top&quot;:97.2,&quot;width&quot;:880.8}"/>
</p:tagLst>
</file>

<file path=ppt/tags/tag9.xml><?xml version="1.0" encoding="utf-8"?>
<p:tagLst xmlns:p="http://schemas.openxmlformats.org/presentationml/2006/main">
  <p:tag name="KSO_WM_DIAGRAM_VIRTUALLY_FRAME" val="{&quot;height&quot;:272.88,&quot;left&quot;:39.6,&quot;top&quot;:97.2,&quot;width&quot;:880.8}"/>
</p:tagLst>
</file>

<file path=ppt/tags/tag10.xml><?xml version="1.0" encoding="utf-8"?>
<p:tagLst xmlns:p="http://schemas.openxmlformats.org/presentationml/2006/main">
  <p:tag name="KSO_WM_DIAGRAM_VIRTUALLY_FRAME" val="{&quot;height&quot;:272.88,&quot;left&quot;:39.6,&quot;top&quot;:97.2,&quot;width&quot;:880.8}"/>
</p:tagLst>
</file>

<file path=ppt/tags/tag11.xml><?xml version="1.0" encoding="utf-8"?>
<p:tagLst xmlns:p="http://schemas.openxmlformats.org/presentationml/2006/main">
  <p:tag name="KSO_WM_DIAGRAM_VIRTUALLY_FRAME" val="{&quot;height&quot;:272.88,&quot;left&quot;:39.6,&quot;top&quot;:97.2,&quot;width&quot;:880.8}"/>
</p:tagLst>
</file>

<file path=ppt/tags/tag12.xml><?xml version="1.0" encoding="utf-8"?>
<p:tagLst xmlns:p="http://schemas.openxmlformats.org/presentationml/2006/main">
  <p:tag name="KSO_WM_DIAGRAM_VIRTUALLY_FRAME" val="{&quot;height&quot;:272.88,&quot;left&quot;:39.6,&quot;top&quot;:97.2,&quot;width&quot;:880.8}"/>
</p:tagLst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4113</Words>
  <Application>WPS 演示</Application>
  <PresentationFormat/>
  <Paragraphs>425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Source Han Sans CN Normal</vt:lpstr>
      <vt:lpstr>微软雅黑</vt:lpstr>
      <vt:lpstr>Source Han Sans CN Bold</vt:lpstr>
      <vt:lpstr>Source Han Sans CN Regular</vt:lpstr>
      <vt:lpstr>Microsoft YaHei Regular</vt:lpstr>
      <vt:lpstr>HarmonyOS Sans</vt:lpstr>
      <vt:lpstr>FFont-Family</vt:lpstr>
      <vt:lpstr>Arial Unicode MS</vt:lpstr>
      <vt:lpstr>KSOFBCC610B3</vt:lpstr>
      <vt:lpstr>等线</vt:lpstr>
      <vt:lpstr>Calibri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未期</cp:lastModifiedBy>
  <cp:revision>19</cp:revision>
  <dcterms:created xsi:type="dcterms:W3CDTF">2026-10-14T09:30:00Z</dcterms:created>
  <dcterms:modified xsi:type="dcterms:W3CDTF">2026-10-20T12:01:27Z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1A6DA3413B0A4B4692244F580C576D44_12</vt:lpwstr>
  </property>
  <property fmtid="{D5CDD505-2E9C-101B-9397-08002B2CF9AE}" pid="3" name="KSOProductBuildVer">
    <vt:lpwstr>2052-12.1.0.29161</vt:lpwstr>
  </property>
</Properties>
</file>