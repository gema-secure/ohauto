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9"/>
  </p:notesMasterIdLst>
  <p:sldIdLst>
    <p:sldId id="256" r:id="rId3"/>
    <p:sldId id="257" r:id="rId4"/>
    <p:sldId id="259" r:id="rId5"/>
    <p:sldId id="287" r:id="rId6"/>
    <p:sldId id="286" r:id="rId7"/>
    <p:sldId id="278" r:id="rId8"/>
    <p:sldId id="279" r:id="rId9"/>
    <p:sldId id="280" r:id="rId10"/>
    <p:sldId id="272" r:id="rId11"/>
    <p:sldId id="288" r:id="rId12"/>
    <p:sldId id="269" r:id="rId13"/>
    <p:sldId id="289" r:id="rId14"/>
    <p:sldId id="274" r:id="rId15"/>
    <p:sldId id="285" r:id="rId16"/>
    <p:sldId id="281" r:id="rId17"/>
    <p:sldId id="277" r:id="rId18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408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2FDB2607-1784-4EEB-B798-7EB5836EED8A}">
        <p14:showMediaCtrls xmlns:p14="http://schemas.microsoft.com/office/powerpoint/2010/main" val="1"/>
      </p:ext>
    </p:extLst>
  </p:showPr>
  <p:clrMru>
    <a:srgbClr val="08A8F6"/>
    <a:srgbClr val="0F7FF6"/>
    <a:srgbClr val="7BBC49"/>
    <a:srgbClr val="77BB69"/>
    <a:srgbClr val="329AD7"/>
    <a:srgbClr val="F7F9FC"/>
    <a:srgbClr val="9DC0E3"/>
    <a:srgbClr val="DFEAF6"/>
    <a:srgbClr val="E1E0E0"/>
    <a:srgbClr val="EEEEE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6491" autoAdjust="0"/>
    <p:restoredTop sz="94607" autoAdjust="0"/>
  </p:normalViewPr>
  <p:slideViewPr>
    <p:cSldViewPr snapToGrid="0" showGuides="1">
      <p:cViewPr varScale="1">
        <p:scale>
          <a:sx n="62" d="100"/>
          <a:sy n="62" d="100"/>
        </p:scale>
        <p:origin x="1192" y="52"/>
      </p:cViewPr>
      <p:guideLst>
        <p:guide orient="horz" pos="2408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7.xml"/><Relationship Id="rId8" Type="http://schemas.openxmlformats.org/officeDocument/2006/relationships/slide" Target="slides/slide6.xml"/><Relationship Id="rId7" Type="http://schemas.openxmlformats.org/officeDocument/2006/relationships/slide" Target="slides/slide5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2" Type="http://schemas.openxmlformats.org/officeDocument/2006/relationships/tableStyles" Target="tableStyles.xml"/><Relationship Id="rId21" Type="http://schemas.openxmlformats.org/officeDocument/2006/relationships/viewProps" Target="viewProps.xml"/><Relationship Id="rId20" Type="http://schemas.openxmlformats.org/officeDocument/2006/relationships/presProps" Target="presProps.xml"/><Relationship Id="rId2" Type="http://schemas.openxmlformats.org/officeDocument/2006/relationships/theme" Target="theme/theme1.xml"/><Relationship Id="rId19" Type="http://schemas.openxmlformats.org/officeDocument/2006/relationships/notesMaster" Target="notesMasters/notesMaster1.xml"/><Relationship Id="rId18" Type="http://schemas.openxmlformats.org/officeDocument/2006/relationships/slide" Target="slides/slide16.xml"/><Relationship Id="rId17" Type="http://schemas.openxmlformats.org/officeDocument/2006/relationships/slide" Target="slides/slide15.xml"/><Relationship Id="rId16" Type="http://schemas.openxmlformats.org/officeDocument/2006/relationships/slide" Target="slides/slide14.xml"/><Relationship Id="rId15" Type="http://schemas.openxmlformats.org/officeDocument/2006/relationships/slide" Target="slides/slide13.xml"/><Relationship Id="rId14" Type="http://schemas.openxmlformats.org/officeDocument/2006/relationships/slide" Target="slides/slide12.xml"/><Relationship Id="rId13" Type="http://schemas.openxmlformats.org/officeDocument/2006/relationships/slide" Target="slides/slide11.xml"/><Relationship Id="rId12" Type="http://schemas.openxmlformats.org/officeDocument/2006/relationships/slide" Target="slides/slide10.xml"/><Relationship Id="rId11" Type="http://schemas.openxmlformats.org/officeDocument/2006/relationships/slide" Target="slides/slide9.xml"/><Relationship Id="rId10" Type="http://schemas.openxmlformats.org/officeDocument/2006/relationships/slide" Target="slides/slide8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9CE6E62-0A4A-440F-A3A0-1904151E0F67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45C4DF4-6413-405D-8311-20A510DC5EFC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45C4DF4-6413-405D-8311-20A510DC5EFC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pic>
        <p:nvPicPr>
          <p:cNvPr id="3" name="图片 7" descr="基金会+OH logo组合-03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473710" y="304165"/>
            <a:ext cx="3564890" cy="1234440"/>
          </a:xfrm>
          <a:prstGeom prst="rect">
            <a:avLst/>
          </a:prstGeom>
        </p:spPr>
      </p:pic>
      <p:grpSp>
        <p:nvGrpSpPr>
          <p:cNvPr id="4" name="组合 13"/>
          <p:cNvGrpSpPr/>
          <p:nvPr userDrawn="1"/>
        </p:nvGrpSpPr>
        <p:grpSpPr>
          <a:xfrm>
            <a:off x="9906635" y="6367145"/>
            <a:ext cx="2199640" cy="344805"/>
            <a:chOff x="15601" y="10027"/>
            <a:chExt cx="3464" cy="543"/>
          </a:xfrm>
        </p:grpSpPr>
        <p:sp>
          <p:nvSpPr>
            <p:cNvPr id="5" name="文本框 14"/>
            <p:cNvSpPr txBox="1"/>
            <p:nvPr userDrawn="1"/>
          </p:nvSpPr>
          <p:spPr>
            <a:xfrm>
              <a:off x="15601" y="10027"/>
              <a:ext cx="3464" cy="5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algn="l" defTabSz="914400" rtl="0" eaLnBrk="1" latinLnBrk="0" hangingPunct="1">
                <a:lnSpc>
                  <a:spcPct val="130000"/>
                </a:lnSpc>
              </a:pPr>
              <a:r>
                <a:rPr lang="zh-CN" altLang="en-US" sz="1400" kern="12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+mn-cs"/>
                </a:rPr>
                <a:t>智能终端操作系统根社区</a:t>
              </a:r>
              <a:endParaRPr lang="zh-CN" altLang="en-US" sz="1400" kern="12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  <p:cxnSp>
          <p:nvCxnSpPr>
            <p:cNvPr id="6" name="直接连接符 15"/>
            <p:cNvCxnSpPr/>
            <p:nvPr userDrawn="1"/>
          </p:nvCxnSpPr>
          <p:spPr>
            <a:xfrm>
              <a:off x="18007" y="10528"/>
              <a:ext cx="847" cy="0"/>
            </a:xfrm>
            <a:prstGeom prst="line">
              <a:avLst/>
            </a:prstGeom>
            <a:ln w="1905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</p:grp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>
  <p:cSld name="FM">
    <p:bg>
      <p:bgPr>
        <a:solidFill>
          <a:schemeClr val="bg1"/>
        </a:solidFill>
        <a:effectLst/>
      </p:bgPr>
    </p:bg>
    <p:spTree>
      <p:nvGrpSpPr>
        <p:cNvPr id="7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图片 1"/>
          <p:cNvPicPr>
            <a:picLocks noChangeAspect="1"/>
          </p:cNvPicPr>
          <p:nvPr userDrawn="1"/>
        </p:nvPicPr>
        <p:blipFill rotWithShape="1">
          <a:blip r:embed="rId2" cstate="print">
            <a:alphaModFix amt="20000"/>
          </a:blip>
          <a:srcRect b="13216"/>
          <a:stretch>
            <a:fillRect/>
          </a:stretch>
        </p:blipFill>
        <p:spPr>
          <a:xfrm>
            <a:off x="7546126" y="0"/>
            <a:ext cx="4151671" cy="5794408"/>
          </a:xfrm>
          <a:prstGeom prst="rect">
            <a:avLst/>
          </a:prstGeom>
        </p:spPr>
      </p:pic>
      <p:grpSp>
        <p:nvGrpSpPr>
          <p:cNvPr id="9" name="组合 2"/>
          <p:cNvGrpSpPr/>
          <p:nvPr userDrawn="1"/>
        </p:nvGrpSpPr>
        <p:grpSpPr>
          <a:xfrm>
            <a:off x="9763201" y="6305810"/>
            <a:ext cx="2199640" cy="344805"/>
            <a:chOff x="15601" y="10027"/>
            <a:chExt cx="3464" cy="543"/>
          </a:xfrm>
        </p:grpSpPr>
        <p:sp>
          <p:nvSpPr>
            <p:cNvPr id="10" name="文本框 3"/>
            <p:cNvSpPr txBox="1"/>
            <p:nvPr userDrawn="1"/>
          </p:nvSpPr>
          <p:spPr>
            <a:xfrm>
              <a:off x="15601" y="10027"/>
              <a:ext cx="3464" cy="5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algn="l" defTabSz="914400" rtl="0" eaLnBrk="1" latinLnBrk="0" hangingPunct="1">
                <a:lnSpc>
                  <a:spcPct val="130000"/>
                </a:lnSpc>
              </a:pPr>
              <a:r>
                <a:rPr lang="zh-CN" altLang="en-US" sz="1400" kern="1200" dirty="0">
                  <a:gradFill>
                    <a:gsLst>
                      <a:gs pos="0">
                        <a:srgbClr val="0284E2"/>
                      </a:gs>
                      <a:gs pos="100000">
                        <a:srgbClr val="00B050"/>
                      </a:gs>
                    </a:gsLst>
                    <a:lin ang="0" scaled="0"/>
                  </a:gradFill>
                  <a:latin typeface="微软雅黑" panose="020B0503020204020204" pitchFamily="34" charset="-122"/>
                  <a:ea typeface="微软雅黑" panose="020B0503020204020204" pitchFamily="34" charset="-122"/>
                  <a:cs typeface="+mn-cs"/>
                </a:rPr>
                <a:t>智能终端操作系统根社区</a:t>
              </a:r>
              <a:endParaRPr lang="zh-CN" altLang="en-US" sz="1400" kern="1200" dirty="0">
                <a:gradFill>
                  <a:gsLst>
                    <a:gs pos="0">
                      <a:srgbClr val="0284E2"/>
                    </a:gs>
                    <a:gs pos="100000">
                      <a:srgbClr val="00B050"/>
                    </a:gs>
                  </a:gsLst>
                  <a:lin ang="0" scaled="0"/>
                </a:gra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  <p:cxnSp>
          <p:nvCxnSpPr>
            <p:cNvPr id="11" name="直接连接符 15"/>
            <p:cNvCxnSpPr/>
            <p:nvPr userDrawn="1"/>
          </p:nvCxnSpPr>
          <p:spPr>
            <a:xfrm>
              <a:off x="18007" y="10528"/>
              <a:ext cx="847" cy="0"/>
            </a:xfrm>
            <a:prstGeom prst="line">
              <a:avLst/>
            </a:prstGeom>
            <a:ln w="19050">
              <a:solidFill>
                <a:srgbClr val="00B0F0"/>
              </a:solidFill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</p:grpSp>
      <p:pic>
        <p:nvPicPr>
          <p:cNvPr id="12" name="图片 9"/>
          <p:cNvPicPr>
            <a:picLocks noChangeAspect="1"/>
          </p:cNvPicPr>
          <p:nvPr userDrawn="1"/>
        </p:nvPicPr>
        <p:blipFill>
          <a:blip r:embed="rId3" cstate="print">
            <a:alphaModFix amt="21000"/>
          </a:blip>
          <a:srcRect/>
          <a:stretch>
            <a:fillRect/>
          </a:stretch>
        </p:blipFill>
        <p:spPr>
          <a:xfrm>
            <a:off x="0" y="3261146"/>
            <a:ext cx="2999678" cy="4133416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showMasterSp="0">
  <p:cSld name="1_标题幻灯片">
    <p:bg>
      <p:bgPr>
        <a:solidFill>
          <a:schemeClr val="bg1">
            <a:alpha val="0"/>
          </a:schemeClr>
        </a:solidFill>
        <a:effectLst/>
      </p:bgPr>
    </p:bg>
    <p:spTree>
      <p:nvGrpSpPr>
        <p:cNvPr id="18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灯片编号占位符 5"/>
          <p:cNvSpPr>
            <a:spLocks noGrp="1"/>
          </p:cNvSpPr>
          <p:nvPr>
            <p:ph type="sldNum" sz="quarter" idx="12"/>
          </p:nvPr>
        </p:nvSpPr>
        <p:spPr>
          <a:xfrm>
            <a:off x="445008" y="6356350"/>
            <a:ext cx="2743200" cy="365125"/>
          </a:xfrm>
        </p:spPr>
        <p:txBody>
          <a:bodyPr/>
          <a:lstStyle>
            <a:lvl1pPr algn="l">
              <a:defRPr>
                <a:solidFill>
                  <a:schemeClr val="tx1"/>
                </a:solidFill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标题和内容">
    <p:bg>
      <p:bgPr>
        <a:solidFill>
          <a:srgbClr val="08A8F6"/>
        </a:solidFill>
        <a:effectLst/>
      </p:bgPr>
    </p:bg>
    <p:spTree>
      <p:nvGrpSpPr>
        <p:cNvPr id="20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灯片编号占位符 5"/>
          <p:cNvSpPr>
            <a:spLocks noGrp="1"/>
          </p:cNvSpPr>
          <p:nvPr>
            <p:ph type="sldNum" sz="quarter" idx="12"/>
          </p:nvPr>
        </p:nvSpPr>
        <p:spPr>
          <a:xfrm>
            <a:off x="4724400" y="6356350"/>
            <a:ext cx="2743200" cy="365125"/>
          </a:xfrm>
        </p:spPr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节标题">
    <p:bg>
      <p:bgPr>
        <a:solidFill>
          <a:schemeClr val="bg1"/>
        </a:solidFill>
        <a:effectLst/>
      </p:bgPr>
    </p:bg>
    <p:spTree>
      <p:nvGrpSpPr>
        <p:cNvPr id="2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组合 13"/>
          <p:cNvGrpSpPr/>
          <p:nvPr userDrawn="1"/>
        </p:nvGrpSpPr>
        <p:grpSpPr>
          <a:xfrm>
            <a:off x="9763201" y="6305810"/>
            <a:ext cx="2199640" cy="344805"/>
            <a:chOff x="15601" y="10027"/>
            <a:chExt cx="3464" cy="543"/>
          </a:xfrm>
        </p:grpSpPr>
        <p:sp>
          <p:nvSpPr>
            <p:cNvPr id="24" name="文本框 14"/>
            <p:cNvSpPr txBox="1"/>
            <p:nvPr userDrawn="1"/>
          </p:nvSpPr>
          <p:spPr>
            <a:xfrm>
              <a:off x="15601" y="10027"/>
              <a:ext cx="3464" cy="5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algn="l" defTabSz="914400" rtl="0" eaLnBrk="1" latinLnBrk="0" hangingPunct="1">
                <a:lnSpc>
                  <a:spcPct val="130000"/>
                </a:lnSpc>
              </a:pPr>
              <a:r>
                <a:rPr lang="zh-CN" altLang="en-US" sz="1400" kern="1200" dirty="0">
                  <a:gradFill>
                    <a:gsLst>
                      <a:gs pos="0">
                        <a:srgbClr val="0284E2"/>
                      </a:gs>
                      <a:gs pos="100000">
                        <a:srgbClr val="00B050"/>
                      </a:gs>
                    </a:gsLst>
                    <a:lin ang="0" scaled="0"/>
                  </a:gradFill>
                  <a:latin typeface="微软雅黑" panose="020B0503020204020204" pitchFamily="34" charset="-122"/>
                  <a:ea typeface="微软雅黑" panose="020B0503020204020204" pitchFamily="34" charset="-122"/>
                  <a:cs typeface="+mn-cs"/>
                </a:rPr>
                <a:t>智能终端操作系统根社区</a:t>
              </a:r>
              <a:endParaRPr lang="zh-CN" altLang="en-US" sz="1400" kern="1200" dirty="0">
                <a:gradFill>
                  <a:gsLst>
                    <a:gs pos="0">
                      <a:srgbClr val="0284E2"/>
                    </a:gs>
                    <a:gs pos="100000">
                      <a:srgbClr val="00B050"/>
                    </a:gs>
                  </a:gsLst>
                  <a:lin ang="0" scaled="0"/>
                </a:gra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  <p:cxnSp>
          <p:nvCxnSpPr>
            <p:cNvPr id="25" name="直接连接符 15"/>
            <p:cNvCxnSpPr/>
            <p:nvPr userDrawn="1"/>
          </p:nvCxnSpPr>
          <p:spPr>
            <a:xfrm>
              <a:off x="18007" y="10528"/>
              <a:ext cx="847" cy="0"/>
            </a:xfrm>
            <a:prstGeom prst="line">
              <a:avLst/>
            </a:prstGeom>
            <a:ln w="19050">
              <a:solidFill>
                <a:srgbClr val="00B0F0"/>
              </a:solidFill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</p:grpSp>
      <p:sp>
        <p:nvSpPr>
          <p:cNvPr id="26" name="灯片编号占位符 5"/>
          <p:cNvSpPr>
            <a:spLocks noGrp="1"/>
          </p:cNvSpPr>
          <p:nvPr>
            <p:ph type="sldNum" sz="quarter" idx="12"/>
          </p:nvPr>
        </p:nvSpPr>
        <p:spPr>
          <a:xfrm>
            <a:off x="4724400" y="6356350"/>
            <a:ext cx="2743200" cy="365125"/>
          </a:xfrm>
        </p:spPr>
        <p:txBody>
          <a:bodyPr/>
          <a:lstStyle>
            <a:lvl1pPr algn="ctr">
              <a:defRPr>
                <a:solidFill>
                  <a:schemeClr val="tx1"/>
                </a:solidFill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27" name="文本占位符 9"/>
          <p:cNvSpPr>
            <a:spLocks noGrp="1"/>
          </p:cNvSpPr>
          <p:nvPr>
            <p:ph type="body" sz="quarter" idx="13" hasCustomPrompt="1"/>
          </p:nvPr>
        </p:nvSpPr>
        <p:spPr>
          <a:xfrm>
            <a:off x="215067" y="171415"/>
            <a:ext cx="5966068" cy="446134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lang="zh-CN" altLang="en-US" sz="2800" b="1" kern="12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1pPr>
          </a:lstStyle>
          <a:p>
            <a:pPr lvl="0"/>
            <a:r>
              <a:rPr kumimoji="1" lang="zh-CN" altLang="en-US"/>
              <a:t>单击此处编辑母版文本</a:t>
            </a:r>
            <a:endParaRPr kumimoji="1" lang="zh-CN" altLang="en-US"/>
          </a:p>
        </p:txBody>
      </p:sp>
      <p:pic>
        <p:nvPicPr>
          <p:cNvPr id="28" name="图片 1"/>
          <p:cNvPicPr>
            <a:picLocks noChangeAspect="1"/>
          </p:cNvPicPr>
          <p:nvPr userDrawn="1"/>
        </p:nvPicPr>
        <p:blipFill>
          <a:blip r:embed="rId2" cstate="print"/>
          <a:stretch>
            <a:fillRect/>
          </a:stretch>
        </p:blipFill>
        <p:spPr>
          <a:xfrm>
            <a:off x="9558425" y="0"/>
            <a:ext cx="2350420" cy="881407"/>
          </a:xfrm>
          <a:prstGeom prst="rect">
            <a:avLst/>
          </a:prstGeom>
        </p:spPr>
      </p:pic>
      <p:sp>
        <p:nvSpPr>
          <p:cNvPr id="29" name="矩形 3"/>
          <p:cNvSpPr/>
          <p:nvPr userDrawn="1"/>
        </p:nvSpPr>
        <p:spPr>
          <a:xfrm>
            <a:off x="0" y="0"/>
            <a:ext cx="12192000" cy="781177"/>
          </a:xfrm>
          <a:prstGeom prst="rect">
            <a:avLst/>
          </a:prstGeom>
          <a:solidFill>
            <a:srgbClr val="08A8F6">
              <a:alpha val="1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>
  <p:cSld name="两栏内容">
    <p:bg>
      <p:bgPr>
        <a:solidFill>
          <a:schemeClr val="bg1"/>
        </a:solidFill>
        <a:effectLst/>
      </p:bgPr>
    </p:bg>
    <p:spTree>
      <p:nvGrpSpPr>
        <p:cNvPr id="30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pic>
        <p:nvPicPr>
          <p:cNvPr id="32" name="图片 3"/>
          <p:cNvPicPr>
            <a:picLocks noChangeAspect="1"/>
          </p:cNvPicPr>
          <p:nvPr userDrawn="1"/>
        </p:nvPicPr>
        <p:blipFill rotWithShape="1">
          <a:blip r:embed="rId2" cstate="print">
            <a:alphaModFix amt="35000"/>
            <a:biLevel thresh="25000"/>
          </a:blip>
          <a:srcRect t="32381"/>
          <a:stretch>
            <a:fillRect/>
          </a:stretch>
        </p:blipFill>
        <p:spPr>
          <a:xfrm>
            <a:off x="7482780" y="1381934"/>
            <a:ext cx="3830533" cy="4165580"/>
          </a:xfrm>
          <a:prstGeom prst="rect">
            <a:avLst/>
          </a:prstGeom>
        </p:spPr>
      </p:pic>
      <p:grpSp>
        <p:nvGrpSpPr>
          <p:cNvPr id="33" name="组合 5"/>
          <p:cNvGrpSpPr/>
          <p:nvPr userDrawn="1"/>
        </p:nvGrpSpPr>
        <p:grpSpPr>
          <a:xfrm>
            <a:off x="9763201" y="6305810"/>
            <a:ext cx="2199640" cy="344805"/>
            <a:chOff x="15601" y="10027"/>
            <a:chExt cx="3464" cy="543"/>
          </a:xfrm>
        </p:grpSpPr>
        <p:sp>
          <p:nvSpPr>
            <p:cNvPr id="34" name="文本框 10"/>
            <p:cNvSpPr txBox="1"/>
            <p:nvPr userDrawn="1"/>
          </p:nvSpPr>
          <p:spPr>
            <a:xfrm>
              <a:off x="15601" y="10027"/>
              <a:ext cx="3464" cy="5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algn="l" defTabSz="914400" rtl="0" eaLnBrk="1" latinLnBrk="0" hangingPunct="1">
                <a:lnSpc>
                  <a:spcPct val="130000"/>
                </a:lnSpc>
              </a:pPr>
              <a:r>
                <a:rPr lang="zh-CN" altLang="en-US" sz="1400" kern="1200" dirty="0">
                  <a:gradFill>
                    <a:gsLst>
                      <a:gs pos="0">
                        <a:srgbClr val="0284E2"/>
                      </a:gs>
                      <a:gs pos="100000">
                        <a:srgbClr val="00B050"/>
                      </a:gs>
                    </a:gsLst>
                    <a:lin ang="0" scaled="0"/>
                  </a:gradFill>
                  <a:latin typeface="微软雅黑" panose="020B0503020204020204" pitchFamily="34" charset="-122"/>
                  <a:ea typeface="微软雅黑" panose="020B0503020204020204" pitchFamily="34" charset="-122"/>
                  <a:cs typeface="+mn-cs"/>
                </a:rPr>
                <a:t>智能终端操作系统根社区</a:t>
              </a:r>
              <a:endParaRPr lang="zh-CN" altLang="en-US" sz="1400" kern="1200" dirty="0">
                <a:gradFill>
                  <a:gsLst>
                    <a:gs pos="0">
                      <a:srgbClr val="0284E2"/>
                    </a:gs>
                    <a:gs pos="100000">
                      <a:srgbClr val="00B050"/>
                    </a:gs>
                  </a:gsLst>
                  <a:lin ang="0" scaled="0"/>
                </a:gra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  <p:cxnSp>
          <p:nvCxnSpPr>
            <p:cNvPr id="35" name="直接连接符 15"/>
            <p:cNvCxnSpPr/>
            <p:nvPr userDrawn="1"/>
          </p:nvCxnSpPr>
          <p:spPr>
            <a:xfrm>
              <a:off x="18007" y="10528"/>
              <a:ext cx="847" cy="0"/>
            </a:xfrm>
            <a:prstGeom prst="line">
              <a:avLst/>
            </a:prstGeom>
            <a:ln w="19050">
              <a:solidFill>
                <a:srgbClr val="00B0F0"/>
              </a:solidFill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</p:grpSp>
      <p:pic>
        <p:nvPicPr>
          <p:cNvPr id="36" name="图片 4"/>
          <p:cNvPicPr>
            <a:picLocks noChangeAspect="1"/>
          </p:cNvPicPr>
          <p:nvPr userDrawn="1"/>
        </p:nvPicPr>
        <p:blipFill>
          <a:blip r:embed="rId3" cstate="print"/>
          <a:stretch>
            <a:fillRect/>
          </a:stretch>
        </p:blipFill>
        <p:spPr>
          <a:xfrm>
            <a:off x="104478" y="0"/>
            <a:ext cx="2350420" cy="881407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>
  <p:cSld name="比较">
    <p:bg>
      <p:bgPr>
        <a:solidFill>
          <a:schemeClr val="bg1"/>
        </a:solidFill>
        <a:effectLst/>
      </p:bgPr>
    </p:bg>
    <p:spTree>
      <p:nvGrpSpPr>
        <p:cNvPr id="37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grpSp>
        <p:nvGrpSpPr>
          <p:cNvPr id="39" name="组合 1"/>
          <p:cNvGrpSpPr/>
          <p:nvPr userDrawn="1"/>
        </p:nvGrpSpPr>
        <p:grpSpPr>
          <a:xfrm>
            <a:off x="9763201" y="6305810"/>
            <a:ext cx="2199640" cy="344805"/>
            <a:chOff x="15601" y="10027"/>
            <a:chExt cx="3464" cy="543"/>
          </a:xfrm>
        </p:grpSpPr>
        <p:sp>
          <p:nvSpPr>
            <p:cNvPr id="40" name="文本框 2"/>
            <p:cNvSpPr txBox="1"/>
            <p:nvPr userDrawn="1"/>
          </p:nvSpPr>
          <p:spPr>
            <a:xfrm>
              <a:off x="15601" y="10027"/>
              <a:ext cx="3464" cy="5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algn="l" defTabSz="914400" rtl="0" eaLnBrk="1" latinLnBrk="0" hangingPunct="1">
                <a:lnSpc>
                  <a:spcPct val="130000"/>
                </a:lnSpc>
              </a:pPr>
              <a:r>
                <a:rPr lang="zh-CN" altLang="en-US" sz="1400" kern="1200" dirty="0">
                  <a:gradFill>
                    <a:gsLst>
                      <a:gs pos="0">
                        <a:srgbClr val="0284E2"/>
                      </a:gs>
                      <a:gs pos="100000">
                        <a:srgbClr val="00B050"/>
                      </a:gs>
                    </a:gsLst>
                    <a:lin ang="0" scaled="0"/>
                  </a:gradFill>
                  <a:latin typeface="微软雅黑" panose="020B0503020204020204" pitchFamily="34" charset="-122"/>
                  <a:ea typeface="微软雅黑" panose="020B0503020204020204" pitchFamily="34" charset="-122"/>
                  <a:cs typeface="+mn-cs"/>
                </a:rPr>
                <a:t>智能终端操作系统根社区</a:t>
              </a:r>
              <a:endParaRPr lang="zh-CN" altLang="en-US" sz="1400" kern="1200" dirty="0">
                <a:gradFill>
                  <a:gsLst>
                    <a:gs pos="0">
                      <a:srgbClr val="0284E2"/>
                    </a:gs>
                    <a:gs pos="100000">
                      <a:srgbClr val="00B050"/>
                    </a:gs>
                  </a:gsLst>
                  <a:lin ang="0" scaled="0"/>
                </a:gra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  <p:cxnSp>
          <p:nvCxnSpPr>
            <p:cNvPr id="41" name="直接连接符 15"/>
            <p:cNvCxnSpPr/>
            <p:nvPr userDrawn="1"/>
          </p:nvCxnSpPr>
          <p:spPr>
            <a:xfrm>
              <a:off x="18007" y="10528"/>
              <a:ext cx="847" cy="0"/>
            </a:xfrm>
            <a:prstGeom prst="line">
              <a:avLst/>
            </a:prstGeom>
            <a:ln w="19050">
              <a:solidFill>
                <a:srgbClr val="00B0F0"/>
              </a:solidFill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</p:grpSp>
      <p:sp>
        <p:nvSpPr>
          <p:cNvPr id="42" name="矩形 9"/>
          <p:cNvSpPr/>
          <p:nvPr userDrawn="1"/>
        </p:nvSpPr>
        <p:spPr>
          <a:xfrm>
            <a:off x="456565" y="1199515"/>
            <a:ext cx="1210588" cy="707886"/>
          </a:xfrm>
          <a:prstGeom prst="rect">
            <a:avLst/>
          </a:prstGeom>
        </p:spPr>
        <p:txBody>
          <a:bodyPr wrap="none" anchor="ctr" anchorCtr="0">
            <a:spAutoFit/>
          </a:bodyPr>
          <a:lstStyle/>
          <a:p>
            <a:pPr marL="0" marR="0" lvl="0" indent="0" defTabSz="914400" rtl="0" eaLnBrk="1" fontAlgn="ctr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4000" b="1" i="0" u="none" strike="noStrike" kern="1200" cap="none" spc="0" normalizeH="0" baseline="0" noProof="0" dirty="0">
                <a:ln>
                  <a:noFill/>
                </a:ln>
                <a:solidFill>
                  <a:srgbClr val="08A8F6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目录</a:t>
            </a:r>
            <a:endParaRPr kumimoji="0" lang="zh-CN" altLang="en-US" sz="4000" b="1" i="0" u="none" strike="noStrike" kern="1200" cap="none" spc="0" normalizeH="0" baseline="0" noProof="0" dirty="0">
              <a:ln>
                <a:noFill/>
              </a:ln>
              <a:solidFill>
                <a:srgbClr val="08A8F6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43" name="文本框 10"/>
          <p:cNvSpPr txBox="1"/>
          <p:nvPr userDrawn="1"/>
        </p:nvSpPr>
        <p:spPr>
          <a:xfrm>
            <a:off x="481965" y="576640"/>
            <a:ext cx="412495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r>
              <a:rPr lang="en-US" altLang="zh-CN" sz="3200" b="1" dirty="0">
                <a:solidFill>
                  <a:srgbClr val="08A8F6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Source Han Sans CN Bold" panose="020B0800000000000000" charset="-122"/>
              </a:rPr>
              <a:t>CONTENTS</a:t>
            </a:r>
            <a:endParaRPr lang="en-US" altLang="zh-CN" sz="3200" b="1" dirty="0">
              <a:solidFill>
                <a:srgbClr val="08A8F6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Source Han Sans CN Bold" panose="020B0800000000000000" charset="-122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>
  <p:cSld name="仅标题">
    <p:bg>
      <p:bgPr>
        <a:solidFill>
          <a:schemeClr val="bg1"/>
        </a:solidFill>
        <a:effectLst/>
      </p:bgPr>
    </p:bg>
    <p:spTree>
      <p:nvGrpSpPr>
        <p:cNvPr id="44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grpSp>
        <p:nvGrpSpPr>
          <p:cNvPr id="46" name="组合 5"/>
          <p:cNvGrpSpPr/>
          <p:nvPr userDrawn="1"/>
        </p:nvGrpSpPr>
        <p:grpSpPr>
          <a:xfrm>
            <a:off x="9906635" y="6367145"/>
            <a:ext cx="2199640" cy="344805"/>
            <a:chOff x="15601" y="10027"/>
            <a:chExt cx="3464" cy="543"/>
          </a:xfrm>
        </p:grpSpPr>
        <p:sp>
          <p:nvSpPr>
            <p:cNvPr id="47" name="文本框 6"/>
            <p:cNvSpPr txBox="1"/>
            <p:nvPr userDrawn="1"/>
          </p:nvSpPr>
          <p:spPr>
            <a:xfrm>
              <a:off x="15601" y="10027"/>
              <a:ext cx="3464" cy="5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algn="l" defTabSz="914400" rtl="0" eaLnBrk="1" latinLnBrk="0" hangingPunct="1">
                <a:lnSpc>
                  <a:spcPct val="130000"/>
                </a:lnSpc>
              </a:pPr>
              <a:r>
                <a:rPr lang="zh-CN" altLang="en-US" sz="1400" kern="1200" dirty="0">
                  <a:gradFill>
                    <a:gsLst>
                      <a:gs pos="0">
                        <a:srgbClr val="0284E2"/>
                      </a:gs>
                      <a:gs pos="100000">
                        <a:srgbClr val="00B050"/>
                      </a:gs>
                    </a:gsLst>
                    <a:lin ang="0" scaled="0"/>
                  </a:gradFill>
                  <a:latin typeface="微软雅黑" panose="020B0503020204020204" pitchFamily="34" charset="-122"/>
                  <a:ea typeface="微软雅黑" panose="020B0503020204020204" pitchFamily="34" charset="-122"/>
                  <a:cs typeface="+mn-cs"/>
                </a:rPr>
                <a:t>智能终端操作系统根社区</a:t>
              </a:r>
              <a:endParaRPr lang="zh-CN" altLang="en-US" sz="1400" kern="1200" dirty="0">
                <a:gradFill>
                  <a:gsLst>
                    <a:gs pos="0">
                      <a:srgbClr val="0284E2"/>
                    </a:gs>
                    <a:gs pos="100000">
                      <a:srgbClr val="00B050"/>
                    </a:gs>
                  </a:gsLst>
                  <a:lin ang="0" scaled="0"/>
                </a:gra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  <p:cxnSp>
          <p:nvCxnSpPr>
            <p:cNvPr id="48" name="直接连接符 7"/>
            <p:cNvCxnSpPr/>
            <p:nvPr userDrawn="1"/>
          </p:nvCxnSpPr>
          <p:spPr>
            <a:xfrm>
              <a:off x="18007" y="10528"/>
              <a:ext cx="847" cy="0"/>
            </a:xfrm>
            <a:prstGeom prst="line">
              <a:avLst/>
            </a:prstGeom>
            <a:ln w="19050">
              <a:solidFill>
                <a:srgbClr val="00B0F0"/>
              </a:solidFill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</p:grp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空白">
    <p:spTree>
      <p:nvGrpSpPr>
        <p:cNvPr id="49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>
  <p:cSld name="图片与标题">
    <p:spTree>
      <p:nvGrpSpPr>
        <p:cNvPr id="5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BC47A4-756D-490B-A52F-7D9E2C9FC05F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>
  <p:cSld name="竖排标题与文本">
    <p:spTree>
      <p:nvGrpSpPr>
        <p:cNvPr id="13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内容">
    <p:spTree>
      <p:nvGrpSpPr>
        <p:cNvPr id="15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">
    <p:spTree>
      <p:nvGrpSpPr>
        <p:cNvPr id="17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4" Type="http://schemas.openxmlformats.org/officeDocument/2006/relationships/theme" Target="../theme/theme1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00A6F9"/>
            </a:gs>
            <a:gs pos="100000">
              <a:srgbClr val="81BD0A"/>
            </a:gs>
          </a:gsLst>
          <a:lin ang="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47244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200">
                <a:solidFill>
                  <a:schemeClr val="bg1"/>
                </a:solidFill>
                <a:latin typeface="Source Han Sans CN Normal" panose="020B0800000000000000" charset="-122"/>
                <a:ea typeface="Source Han Sans CN Normal" panose="020B0800000000000000" charset="-122"/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6.png"/></Relationships>
</file>

<file path=ppt/slides/_rels/slide2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7.xml"/><Relationship Id="rId8" Type="http://schemas.openxmlformats.org/officeDocument/2006/relationships/tags" Target="../tags/tag8.xml"/><Relationship Id="rId7" Type="http://schemas.openxmlformats.org/officeDocument/2006/relationships/tags" Target="../tags/tag7.xml"/><Relationship Id="rId6" Type="http://schemas.openxmlformats.org/officeDocument/2006/relationships/tags" Target="../tags/tag6.xml"/><Relationship Id="rId5" Type="http://schemas.openxmlformats.org/officeDocument/2006/relationships/tags" Target="../tags/tag5.xml"/><Relationship Id="rId4" Type="http://schemas.openxmlformats.org/officeDocument/2006/relationships/tags" Target="../tags/tag4.xml"/><Relationship Id="rId3" Type="http://schemas.openxmlformats.org/officeDocument/2006/relationships/tags" Target="../tags/tag3.xml"/><Relationship Id="rId2" Type="http://schemas.openxmlformats.org/officeDocument/2006/relationships/tags" Target="../tags/tag2.xml"/><Relationship Id="rId1" Type="http://schemas.openxmlformats.org/officeDocument/2006/relationships/tags" Target="../tags/tag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5.xml"/><Relationship Id="rId1" Type="http://schemas.openxmlformats.org/officeDocument/2006/relationships/image" Target="../media/image7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5.xml"/><Relationship Id="rId7" Type="http://schemas.openxmlformats.org/officeDocument/2006/relationships/tags" Target="../tags/tag12.xml"/><Relationship Id="rId6" Type="http://schemas.openxmlformats.org/officeDocument/2006/relationships/tags" Target="../tags/tag11.xml"/><Relationship Id="rId5" Type="http://schemas.openxmlformats.org/officeDocument/2006/relationships/image" Target="../media/image10.png"/><Relationship Id="rId4" Type="http://schemas.openxmlformats.org/officeDocument/2006/relationships/tags" Target="../tags/tag10.xml"/><Relationship Id="rId3" Type="http://schemas.openxmlformats.org/officeDocument/2006/relationships/image" Target="../media/image9.png"/><Relationship Id="rId2" Type="http://schemas.openxmlformats.org/officeDocument/2006/relationships/tags" Target="../tags/tag9.xml"/><Relationship Id="rId1" Type="http://schemas.openxmlformats.org/officeDocument/2006/relationships/image" Target="../media/image8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5.xml"/><Relationship Id="rId2" Type="http://schemas.openxmlformats.org/officeDocument/2006/relationships/image" Target="../media/image12.png"/><Relationship Id="rId1" Type="http://schemas.openxmlformats.org/officeDocument/2006/relationships/image" Target="../media/image11.png"/></Relationships>
</file>

<file path=ppt/slides/_rels/slide11.xml.rels><?xml version="1.0" encoding="UTF-8" standalone="yes"?>
<Relationships xmlns="http://schemas.openxmlformats.org/package/2006/relationships"><Relationship Id="rId9" Type="http://schemas.openxmlformats.org/officeDocument/2006/relationships/tags" Target="../tags/tag21.xml"/><Relationship Id="rId8" Type="http://schemas.openxmlformats.org/officeDocument/2006/relationships/tags" Target="../tags/tag20.xml"/><Relationship Id="rId7" Type="http://schemas.openxmlformats.org/officeDocument/2006/relationships/tags" Target="../tags/tag19.xml"/><Relationship Id="rId6" Type="http://schemas.openxmlformats.org/officeDocument/2006/relationships/tags" Target="../tags/tag18.xml"/><Relationship Id="rId5" Type="http://schemas.openxmlformats.org/officeDocument/2006/relationships/tags" Target="../tags/tag17.xml"/><Relationship Id="rId4" Type="http://schemas.openxmlformats.org/officeDocument/2006/relationships/tags" Target="../tags/tag16.xml"/><Relationship Id="rId3" Type="http://schemas.openxmlformats.org/officeDocument/2006/relationships/tags" Target="../tags/tag15.xml"/><Relationship Id="rId2" Type="http://schemas.openxmlformats.org/officeDocument/2006/relationships/tags" Target="../tags/tag14.xml"/><Relationship Id="rId12" Type="http://schemas.openxmlformats.org/officeDocument/2006/relationships/slideLayout" Target="../slideLayouts/slideLayout5.xml"/><Relationship Id="rId11" Type="http://schemas.openxmlformats.org/officeDocument/2006/relationships/image" Target="../media/image13.png"/><Relationship Id="rId10" Type="http://schemas.openxmlformats.org/officeDocument/2006/relationships/tags" Target="../tags/tag22.xml"/><Relationship Id="rId1" Type="http://schemas.openxmlformats.org/officeDocument/2006/relationships/tags" Target="../tags/tag13.xml"/></Relationships>
</file>

<file path=ppt/slides/_rels/slide12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5.xml"/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image" Target="../media/image14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5.xml"/><Relationship Id="rId1" Type="http://schemas.openxmlformats.org/officeDocument/2006/relationships/image" Target="../media/image17.png"/></Relationships>
</file>

<file path=ppt/slides/_rels/slide14.xml.rels><?xml version="1.0" encoding="UTF-8" standalone="yes"?>
<Relationships xmlns="http://schemas.openxmlformats.org/package/2006/relationships"><Relationship Id="rId9" Type="http://schemas.openxmlformats.org/officeDocument/2006/relationships/tags" Target="../tags/tag31.xml"/><Relationship Id="rId8" Type="http://schemas.openxmlformats.org/officeDocument/2006/relationships/tags" Target="../tags/tag30.xml"/><Relationship Id="rId7" Type="http://schemas.openxmlformats.org/officeDocument/2006/relationships/tags" Target="../tags/tag29.xml"/><Relationship Id="rId6" Type="http://schemas.openxmlformats.org/officeDocument/2006/relationships/tags" Target="../tags/tag28.xml"/><Relationship Id="rId5" Type="http://schemas.openxmlformats.org/officeDocument/2006/relationships/tags" Target="../tags/tag27.xml"/><Relationship Id="rId4" Type="http://schemas.openxmlformats.org/officeDocument/2006/relationships/tags" Target="../tags/tag26.xml"/><Relationship Id="rId3" Type="http://schemas.openxmlformats.org/officeDocument/2006/relationships/tags" Target="../tags/tag25.xml"/><Relationship Id="rId2" Type="http://schemas.openxmlformats.org/officeDocument/2006/relationships/tags" Target="../tags/tag24.xml"/><Relationship Id="rId17" Type="http://schemas.openxmlformats.org/officeDocument/2006/relationships/slideLayout" Target="../slideLayouts/slideLayout5.xml"/><Relationship Id="rId16" Type="http://schemas.openxmlformats.org/officeDocument/2006/relationships/tags" Target="../tags/tag38.xml"/><Relationship Id="rId15" Type="http://schemas.openxmlformats.org/officeDocument/2006/relationships/tags" Target="../tags/tag37.xml"/><Relationship Id="rId14" Type="http://schemas.openxmlformats.org/officeDocument/2006/relationships/tags" Target="../tags/tag36.xml"/><Relationship Id="rId13" Type="http://schemas.openxmlformats.org/officeDocument/2006/relationships/tags" Target="../tags/tag35.xml"/><Relationship Id="rId12" Type="http://schemas.openxmlformats.org/officeDocument/2006/relationships/tags" Target="../tags/tag34.xml"/><Relationship Id="rId11" Type="http://schemas.openxmlformats.org/officeDocument/2006/relationships/tags" Target="../tags/tag33.xml"/><Relationship Id="rId10" Type="http://schemas.openxmlformats.org/officeDocument/2006/relationships/tags" Target="../tags/tag32.xml"/><Relationship Id="rId1" Type="http://schemas.openxmlformats.org/officeDocument/2006/relationships/tags" Target="../tags/tag23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4"/>
          <p:cNvSpPr txBox="1"/>
          <p:nvPr/>
        </p:nvSpPr>
        <p:spPr>
          <a:xfrm>
            <a:off x="3417888" y="5226665"/>
            <a:ext cx="5356225" cy="70134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fontAlgn="base">
              <a:lnSpc>
                <a:spcPct val="13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zh-CN" sz="1800" dirty="0" err="1">
                <a:solidFill/>
                <a:latin typeface="微软雅黑" panose="020B0503020204020204" pitchFamily="34" charset="-122"/>
                <a:ea typeface="微软雅黑" panose="020B0503020204020204" pitchFamily="34" charset="-122"/>
                <a:cs typeface="Source Han Sans CN Regular" panose="020B0800000000000000" charset="-122"/>
              </a:rPr>
              <a:t>gema</a:t>
            </a:r>
            <a:endParaRPr lang="en-US" altLang="zh-CN" sz="1600" dirty="0">
              <a:latin typeface="微软雅黑" panose="020B0503020204020204" pitchFamily="34" charset="-122"/>
              <a:ea typeface="微软雅黑" panose="020B0503020204020204" pitchFamily="34" charset="-122"/>
              <a:cs typeface="Source Han Sans CN Regular" panose="020B0800000000000000" charset="-122"/>
            </a:endParaRPr>
          </a:p>
          <a:p>
            <a:pPr algn="ctr" fontAlgn="base">
              <a:lnSpc>
                <a:spcPct val="13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zh-CN" sz="1800" dirty="0">
                <a:solidFill/>
                <a:latin typeface="微软雅黑" panose="020B0503020204020204" pitchFamily="34" charset="-122"/>
                <a:ea typeface="微软雅黑" panose="020B0503020204020204" pitchFamily="34" charset="-122"/>
                <a:cs typeface="Source Han Sans CN Regular" panose="020B0800000000000000" charset="-122"/>
              </a:rPr>
              <a:t>2026年10月</a:t>
            </a:r>
            <a:endParaRPr lang="zh-CN" altLang="en-US" sz="1400" dirty="0">
              <a:latin typeface="微软雅黑" panose="020B0503020204020204" pitchFamily="34" charset="-122"/>
              <a:ea typeface="微软雅黑" panose="020B0503020204020204" pitchFamily="34" charset="-122"/>
              <a:cs typeface="Source Han Sans CN Regular" panose="020B0800000000000000" charset="-122"/>
            </a:endParaRPr>
          </a:p>
        </p:txBody>
      </p:sp>
      <p:sp>
        <p:nvSpPr>
          <p:cNvPr id="3" name="文本框 6"/>
          <p:cNvSpPr txBox="1"/>
          <p:nvPr/>
        </p:nvSpPr>
        <p:spPr>
          <a:xfrm>
            <a:off x="869656" y="1706953"/>
            <a:ext cx="1083050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fontAlgn="base">
              <a:spcBef>
                <a:spcPct val="0"/>
              </a:spcBef>
              <a:spcAft>
                <a:spcPct val="0"/>
              </a:spcAft>
              <a:defRPr/>
            </a:pPr>
            <a:r>
              <a:rPr lang="en-US" altLang="zh-CN" sz="4000" b="1" dirty="0">
                <a:solidFill>
                  <a:srgbClr val="08A8F6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Source Han Sans CN Bold" panose="020B0800000000000000" charset="-122"/>
              </a:rPr>
              <a:t>2026</a:t>
            </a:r>
            <a:r>
              <a:rPr lang="zh-CN" altLang="en-US" sz="4000" b="1" dirty="0">
                <a:solidFill>
                  <a:srgbClr val="08A8F6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Source Han Sans CN Bold" panose="020B0800000000000000" charset="-122"/>
              </a:rPr>
              <a:t>开源鸿蒙大学生创新大赛</a:t>
            </a:r>
            <a:r>
              <a:rPr lang="en-US" altLang="zh-CN" sz="4000" b="1" dirty="0">
                <a:solidFill>
                  <a:srgbClr val="08A8F6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Source Han Sans CN Bold" panose="020B0800000000000000" charset="-122"/>
              </a:rPr>
              <a:t>-</a:t>
            </a:r>
            <a:r>
              <a:rPr lang="zh-CN" altLang="en-US" sz="4000" b="1" dirty="0">
                <a:solidFill>
                  <a:srgbClr val="08A8F6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Source Han Sans CN Bold" panose="020B0800000000000000" charset="-122"/>
              </a:rPr>
              <a:t>赛道一</a:t>
            </a:r>
            <a:endParaRPr lang="en-US" altLang="zh-CN" sz="4800" b="1" dirty="0">
              <a:solidFill>
                <a:srgbClr val="08A8F6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Source Han Sans CN Bold" panose="020B0800000000000000" charset="-122"/>
            </a:endParaRPr>
          </a:p>
        </p:txBody>
      </p:sp>
      <p:sp>
        <p:nvSpPr>
          <p:cNvPr id="4" name="文本框 10"/>
          <p:cNvSpPr txBox="1"/>
          <p:nvPr/>
        </p:nvSpPr>
        <p:spPr>
          <a:xfrm>
            <a:off x="502920" y="2868089"/>
            <a:ext cx="1118311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fontAlgn="base">
              <a:spcBef>
                <a:spcPct val="0"/>
              </a:spcBef>
              <a:spcAft>
                <a:spcPct val="0"/>
              </a:spcAft>
              <a:defRPr/>
            </a:pPr>
            <a:r>
              <a:rPr lang="en-US" altLang="zh-CN" sz="2800" dirty="0" err="1">
                <a:solidFill>
                  <a:srgbClr val="08A8F6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Source Han Sans CN Bold" panose="020B0800000000000000" charset="-122"/>
              </a:rPr>
              <a:t>面向 OpenHarmony 的多模态智能测试系统</a:t>
            </a:r>
            <a:endParaRPr lang="en-US" altLang="zh-CN" sz="2800" dirty="0">
              <a:solidFill>
                <a:srgbClr val="08A8F6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Source Han Sans CN Bold" panose="020B0800000000000000" charset="-122"/>
            </a:endParaRPr>
          </a:p>
        </p:txBody>
      </p:sp>
      <p:pic>
        <p:nvPicPr>
          <p:cNvPr id="5" name="图片 6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-4445"/>
            <a:ext cx="3321050" cy="1042670"/>
          </a:xfrm>
          <a:prstGeom prst="rect">
            <a:avLst/>
          </a:prstGeom>
        </p:spPr>
      </p:pic>
      <p:sp>
        <p:nvSpPr>
          <p:cNvPr id="6" name="SubTitle"/>
          <p:cNvSpPr txBox="1"/>
          <p:nvPr/>
        </p:nvSpPr>
        <p:spPr>
          <a:xfrm>
            <a:off x="502920" y="3547872"/>
            <a:ext cx="11183112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fontAlgn="base">
              <a:spcBef>
                <a:spcPct val="0"/>
              </a:spcBef>
              <a:spcAft>
                <a:spcPct val="0"/>
              </a:spcAft>
              <a:defRPr/>
            </a:pPr>
            <a:endParaRPr lang="en-US" altLang="zh-CN" sz="2000" dirty="0">
              <a:solidFill>
                <a:srgbClr val="08A8F6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Source Han Sans CN Bold" panose="020B0800000000000000" charset="-122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21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圆角矩形 26"/>
          <p:cNvSpPr/>
          <p:nvPr>
            <p:custDataLst>
              <p:tags r:id="rId1"/>
            </p:custDataLst>
          </p:nvPr>
        </p:nvSpPr>
        <p:spPr>
          <a:xfrm>
            <a:off x="2741964" y="1883664"/>
            <a:ext cx="713740" cy="713740"/>
          </a:xfrm>
          <a:prstGeom prst="round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b="1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01</a:t>
            </a:r>
            <a:endParaRPr lang="en-US" altLang="zh-CN" sz="2400" b="1" dirty="0">
              <a:solidFill>
                <a:schemeClr val="tx2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13" name="圆角矩形 26"/>
          <p:cNvSpPr/>
          <p:nvPr>
            <p:custDataLst>
              <p:tags r:id="rId2"/>
            </p:custDataLst>
          </p:nvPr>
        </p:nvSpPr>
        <p:spPr>
          <a:xfrm>
            <a:off x="2741964" y="2752344"/>
            <a:ext cx="713740" cy="713740"/>
          </a:xfrm>
          <a:prstGeom prst="round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b="1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02</a:t>
            </a:r>
            <a:endParaRPr lang="en-US" altLang="zh-CN" sz="2400" b="1" dirty="0">
              <a:solidFill>
                <a:schemeClr val="tx2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14" name="圆角矩形 27"/>
          <p:cNvSpPr/>
          <p:nvPr>
            <p:custDataLst>
              <p:tags r:id="rId3"/>
            </p:custDataLst>
          </p:nvPr>
        </p:nvSpPr>
        <p:spPr>
          <a:xfrm>
            <a:off x="3585244" y="3621024"/>
            <a:ext cx="6855091" cy="713740"/>
          </a:xfrm>
          <a:prstGeom prst="roundRect">
            <a:avLst/>
          </a:prstGeom>
          <a:solidFill>
            <a:schemeClr val="bg1"/>
          </a:solidFill>
          <a:ln>
            <a:solidFill>
              <a:srgbClr val="00B0F0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lIns="360000" rtlCol="0" anchor="ctr" anchorCtr="0"/>
          <a:lstStyle/>
          <a:p>
            <a:pPr marL="0" marR="0" lvl="0" indent="0" algn="l" defTabSz="914400" rtl="0" eaLnBrk="1" fontAlgn="ctr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en-US" sz="2400" b="1" noProof="0" dirty="0">
                <a:ln>
                  <a:noFill/>
                </a:ln>
                <a:solidFill>
                  <a:schemeClr val="tx2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Microsoft YaHei Regular" panose="020B0503020204020204" charset="-122"/>
                <a:sym typeface="+mn-ea"/>
              </a:rPr>
              <a:t>运行结果</a:t>
            </a:r>
            <a:endParaRPr lang="zh-CN" altLang="en-US" sz="2400" b="1" noProof="0" dirty="0">
              <a:ln>
                <a:noFill/>
              </a:ln>
              <a:solidFill>
                <a:schemeClr val="tx2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Microsoft YaHei Regular" panose="020B0503020204020204" charset="-122"/>
              <a:sym typeface="+mn-ea"/>
            </a:endParaRPr>
          </a:p>
        </p:txBody>
      </p:sp>
      <p:sp>
        <p:nvSpPr>
          <p:cNvPr id="215" name="圆角矩形 28"/>
          <p:cNvSpPr/>
          <p:nvPr>
            <p:custDataLst>
              <p:tags r:id="rId4"/>
            </p:custDataLst>
          </p:nvPr>
        </p:nvSpPr>
        <p:spPr>
          <a:xfrm>
            <a:off x="2734344" y="3621024"/>
            <a:ext cx="713740" cy="713740"/>
          </a:xfrm>
          <a:prstGeom prst="round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b="1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03</a:t>
            </a:r>
            <a:endParaRPr lang="en-US" altLang="zh-CN" sz="2400" b="1" dirty="0">
              <a:solidFill>
                <a:schemeClr val="tx2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16" name="圆角矩形 29"/>
          <p:cNvSpPr/>
          <p:nvPr>
            <p:custDataLst>
              <p:tags r:id="rId5"/>
            </p:custDataLst>
          </p:nvPr>
        </p:nvSpPr>
        <p:spPr>
          <a:xfrm>
            <a:off x="3585244" y="4489704"/>
            <a:ext cx="6855091" cy="713740"/>
          </a:xfrm>
          <a:prstGeom prst="roundRect">
            <a:avLst/>
          </a:prstGeom>
          <a:solidFill>
            <a:schemeClr val="bg1"/>
          </a:solidFill>
          <a:ln>
            <a:solidFill>
              <a:srgbClr val="00B0F0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wrap="square" lIns="360000" rtlCol="0" anchorCtr="0"/>
          <a:lstStyle/>
          <a:p>
            <a:pPr marL="0" marR="0" lvl="0" indent="0" algn="l" defTabSz="914400" rtl="0" eaLnBrk="1" fontAlgn="ctr" latinLnBrk="0" hangingPunct="1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ClrTx/>
              <a:buSzTx/>
              <a:buFontTx/>
              <a:buNone/>
              <a:defRPr/>
            </a:pPr>
            <a:r>
              <a:rPr lang="zh-CN" altLang="en-US" sz="2400" b="1" noProof="0" dirty="0">
                <a:ln>
                  <a:noFill/>
                </a:ln>
                <a:solidFill>
                  <a:schemeClr val="tx2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Microsoft YaHei Regular" panose="020B0503020204020204" charset="-122"/>
                <a:sym typeface="+mn-ea"/>
              </a:rPr>
              <a:t>创新总结</a:t>
            </a:r>
            <a:r>
              <a:rPr lang="zh-CN" altLang="en-US" sz="2400" b="1" noProof="0" dirty="0">
                <a:ln>
                  <a:noFill/>
                </a:ln>
                <a:solidFill>
                  <a:schemeClr val="tx2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Microsoft YaHei Regular" panose="020B0503020204020204" charset="-122"/>
                <a:sym typeface="+mn-ea"/>
              </a:rPr>
              <a:t>与命题对照</a:t>
            </a:r>
            <a:endParaRPr lang="zh-CN" altLang="en-US" sz="2400" b="1" noProof="0" dirty="0">
              <a:ln>
                <a:noFill/>
              </a:ln>
              <a:solidFill>
                <a:schemeClr val="tx2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Microsoft YaHei Regular" panose="020B0503020204020204" charset="-122"/>
              <a:sym typeface="+mn-ea"/>
            </a:endParaRPr>
          </a:p>
        </p:txBody>
      </p:sp>
      <p:sp>
        <p:nvSpPr>
          <p:cNvPr id="217" name="圆角矩形 30"/>
          <p:cNvSpPr/>
          <p:nvPr>
            <p:custDataLst>
              <p:tags r:id="rId6"/>
            </p:custDataLst>
          </p:nvPr>
        </p:nvSpPr>
        <p:spPr>
          <a:xfrm>
            <a:off x="2734344" y="4489704"/>
            <a:ext cx="713740" cy="713740"/>
          </a:xfrm>
          <a:prstGeom prst="round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b="1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04</a:t>
            </a:r>
            <a:endParaRPr lang="en-US" altLang="zh-CN" sz="2400" b="1" dirty="0">
              <a:solidFill>
                <a:schemeClr val="tx2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18" name="圆角矩形 44"/>
          <p:cNvSpPr/>
          <p:nvPr>
            <p:custDataLst>
              <p:tags r:id="rId7"/>
            </p:custDataLst>
          </p:nvPr>
        </p:nvSpPr>
        <p:spPr>
          <a:xfrm>
            <a:off x="3597944" y="1883664"/>
            <a:ext cx="6855091" cy="713740"/>
          </a:xfrm>
          <a:prstGeom prst="roundRect">
            <a:avLst/>
          </a:prstGeom>
          <a:solidFill>
            <a:schemeClr val="bg1"/>
          </a:solidFill>
          <a:ln>
            <a:solidFill>
              <a:srgbClr val="00B0F0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lIns="360000" rtlCol="0" anchor="ctr" anchorCtr="0"/>
          <a:lstStyle/>
          <a:p>
            <a:pPr marL="0" marR="0" lvl="0" indent="0" algn="l" defTabSz="914400" rtl="0" eaLnBrk="1" fontAlgn="ctr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en-US" sz="2400" b="1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Microsoft YaHei Regular" panose="020B0503020204020204" charset="-122"/>
                <a:sym typeface="+mn-ea"/>
              </a:rPr>
              <a:t>命题与背景</a:t>
            </a:r>
            <a:endParaRPr lang="zh-CN" altLang="en-US" sz="2400" b="1" dirty="0">
              <a:solidFill>
                <a:schemeClr val="tx2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Microsoft YaHei Regular" panose="020B0503020204020204" charset="-122"/>
              <a:sym typeface="+mn-ea"/>
            </a:endParaRPr>
          </a:p>
        </p:txBody>
      </p:sp>
      <p:sp>
        <p:nvSpPr>
          <p:cNvPr id="219" name="圆角矩形 44"/>
          <p:cNvSpPr/>
          <p:nvPr>
            <p:custDataLst>
              <p:tags r:id="rId8"/>
            </p:custDataLst>
          </p:nvPr>
        </p:nvSpPr>
        <p:spPr>
          <a:xfrm>
            <a:off x="3597944" y="2752344"/>
            <a:ext cx="6855091" cy="713740"/>
          </a:xfrm>
          <a:prstGeom prst="roundRect">
            <a:avLst/>
          </a:prstGeom>
          <a:solidFill>
            <a:schemeClr val="bg1"/>
          </a:solidFill>
          <a:ln>
            <a:solidFill>
              <a:srgbClr val="00B0F0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lIns="360000" rtlCol="0" anchor="ctr" anchorCtr="0"/>
          <a:lstStyle/>
          <a:p>
            <a:pPr marL="0" marR="0" lvl="0" indent="0" algn="l" defTabSz="914400" rtl="0" eaLnBrk="1" fontAlgn="ctr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en-US" sz="2400" b="1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Microsoft YaHei Regular" panose="020B0503020204020204" charset="-122"/>
                <a:sym typeface="+mn-ea"/>
              </a:rPr>
              <a:t>系统与功能</a:t>
            </a:r>
            <a:endParaRPr lang="zh-CN" altLang="en-US" sz="2400" b="1" dirty="0">
              <a:solidFill>
                <a:schemeClr val="tx2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Microsoft YaHei Regular" panose="020B0503020204020204" charset="-122"/>
              <a:sym typeface="+mn-ea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67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Text Placeholder 1"/>
          <p:cNvSpPr>
            <a:spLocks noGrp="1"/>
          </p:cNvSpPr>
          <p:nvPr>
            <p:ph type="body" sz="quarter" idx="13"/>
          </p:nvPr>
        </p:nvSpPr>
        <p:spPr>
          <a:xfrm>
            <a:off x="215067" y="171415"/>
            <a:ext cx="8778240" cy="0"/>
          </a:xfrm>
        </p:spPr>
        <p:txBody>
          <a:bodyPr wrap="square"/>
          <a:lstStyle/>
          <a:p>
            <a:pPr algn="l">
              <a:spcAft>
                <a:spcPts val="400"/>
              </a:spcAft>
              <a:buClrTx/>
              <a:buSzTx/>
            </a:pPr>
            <a:r>
              <a:rPr sz="2400">
                <a:solidFill>
                  <a:srgbClr val="0879C9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01 命题背景</a:t>
            </a:r>
            <a:endParaRPr sz="2400">
              <a:solidFill>
                <a:srgbClr val="0879C9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69" name="TextBox 3"/>
          <p:cNvSpPr txBox="1"/>
          <p:nvPr/>
        </p:nvSpPr>
        <p:spPr>
          <a:xfrm>
            <a:off x="508000" y="1031240"/>
            <a:ext cx="11176000" cy="65341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879C9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OpenHarmony 北向应用生态建设中，应用质量验证直接影响用户体验与生态成熟度。</a:t>
            </a:r>
            <a:endParaRPr sz="2000" b="1">
              <a:solidFill>
                <a:srgbClr val="0879C9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879C9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而验证目前主要靠 UI 自动化脚本，脚本编写却仍是人工作业。</a:t>
            </a:r>
            <a:endParaRPr sz="2000" b="1">
              <a:solidFill>
                <a:srgbClr val="0879C9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70" name="Rounded Rectangle 4"/>
          <p:cNvSpPr/>
          <p:nvPr/>
        </p:nvSpPr>
        <p:spPr>
          <a:xfrm>
            <a:off x="508000" y="2235200"/>
            <a:ext cx="3556000" cy="1473200"/>
          </a:xfrm>
          <a:prstGeom prst="roundRect">
            <a:avLst>
              <a:gd name="adj" fmla="val 7000"/>
            </a:avLst>
          </a:prstGeom>
          <a:solidFill>
            <a:srgbClr val="E6F6FE"/>
          </a:solidFill>
          <a:ln w="12700">
            <a:solidFill>
              <a:srgbClr val="BFE6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800" tIns="114300" rIns="177800" bIns="114300" rtlCol="0" anchor="t"/>
          <a:lstStyle/>
          <a:p>
            <a:pPr algn="l">
              <a:spcAft>
                <a:spcPts val="500"/>
              </a:spcAft>
              <a:buClrTx/>
              <a:buSzTx/>
              <a:buFontTx/>
            </a:pPr>
            <a:r>
              <a:rPr sz="1700" b="1">
                <a:solidFill>
                  <a:srgbClr val="08A8F6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人工耗时耗力</a:t>
            </a:r>
            <a:endParaRPr sz="1700" b="1">
              <a:solidFill>
                <a:srgbClr val="08A8F6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spcAft>
                <a:spcPts val="500"/>
              </a:spcAft>
            </a:pPr>
            <a:r>
              <a:rPr sz="1800" b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复杂页面、核心流程、异常复现、压力测试、探索性测试，都要人工理解</a:t>
            </a:r>
            <a:endParaRPr sz="1800" b="0">
              <a:solidFill>
                <a:srgbClr val="1A1A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71" name="Rounded Rectangle 5"/>
          <p:cNvSpPr/>
          <p:nvPr/>
        </p:nvSpPr>
        <p:spPr>
          <a:xfrm>
            <a:off x="4318000" y="2235200"/>
            <a:ext cx="3556000" cy="1473200"/>
          </a:xfrm>
          <a:prstGeom prst="roundRect">
            <a:avLst>
              <a:gd name="adj" fmla="val 7000"/>
            </a:avLst>
          </a:prstGeom>
          <a:solidFill>
            <a:srgbClr val="E6F6FE"/>
          </a:solidFill>
          <a:ln w="12700">
            <a:solidFill>
              <a:srgbClr val="BFE6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800" tIns="114300" rIns="177800" bIns="114300" rtlCol="0" anchor="t"/>
          <a:lstStyle/>
          <a:p>
            <a:pPr algn="l">
              <a:spcAft>
                <a:spcPts val="500"/>
              </a:spcAft>
              <a:buClrTx/>
              <a:buSzTx/>
              <a:buFontTx/>
            </a:pPr>
            <a:r>
              <a:rPr sz="1700" b="1">
                <a:solidFill>
                  <a:srgbClr val="08A8F6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失败无法归因</a:t>
            </a:r>
            <a:endParaRPr sz="1700" b="1">
              <a:solidFill>
                <a:srgbClr val="08A8F6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spcAft>
                <a:spcPts val="500"/>
              </a:spcAft>
            </a:pPr>
            <a:r>
              <a:rPr b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更换应用或升级版本即失效；新页面与异常路径覆盖不到，复用性差。</a:t>
            </a:r>
            <a:endParaRPr b="0">
              <a:solidFill>
                <a:srgbClr val="1A1A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72" name="Rounded Rectangle 6"/>
          <p:cNvSpPr/>
          <p:nvPr/>
        </p:nvSpPr>
        <p:spPr>
          <a:xfrm>
            <a:off x="8232140" y="2235200"/>
            <a:ext cx="3556000" cy="1473200"/>
          </a:xfrm>
          <a:prstGeom prst="roundRect">
            <a:avLst>
              <a:gd name="adj" fmla="val 7000"/>
            </a:avLst>
          </a:prstGeom>
          <a:solidFill>
            <a:srgbClr val="E6F6FE"/>
          </a:solidFill>
          <a:ln w="12700">
            <a:solidFill>
              <a:srgbClr val="BFE6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800" tIns="114300" rIns="177800" bIns="114300" rtlCol="0" anchor="t"/>
          <a:lstStyle/>
          <a:p>
            <a:pPr algn="l">
              <a:spcAft>
                <a:spcPts val="500"/>
              </a:spcAft>
              <a:buClrTx/>
              <a:buSzTx/>
              <a:buFontTx/>
            </a:pPr>
            <a:r>
              <a:rPr sz="1700" b="1">
                <a:solidFill>
                  <a:srgbClr val="08A8F6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质量缺乏可信度</a:t>
            </a:r>
            <a:endParaRPr sz="1700" b="1">
              <a:solidFill>
                <a:srgbClr val="08A8F6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spcAft>
                <a:spcPts val="500"/>
              </a:spcAft>
            </a:pPr>
            <a:r>
              <a:rPr b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框架只报步骤失败；脚本普遍没有断言，通过率高也未必反映真实质量。</a:t>
            </a:r>
            <a:endParaRPr b="0">
              <a:solidFill>
                <a:srgbClr val="1A1A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74" name="Rounded Rectangle 8"/>
          <p:cNvSpPr/>
          <p:nvPr/>
        </p:nvSpPr>
        <p:spPr>
          <a:xfrm>
            <a:off x="508000" y="4445000"/>
            <a:ext cx="11176000" cy="1498600"/>
          </a:xfrm>
          <a:prstGeom prst="roundRect">
            <a:avLst>
              <a:gd name="adj" fmla="val 7000"/>
            </a:avLst>
          </a:prstGeom>
          <a:solidFill>
            <a:srgbClr val="E6F6FE"/>
          </a:solidFill>
          <a:ln w="12700">
            <a:solidFill>
              <a:srgbClr val="BFE6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800" tIns="114300" rIns="177800" bIns="114300" rtlCol="0" anchor="t"/>
          <a:lstStyle/>
          <a:p>
            <a:pPr algn="l">
              <a:spcAft>
                <a:spcPts val="500"/>
              </a:spcAft>
            </a:pPr>
            <a:r>
              <a:rPr sz="1700" b="1">
                <a:solidFill>
                  <a:srgbClr val="08A8F6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命题指出的新路径</a:t>
            </a:r>
            <a:endParaRPr sz="1700" b="1">
              <a:solidFill>
                <a:srgbClr val="08A8F6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spcAft>
                <a:spcPts val="500"/>
              </a:spcAft>
            </a:pPr>
            <a:r>
              <a:rPr sz="1600" b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截图 · 界面布局 · 控件树 · 日志 · 用户描述 —— 多源信息感知应用当前状态</a:t>
            </a:r>
            <a:endParaRPr sz="1600" b="0">
              <a:solidFill>
                <a:srgbClr val="1A1A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spcAft>
                <a:spcPts val="500"/>
              </a:spcAft>
            </a:pPr>
            <a:r>
              <a:rPr sz="1600" b="1">
                <a:solidFill>
                  <a:srgbClr val="0879C9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自动探索核心场景，生成可复用的 UI 测试用例脚本，把「人写脚本」换成「系统生成脚本」。</a:t>
            </a:r>
            <a:endParaRPr sz="1600" b="1">
              <a:solidFill>
                <a:srgbClr val="0879C9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75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Text Placeholder 1"/>
          <p:cNvSpPr>
            <a:spLocks noGrp="1"/>
          </p:cNvSpPr>
          <p:nvPr>
            <p:ph type="body" sz="quarter" idx="13"/>
          </p:nvPr>
        </p:nvSpPr>
        <p:spPr>
          <a:xfrm>
            <a:off x="215067" y="171415"/>
            <a:ext cx="8778240" cy="0"/>
          </a:xfrm>
        </p:spPr>
        <p:txBody>
          <a:bodyPr wrap="square"/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0879C9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01 多模态自动化测试系统</a:t>
            </a:r>
            <a:endParaRPr sz="2800" b="0">
              <a:solidFill>
                <a:srgbClr val="1A1A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77" name="全景-应用"/>
          <p:cNvSpPr/>
          <p:nvPr/>
        </p:nvSpPr>
        <p:spPr>
          <a:xfrm>
            <a:off x="508000" y="812800"/>
            <a:ext cx="11176000" cy="660400"/>
          </a:xfrm>
          <a:prstGeom prst="roundRect">
            <a:avLst>
              <a:gd name="adj" fmla="val 16000"/>
            </a:avLst>
          </a:prstGeom>
          <a:solidFill>
            <a:srgbClr val="F2F6FA"/>
          </a:solidFill>
          <a:ln>
            <a:noFill/>
          </a:ln>
          <a:effectLst/>
        </p:spPr>
        <p:txBody>
          <a:bodyPr wrap="square" lIns="279400" rtlCol="0" anchor="ctr"/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0B4A77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被测应用</a:t>
            </a:r>
            <a:r>
              <a:rPr sz="1600" b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　不修改、不插桩，设备侧零部署；应用内不含任何测试组件</a:t>
            </a:r>
            <a:endParaRPr sz="1600" b="0">
              <a:solidFill>
                <a:srgbClr val="1A1A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78" name="全景-a1"/>
          <p:cNvSpPr/>
          <p:nvPr/>
        </p:nvSpPr>
        <p:spPr>
          <a:xfrm>
            <a:off x="6007100" y="1498600"/>
            <a:ext cx="177800" cy="279400"/>
          </a:xfrm>
          <a:prstGeom prst="downArrow">
            <a:avLst/>
          </a:prstGeom>
          <a:solidFill>
            <a:srgbClr val="4FA9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9" name="全景-通道"/>
          <p:cNvSpPr/>
          <p:nvPr/>
        </p:nvSpPr>
        <p:spPr>
          <a:xfrm>
            <a:off x="508000" y="1778000"/>
            <a:ext cx="11176000" cy="558800"/>
          </a:xfrm>
          <a:prstGeom prst="roundRect">
            <a:avLst>
              <a:gd name="adj" fmla="val 20000"/>
            </a:avLst>
          </a:prstGeom>
          <a:solidFill>
            <a:srgbClr val="E8F5FE"/>
          </a:solidFill>
          <a:ln>
            <a:noFill/>
          </a:ln>
          <a:effectLst/>
        </p:spPr>
        <p:txBody>
          <a:bodyPr wrap="square" lIns="279400" rtlCol="0" anchor="ctr"/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0879C9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只读通道</a:t>
            </a:r>
            <a:r>
              <a:rPr sz="1600" b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　控件树 · 截图 · 日志与设备状态，不写入设备</a:t>
            </a:r>
            <a:endParaRPr sz="1600" b="0">
              <a:solidFill>
                <a:srgbClr val="1A1A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80" name="全景-a2"/>
          <p:cNvSpPr/>
          <p:nvPr/>
        </p:nvSpPr>
        <p:spPr>
          <a:xfrm>
            <a:off x="6007100" y="2362200"/>
            <a:ext cx="177800" cy="254000"/>
          </a:xfrm>
          <a:prstGeom prst="downArrow">
            <a:avLst/>
          </a:prstGeom>
          <a:solidFill>
            <a:srgbClr val="4FA9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1" name="全景-功能1"/>
          <p:cNvSpPr/>
          <p:nvPr/>
        </p:nvSpPr>
        <p:spPr>
          <a:xfrm>
            <a:off x="508000" y="2616200"/>
            <a:ext cx="3589909" cy="1905000"/>
          </a:xfrm>
          <a:prstGeom prst="roundRect">
            <a:avLst>
              <a:gd name="adj" fmla="val 10000"/>
            </a:avLst>
          </a:prstGeom>
          <a:solidFill>
            <a:srgbClr val="E3F2FD"/>
          </a:solidFill>
          <a:ln>
            <a:noFill/>
          </a:ln>
          <a:effectLst/>
        </p:spPr>
        <p:txBody>
          <a:bodyPr wrap="square" lIns="228600" tIns="177800" rIns="177800" bIns="152400" rtlCol="0" anchor="ctr"/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800" b="1">
                <a:solidFill>
                  <a:srgbClr val="0B4A77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① 感知与定位</a:t>
            </a:r>
            <a:endParaRPr sz="1800" b="1">
              <a:solidFill>
                <a:srgbClr val="0B4A77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lnSpc>
                <a:spcPct val="100000"/>
              </a:lnSpc>
            </a:pPr>
            <a:r>
              <a:rPr sz="1600" b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源码、控件树、截图、文字四路证据；控件树不足则逐级降级到视觉与文字。</a:t>
            </a:r>
            <a:endParaRPr sz="1600" b="0">
              <a:solidFill>
                <a:srgbClr val="1A1A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82" name="全景-功能2"/>
          <p:cNvSpPr/>
          <p:nvPr/>
        </p:nvSpPr>
        <p:spPr>
          <a:xfrm>
            <a:off x="4301109" y="2616200"/>
            <a:ext cx="3589909" cy="1905000"/>
          </a:xfrm>
          <a:prstGeom prst="roundRect">
            <a:avLst>
              <a:gd name="adj" fmla="val 10000"/>
            </a:avLst>
          </a:prstGeom>
          <a:solidFill>
            <a:srgbClr val="C6E4F9"/>
          </a:solidFill>
          <a:ln>
            <a:noFill/>
          </a:ln>
          <a:effectLst/>
        </p:spPr>
        <p:txBody>
          <a:bodyPr wrap="square" lIns="228600" tIns="177800" rIns="177800" bIns="152400" rtlCol="0" anchor="ctr"/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800" b="1">
                <a:solidFill>
                  <a:srgbClr val="0B4A77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② 探索与生成</a:t>
            </a:r>
            <a:endParaRPr sz="1800" b="1">
              <a:solidFill>
                <a:srgbClr val="0B4A77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lnSpc>
                <a:spcPct val="100000"/>
              </a:lnSpc>
            </a:pPr>
            <a:r>
              <a:rPr sz="1600" b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自动遍历页面产出状态图；一句话或一段轨迹转成可执行用例。</a:t>
            </a:r>
            <a:endParaRPr sz="1600" b="0">
              <a:solidFill>
                <a:srgbClr val="1A1A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83" name="全景-功能3"/>
          <p:cNvSpPr/>
          <p:nvPr/>
        </p:nvSpPr>
        <p:spPr>
          <a:xfrm>
            <a:off x="8094091" y="2616200"/>
            <a:ext cx="3589909" cy="1905000"/>
          </a:xfrm>
          <a:prstGeom prst="roundRect">
            <a:avLst>
              <a:gd name="adj" fmla="val 10000"/>
            </a:avLst>
          </a:prstGeom>
          <a:solidFill>
            <a:srgbClr val="A8D2F2"/>
          </a:solidFill>
          <a:ln>
            <a:noFill/>
          </a:ln>
          <a:effectLst/>
        </p:spPr>
        <p:txBody>
          <a:bodyPr wrap="square" lIns="228600" tIns="177800" rIns="177800" bIns="152400" rtlCol="0" anchor="ctr"/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800" b="1">
                <a:solidFill>
                  <a:srgbClr val="0B4A77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③ 执行与归因</a:t>
            </a:r>
            <a:endParaRPr sz="1800" b="1">
              <a:solidFill>
                <a:srgbClr val="0B4A77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lnSpc>
                <a:spcPct val="100000"/>
              </a:lnSpc>
            </a:pPr>
            <a:r>
              <a:rPr sz="1600" b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等页面稳定再操作；失败取六类证据，分四类归因。</a:t>
            </a:r>
            <a:endParaRPr sz="1600" b="0">
              <a:solidFill>
                <a:srgbClr val="1A1A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84" name="全景-a3"/>
          <p:cNvSpPr/>
          <p:nvPr/>
        </p:nvSpPr>
        <p:spPr>
          <a:xfrm>
            <a:off x="6007100" y="4546600"/>
            <a:ext cx="177800" cy="279400"/>
          </a:xfrm>
          <a:prstGeom prst="downArrow">
            <a:avLst/>
          </a:prstGeom>
          <a:solidFill>
            <a:srgbClr val="4FA9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5" name="全景-产出1"/>
          <p:cNvSpPr/>
          <p:nvPr/>
        </p:nvSpPr>
        <p:spPr>
          <a:xfrm>
            <a:off x="508000" y="4826000"/>
            <a:ext cx="3589909" cy="660400"/>
          </a:xfrm>
          <a:prstGeom prst="roundRect">
            <a:avLst>
              <a:gd name="adj" fmla="val 18000"/>
            </a:avLst>
          </a:prstGeom>
          <a:solidFill>
            <a:srgbClr val="F4FAFF"/>
          </a:solidFill>
          <a:ln w="12700">
            <a:solidFill>
              <a:srgbClr val="CFE6F7"/>
            </a:solidFill>
          </a:ln>
          <a:effectLst/>
        </p:spPr>
        <p:txBody>
          <a:bodyPr wrap="square" rtlCol="0" anchor="ctr"/>
          <a:lstStyle/>
          <a:p>
            <a:pPr algn="ctr">
              <a:lnSpc>
                <a:spcPct val="100000"/>
              </a:lnSpc>
            </a:pPr>
            <a:r>
              <a:rPr sz="1600" b="1">
                <a:solidFill>
                  <a:srgbClr val="0879C9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产出　</a:t>
            </a:r>
            <a:r>
              <a:rPr sz="1600" b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结构化用例与 Hypium 脚本</a:t>
            </a:r>
            <a:endParaRPr sz="1600" b="0">
              <a:solidFill>
                <a:srgbClr val="1A1A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86" name="全景-产出2"/>
          <p:cNvSpPr/>
          <p:nvPr/>
        </p:nvSpPr>
        <p:spPr>
          <a:xfrm>
            <a:off x="4301109" y="4826000"/>
            <a:ext cx="3589909" cy="660400"/>
          </a:xfrm>
          <a:prstGeom prst="roundRect">
            <a:avLst>
              <a:gd name="adj" fmla="val 18000"/>
            </a:avLst>
          </a:prstGeom>
          <a:solidFill>
            <a:srgbClr val="ECF6FE"/>
          </a:solidFill>
          <a:ln w="12700">
            <a:solidFill>
              <a:srgbClr val="CFE6F7"/>
            </a:solidFill>
          </a:ln>
          <a:effectLst/>
        </p:spPr>
        <p:txBody>
          <a:bodyPr wrap="square" rtlCol="0" anchor="ctr"/>
          <a:lstStyle/>
          <a:p>
            <a:pPr algn="ctr">
              <a:lnSpc>
                <a:spcPct val="100000"/>
              </a:lnSpc>
            </a:pPr>
            <a:r>
              <a:rPr sz="1600" b="1">
                <a:solidFill>
                  <a:srgbClr val="0879C9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产出　</a:t>
            </a:r>
            <a:r>
              <a:rPr sz="1600" b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执行与归因报告</a:t>
            </a:r>
            <a:endParaRPr sz="1600" b="0">
              <a:solidFill>
                <a:srgbClr val="1A1A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87" name="全景-产出3"/>
          <p:cNvSpPr/>
          <p:nvPr/>
        </p:nvSpPr>
        <p:spPr>
          <a:xfrm>
            <a:off x="8094091" y="4826000"/>
            <a:ext cx="3589909" cy="660400"/>
          </a:xfrm>
          <a:prstGeom prst="roundRect">
            <a:avLst>
              <a:gd name="adj" fmla="val 18000"/>
            </a:avLst>
          </a:prstGeom>
          <a:solidFill>
            <a:srgbClr val="E4F2FD"/>
          </a:solidFill>
          <a:ln w="12700">
            <a:solidFill>
              <a:srgbClr val="CFE6F7"/>
            </a:solidFill>
          </a:ln>
          <a:effectLst/>
        </p:spPr>
        <p:txBody>
          <a:bodyPr wrap="square" rtlCol="0" anchor="ctr"/>
          <a:lstStyle/>
          <a:p>
            <a:pPr algn="ctr">
              <a:lnSpc>
                <a:spcPct val="100000"/>
              </a:lnSpc>
            </a:pPr>
            <a:r>
              <a:rPr sz="1600" b="1">
                <a:solidFill>
                  <a:srgbClr val="0879C9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产出　</a:t>
            </a:r>
            <a:r>
              <a:rPr sz="1600" b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可重放回归集</a:t>
            </a:r>
            <a:endParaRPr sz="1600" b="0">
              <a:solidFill>
                <a:srgbClr val="1A1A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88" name="全景-脚注"/>
          <p:cNvSpPr txBox="1"/>
          <p:nvPr/>
        </p:nvSpPr>
        <p:spPr>
          <a:xfrm>
            <a:off x="508000" y="5638800"/>
            <a:ext cx="11176000" cy="330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4A6B8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系统在设备外部完成观察、生成、执行与归因；三类产出可直接交付开发、评审与下一轮回归。</a:t>
            </a:r>
            <a:endParaRPr sz="1600" b="0">
              <a:solidFill>
                <a:srgbClr val="4A6B8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84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Text Placeholder 1"/>
          <p:cNvSpPr>
            <a:spLocks noGrp="1"/>
          </p:cNvSpPr>
          <p:nvPr>
            <p:ph type="body" sz="quarter" idx="13"/>
          </p:nvPr>
        </p:nvSpPr>
        <p:spPr>
          <a:xfrm>
            <a:off x="215067" y="171415"/>
            <a:ext cx="8778240" cy="0"/>
          </a:xfrm>
        </p:spPr>
        <p:txBody>
          <a:bodyPr wrap="square"/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0879C9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02 系统总体框架：七个环节</a:t>
            </a:r>
            <a:endParaRPr sz="2800" b="0">
              <a:solidFill>
                <a:srgbClr val="1A1A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86" name="流1"/>
          <p:cNvSpPr/>
          <p:nvPr/>
        </p:nvSpPr>
        <p:spPr>
          <a:xfrm>
            <a:off x="508000" y="1066800"/>
            <a:ext cx="1879600" cy="812800"/>
          </a:xfrm>
          <a:prstGeom prst="chevron">
            <a:avLst>
              <a:gd name="adj" fmla="val 34000"/>
            </a:avLst>
          </a:prstGeom>
          <a:solidFill>
            <a:srgbClr val="EAF6FE"/>
          </a:solidFill>
          <a:ln>
            <a:noFill/>
          </a:ln>
          <a:effectLst/>
        </p:spPr>
        <p:txBody>
          <a:bodyPr wrap="square" lIns="381000" rIns="127000" rtlCol="0" anchor="ctr"/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0B4A77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采集</a:t>
            </a:r>
            <a:endParaRPr sz="1800" b="1">
              <a:solidFill>
                <a:srgbClr val="0B4A77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87" name="流号1"/>
          <p:cNvSpPr txBox="1"/>
          <p:nvPr/>
        </p:nvSpPr>
        <p:spPr>
          <a:xfrm>
            <a:off x="889000" y="1168400"/>
            <a:ext cx="508000" cy="228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0B4A77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01</a:t>
            </a:r>
            <a:endParaRPr sz="1600" b="1">
              <a:solidFill>
                <a:srgbClr val="0B4A77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88" name="流产出1"/>
          <p:cNvSpPr txBox="1"/>
          <p:nvPr/>
        </p:nvSpPr>
        <p:spPr>
          <a:xfrm>
            <a:off x="736600" y="2641600"/>
            <a:ext cx="1498600" cy="660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0">
                <a:solidFill>
                  <a:srgbClr val="0879C9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→ 截图与控件树</a:t>
            </a:r>
            <a:endParaRPr sz="1600" b="0">
              <a:solidFill>
                <a:srgbClr val="0879C9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89" name="流2"/>
          <p:cNvSpPr/>
          <p:nvPr/>
        </p:nvSpPr>
        <p:spPr>
          <a:xfrm>
            <a:off x="2032000" y="1066800"/>
            <a:ext cx="1879600" cy="812800"/>
          </a:xfrm>
          <a:prstGeom prst="chevron">
            <a:avLst>
              <a:gd name="adj" fmla="val 34000"/>
            </a:avLst>
          </a:prstGeom>
          <a:solidFill>
            <a:srgbClr val="DCF0FD"/>
          </a:solidFill>
          <a:ln>
            <a:noFill/>
          </a:ln>
          <a:effectLst/>
        </p:spPr>
        <p:txBody>
          <a:bodyPr wrap="square" lIns="381000" rIns="127000" rtlCol="0" anchor="ctr"/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0B4A77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理解</a:t>
            </a:r>
            <a:endParaRPr sz="1800" b="1">
              <a:solidFill>
                <a:srgbClr val="0B4A77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90" name="流号2"/>
          <p:cNvSpPr txBox="1"/>
          <p:nvPr/>
        </p:nvSpPr>
        <p:spPr>
          <a:xfrm>
            <a:off x="2413000" y="1168400"/>
            <a:ext cx="508000" cy="228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0B4A77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02</a:t>
            </a:r>
            <a:endParaRPr sz="1600" b="1">
              <a:solidFill>
                <a:srgbClr val="0B4A77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91" name="流产出2"/>
          <p:cNvSpPr txBox="1"/>
          <p:nvPr/>
        </p:nvSpPr>
        <p:spPr>
          <a:xfrm>
            <a:off x="2260600" y="2641600"/>
            <a:ext cx="1498600" cy="660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0">
                <a:solidFill>
                  <a:srgbClr val="0879C9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→ 控件清单</a:t>
            </a:r>
            <a:endParaRPr sz="1600" b="0">
              <a:solidFill>
                <a:srgbClr val="0879C9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92" name="流3"/>
          <p:cNvSpPr/>
          <p:nvPr/>
        </p:nvSpPr>
        <p:spPr>
          <a:xfrm>
            <a:off x="3556000" y="1066800"/>
            <a:ext cx="1879600" cy="812800"/>
          </a:xfrm>
          <a:prstGeom prst="chevron">
            <a:avLst>
              <a:gd name="adj" fmla="val 34000"/>
            </a:avLst>
          </a:prstGeom>
          <a:solidFill>
            <a:srgbClr val="CEE9FC"/>
          </a:solidFill>
          <a:ln>
            <a:noFill/>
          </a:ln>
          <a:effectLst/>
        </p:spPr>
        <p:txBody>
          <a:bodyPr wrap="square" lIns="381000" rIns="127000" rtlCol="0" anchor="ctr"/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0B4A77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规划</a:t>
            </a:r>
            <a:endParaRPr sz="1800" b="1">
              <a:solidFill>
                <a:srgbClr val="0B4A77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93" name="流号3"/>
          <p:cNvSpPr txBox="1"/>
          <p:nvPr/>
        </p:nvSpPr>
        <p:spPr>
          <a:xfrm>
            <a:off x="3937000" y="1168400"/>
            <a:ext cx="508000" cy="228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0B4A77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03</a:t>
            </a:r>
            <a:endParaRPr sz="1600" b="1">
              <a:solidFill>
                <a:srgbClr val="0B4A77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94" name="流产出3"/>
          <p:cNvSpPr txBox="1"/>
          <p:nvPr/>
        </p:nvSpPr>
        <p:spPr>
          <a:xfrm>
            <a:off x="3784600" y="2641600"/>
            <a:ext cx="1498600" cy="660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0">
                <a:solidFill>
                  <a:srgbClr val="0879C9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→ 页面状态图</a:t>
            </a:r>
            <a:endParaRPr sz="1600" b="0">
              <a:solidFill>
                <a:srgbClr val="0879C9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95" name="流4"/>
          <p:cNvSpPr/>
          <p:nvPr/>
        </p:nvSpPr>
        <p:spPr>
          <a:xfrm>
            <a:off x="5080000" y="1066800"/>
            <a:ext cx="1879600" cy="812800"/>
          </a:xfrm>
          <a:prstGeom prst="chevron">
            <a:avLst>
              <a:gd name="adj" fmla="val 34000"/>
            </a:avLst>
          </a:prstGeom>
          <a:solidFill>
            <a:srgbClr val="BEE1F9"/>
          </a:solidFill>
          <a:ln>
            <a:noFill/>
          </a:ln>
          <a:effectLst/>
        </p:spPr>
        <p:txBody>
          <a:bodyPr wrap="square" lIns="381000" rIns="127000" rtlCol="0" anchor="ctr"/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0B4A77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生成</a:t>
            </a:r>
            <a:endParaRPr sz="1800" b="1">
              <a:solidFill>
                <a:srgbClr val="0B4A77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96" name="流号4"/>
          <p:cNvSpPr txBox="1"/>
          <p:nvPr/>
        </p:nvSpPr>
        <p:spPr>
          <a:xfrm>
            <a:off x="5461000" y="1168400"/>
            <a:ext cx="508000" cy="228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0B4A77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04</a:t>
            </a:r>
            <a:endParaRPr sz="1600" b="1">
              <a:solidFill>
                <a:srgbClr val="0B4A77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97" name="流产出4"/>
          <p:cNvSpPr txBox="1"/>
          <p:nvPr/>
        </p:nvSpPr>
        <p:spPr>
          <a:xfrm>
            <a:off x="5308600" y="2641600"/>
            <a:ext cx="1498600" cy="660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0">
                <a:solidFill>
                  <a:srgbClr val="0879C9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→ 可执行用例</a:t>
            </a:r>
            <a:endParaRPr sz="1600" b="0">
              <a:solidFill>
                <a:srgbClr val="0879C9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98" name="流5"/>
          <p:cNvSpPr/>
          <p:nvPr/>
        </p:nvSpPr>
        <p:spPr>
          <a:xfrm>
            <a:off x="6604000" y="1066800"/>
            <a:ext cx="1879600" cy="812800"/>
          </a:xfrm>
          <a:prstGeom prst="chevron">
            <a:avLst>
              <a:gd name="adj" fmla="val 34000"/>
            </a:avLst>
          </a:prstGeom>
          <a:solidFill>
            <a:srgbClr val="AED8F6"/>
          </a:solidFill>
          <a:ln>
            <a:noFill/>
          </a:ln>
          <a:effectLst/>
        </p:spPr>
        <p:txBody>
          <a:bodyPr wrap="square" lIns="381000" rIns="127000" rtlCol="0" anchor="ctr"/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0B4A77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执行</a:t>
            </a:r>
            <a:endParaRPr sz="1800" b="1">
              <a:solidFill>
                <a:srgbClr val="0B4A77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99" name="流号5"/>
          <p:cNvSpPr txBox="1"/>
          <p:nvPr/>
        </p:nvSpPr>
        <p:spPr>
          <a:xfrm>
            <a:off x="6985000" y="1168400"/>
            <a:ext cx="508000" cy="228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0B4A77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05</a:t>
            </a:r>
            <a:endParaRPr sz="1600" b="1">
              <a:solidFill>
                <a:srgbClr val="0B4A77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00" name="流产出5"/>
          <p:cNvSpPr txBox="1"/>
          <p:nvPr/>
        </p:nvSpPr>
        <p:spPr>
          <a:xfrm>
            <a:off x="6832600" y="2641600"/>
            <a:ext cx="1498600" cy="660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0">
                <a:solidFill>
                  <a:srgbClr val="0879C9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→ 结果与耗时</a:t>
            </a:r>
            <a:endParaRPr sz="1600" b="0">
              <a:solidFill>
                <a:srgbClr val="0879C9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01" name="流6"/>
          <p:cNvSpPr/>
          <p:nvPr/>
        </p:nvSpPr>
        <p:spPr>
          <a:xfrm>
            <a:off x="8128000" y="1066800"/>
            <a:ext cx="1879600" cy="812800"/>
          </a:xfrm>
          <a:prstGeom prst="chevron">
            <a:avLst>
              <a:gd name="adj" fmla="val 34000"/>
            </a:avLst>
          </a:prstGeom>
          <a:solidFill>
            <a:srgbClr val="9CCEF2"/>
          </a:solidFill>
          <a:ln>
            <a:noFill/>
          </a:ln>
          <a:effectLst/>
        </p:spPr>
        <p:txBody>
          <a:bodyPr wrap="square" lIns="381000" rIns="127000" rtlCol="0" anchor="ctr"/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0B4A77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分析</a:t>
            </a:r>
            <a:endParaRPr sz="1800" b="1">
              <a:solidFill>
                <a:srgbClr val="0B4A77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02" name="流号6"/>
          <p:cNvSpPr txBox="1"/>
          <p:nvPr/>
        </p:nvSpPr>
        <p:spPr>
          <a:xfrm>
            <a:off x="8509000" y="1168400"/>
            <a:ext cx="508000" cy="228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0B4A77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06</a:t>
            </a:r>
            <a:endParaRPr sz="1600" b="1">
              <a:solidFill>
                <a:srgbClr val="0B4A77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03" name="流产出6"/>
          <p:cNvSpPr txBox="1"/>
          <p:nvPr/>
        </p:nvSpPr>
        <p:spPr>
          <a:xfrm>
            <a:off x="8356600" y="2641600"/>
            <a:ext cx="1498600" cy="660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0">
                <a:solidFill>
                  <a:srgbClr val="0879C9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→ 归因结论</a:t>
            </a:r>
            <a:endParaRPr sz="1600" b="0">
              <a:solidFill>
                <a:srgbClr val="0879C9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04" name="流7"/>
          <p:cNvSpPr/>
          <p:nvPr/>
        </p:nvSpPr>
        <p:spPr>
          <a:xfrm>
            <a:off x="9652000" y="1066800"/>
            <a:ext cx="1879600" cy="812800"/>
          </a:xfrm>
          <a:prstGeom prst="chevron">
            <a:avLst>
              <a:gd name="adj" fmla="val 34000"/>
            </a:avLst>
          </a:prstGeom>
          <a:solidFill>
            <a:srgbClr val="8AC4EE"/>
          </a:solidFill>
          <a:ln>
            <a:noFill/>
          </a:ln>
          <a:effectLst/>
        </p:spPr>
        <p:txBody>
          <a:bodyPr wrap="square" lIns="381000" rIns="127000" rtlCol="0" anchor="ctr"/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0B4A77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沉淀</a:t>
            </a:r>
            <a:endParaRPr sz="1800" b="1">
              <a:solidFill>
                <a:srgbClr val="0B4A77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05" name="流号7"/>
          <p:cNvSpPr txBox="1"/>
          <p:nvPr/>
        </p:nvSpPr>
        <p:spPr>
          <a:xfrm>
            <a:off x="10033000" y="1168400"/>
            <a:ext cx="508000" cy="228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0B4A77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07</a:t>
            </a:r>
            <a:endParaRPr sz="1600" b="1">
              <a:solidFill>
                <a:srgbClr val="0B4A77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06" name="流产出7"/>
          <p:cNvSpPr txBox="1"/>
          <p:nvPr/>
        </p:nvSpPr>
        <p:spPr>
          <a:xfrm>
            <a:off x="9880600" y="2641600"/>
            <a:ext cx="1498600" cy="660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0">
                <a:solidFill>
                  <a:srgbClr val="0879C9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→ 回归集与报告</a:t>
            </a:r>
            <a:endParaRPr sz="1600" b="0">
              <a:solidFill>
                <a:srgbClr val="0879C9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07" name="功能带"/>
          <p:cNvSpPr/>
          <p:nvPr/>
        </p:nvSpPr>
        <p:spPr>
          <a:xfrm>
            <a:off x="508000" y="4292600"/>
            <a:ext cx="3327400" cy="584200"/>
          </a:xfrm>
          <a:prstGeom prst="roundRect">
            <a:avLst>
              <a:gd name="adj" fmla="val 16000"/>
            </a:avLst>
          </a:prstGeom>
          <a:solidFill>
            <a:srgbClr val="E3F2FD"/>
          </a:solidFill>
          <a:ln w="12700">
            <a:solidFill>
              <a:srgbClr val="4FA9E8"/>
            </a:solidFill>
          </a:ln>
          <a:effectLst/>
        </p:spPr>
        <p:txBody>
          <a:bodyPr wrap="square" rtlCol="0" anchor="ctr"/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0B4A77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① 感知与定位　</a:t>
            </a:r>
            <a:endParaRPr sz="1800" b="1">
              <a:solidFill>
                <a:srgbClr val="0B4A77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08" name="功能带"/>
          <p:cNvSpPr/>
          <p:nvPr/>
        </p:nvSpPr>
        <p:spPr>
          <a:xfrm>
            <a:off x="3886200" y="4292600"/>
            <a:ext cx="3276600" cy="584200"/>
          </a:xfrm>
          <a:prstGeom prst="roundRect">
            <a:avLst>
              <a:gd name="adj" fmla="val 16000"/>
            </a:avLst>
          </a:prstGeom>
          <a:solidFill>
            <a:srgbClr val="C6E4F9"/>
          </a:solidFill>
          <a:ln w="12700">
            <a:solidFill>
              <a:srgbClr val="4FA9E8"/>
            </a:solidFill>
          </a:ln>
          <a:effectLst/>
        </p:spPr>
        <p:txBody>
          <a:bodyPr wrap="square" rtlCol="0" anchor="ctr"/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0B4A77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② 探索与生成　</a:t>
            </a:r>
            <a:endParaRPr sz="1800" b="1">
              <a:solidFill>
                <a:srgbClr val="0B4A77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09" name="功能带"/>
          <p:cNvSpPr/>
          <p:nvPr/>
        </p:nvSpPr>
        <p:spPr>
          <a:xfrm>
            <a:off x="7213600" y="4292600"/>
            <a:ext cx="4470400" cy="584200"/>
          </a:xfrm>
          <a:prstGeom prst="roundRect">
            <a:avLst>
              <a:gd name="adj" fmla="val 16000"/>
            </a:avLst>
          </a:prstGeom>
          <a:solidFill>
            <a:srgbClr val="A8D2F2"/>
          </a:solidFill>
          <a:ln w="12700">
            <a:solidFill>
              <a:srgbClr val="4FA9E8"/>
            </a:solidFill>
          </a:ln>
          <a:effectLst/>
        </p:spPr>
        <p:txBody>
          <a:bodyPr wrap="square" rtlCol="0" anchor="ctr"/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0B4A77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③ 执行与归因　</a:t>
            </a:r>
            <a:endParaRPr sz="1800" b="1">
              <a:solidFill>
                <a:srgbClr val="0B4A77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10" name="流备注"/>
          <p:cNvSpPr/>
          <p:nvPr/>
        </p:nvSpPr>
        <p:spPr>
          <a:xfrm>
            <a:off x="508000" y="5638800"/>
            <a:ext cx="11176000" cy="584200"/>
          </a:xfrm>
          <a:prstGeom prst="roundRect">
            <a:avLst>
              <a:gd name="adj" fmla="val 22000"/>
            </a:avLst>
          </a:prstGeom>
          <a:solidFill>
            <a:srgbClr val="E6F6FE"/>
          </a:solidFill>
          <a:ln>
            <a:noFill/>
          </a:ln>
          <a:effectLst/>
        </p:spPr>
        <p:txBody>
          <a:bodyPr wrap="square" rtlCol="0" anchor="ctr"/>
          <a:lstStyle/>
          <a:p>
            <a:pPr algn="l">
              <a:lnSpc>
                <a:spcPct val="100000"/>
              </a:lnSpc>
            </a:pPr>
            <a:r>
              <a:rPr lang="en-US" sz="1600" b="0">
                <a:solidFill>
                  <a:srgbClr val="0879C9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                                          </a:t>
            </a:r>
            <a:r>
              <a:rPr sz="1600" b="0">
                <a:solidFill>
                  <a:srgbClr val="0879C9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箭头方向即数据流向：每个环节的产出是下一环节的输入。</a:t>
            </a:r>
            <a:endParaRPr sz="1600" b="0">
              <a:solidFill>
                <a:srgbClr val="0879C9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"/>
          <p:cNvSpPr txBox="1"/>
          <p:nvPr/>
        </p:nvSpPr>
        <p:spPr>
          <a:xfrm>
            <a:off x="215900" y="165100"/>
            <a:ext cx="9906000" cy="36893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879C9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02 </a:t>
            </a:r>
            <a:r>
              <a:rPr lang="zh-CN" sz="2400" b="1">
                <a:solidFill>
                  <a:srgbClr val="0879C9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核心</a:t>
            </a:r>
            <a:r>
              <a:rPr sz="2400" b="1">
                <a:solidFill>
                  <a:srgbClr val="0879C9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功能一：多源感知与元素定位</a:t>
            </a:r>
            <a:endParaRPr sz="2400" b="1">
              <a:solidFill>
                <a:srgbClr val="0879C9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" name="功能一 图注"/>
          <p:cNvSpPr txBox="1"/>
          <p:nvPr/>
        </p:nvSpPr>
        <p:spPr>
          <a:xfrm>
            <a:off x="505460" y="4614545"/>
            <a:ext cx="5842000" cy="17437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700" b="1">
                <a:solidFill>
                  <a:srgbClr val="0879C9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声明</a:t>
            </a:r>
            <a:r>
              <a:rPr sz="1700" b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来自源码与用例，</a:t>
            </a:r>
            <a:r>
              <a:rPr sz="1700" b="1">
                <a:solidFill>
                  <a:srgbClr val="0879C9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观察</a:t>
            </a:r>
            <a:r>
              <a:rPr sz="1700" b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来自控件树、截图与文字识别 —— 连同源码共四路来源。</a:t>
            </a:r>
            <a:endParaRPr sz="1700" b="0">
              <a:solidFill>
                <a:srgbClr val="1A1A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700" b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每条判断只做一次双向比对：两边都在 → 确认；只在一侧 → 差异即缺陷线索。</a:t>
            </a:r>
            <a:endParaRPr sz="1700" b="0">
              <a:solidFill>
                <a:srgbClr val="1A1A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lnSpc>
                <a:spcPct val="100000"/>
              </a:lnSpc>
            </a:pPr>
            <a:r>
              <a:rPr sz="1600" b="0">
                <a:solidFill>
                  <a:srgbClr val="3A5A7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控件树不可用则转视觉，视觉不足再转文字：通道逐级降级，输出格式一致。</a:t>
            </a:r>
            <a:endParaRPr sz="1600" b="0">
              <a:solidFill>
                <a:srgbClr val="3A5A7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" name="功能一 通道1"/>
          <p:cNvSpPr/>
          <p:nvPr/>
        </p:nvSpPr>
        <p:spPr>
          <a:xfrm>
            <a:off x="6654800" y="838200"/>
            <a:ext cx="5029200" cy="1219200"/>
          </a:xfrm>
          <a:prstGeom prst="roundRect">
            <a:avLst>
              <a:gd name="adj" fmla="val 10000"/>
            </a:avLst>
          </a:prstGeom>
          <a:solidFill>
            <a:srgbClr val="F7FCFF"/>
          </a:solidFill>
          <a:ln w="12700">
            <a:solidFill>
              <a:srgbClr val="CFE6F7"/>
            </a:solidFill>
          </a:ln>
          <a:effectLst/>
        </p:spPr>
        <p:txBody>
          <a:bodyPr wrap="square" lIns="203200" tIns="152400" rIns="177800" bIns="152400" rtlCol="0" anchor="t"/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>
                <a:solidFill>
                  <a:srgbClr val="0879C9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① 控件树直取</a:t>
            </a:r>
            <a:endParaRPr sz="1900" b="1">
              <a:solidFill>
                <a:srgbClr val="0879C9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lnSpc>
                <a:spcPct val="100000"/>
              </a:lnSpc>
            </a:pPr>
            <a:r>
              <a:rPr sz="1600" b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树结构完整、控件带标识时，按标识取节点</a:t>
            </a:r>
            <a:endParaRPr sz="1600" b="0">
              <a:solidFill>
                <a:srgbClr val="1A1A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" name="功能一 通道2"/>
          <p:cNvSpPr/>
          <p:nvPr/>
        </p:nvSpPr>
        <p:spPr>
          <a:xfrm>
            <a:off x="6654800" y="2184400"/>
            <a:ext cx="5029200" cy="1219200"/>
          </a:xfrm>
          <a:prstGeom prst="roundRect">
            <a:avLst>
              <a:gd name="adj" fmla="val 10000"/>
            </a:avLst>
          </a:prstGeom>
          <a:solidFill>
            <a:srgbClr val="F7FCFF"/>
          </a:solidFill>
          <a:ln w="12700">
            <a:solidFill>
              <a:srgbClr val="CFE6F7"/>
            </a:solidFill>
          </a:ln>
          <a:effectLst/>
        </p:spPr>
        <p:txBody>
          <a:bodyPr wrap="square" lIns="203200" tIns="152400" rIns="177800" bIns="152400" rtlCol="0" anchor="t"/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>
                <a:solidFill>
                  <a:srgbClr val="0879C9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② 视觉通道</a:t>
            </a:r>
            <a:endParaRPr sz="1900" b="1">
              <a:solidFill>
                <a:srgbClr val="0879C9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lnSpc>
                <a:spcPct val="100000"/>
              </a:lnSpc>
            </a:pPr>
            <a:r>
              <a:rPr sz="1600" b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树内候选不足时，改由模型从截图枚举目标</a:t>
            </a:r>
            <a:endParaRPr sz="1600" b="0">
              <a:solidFill>
                <a:srgbClr val="1A1A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" name="功能一 通道3"/>
          <p:cNvSpPr/>
          <p:nvPr/>
        </p:nvSpPr>
        <p:spPr>
          <a:xfrm>
            <a:off x="6654800" y="3530600"/>
            <a:ext cx="5029200" cy="1219200"/>
          </a:xfrm>
          <a:prstGeom prst="roundRect">
            <a:avLst>
              <a:gd name="adj" fmla="val 10000"/>
            </a:avLst>
          </a:prstGeom>
          <a:solidFill>
            <a:srgbClr val="F7FCFF"/>
          </a:solidFill>
          <a:ln w="12700">
            <a:solidFill>
              <a:srgbClr val="CFE6F7"/>
            </a:solidFill>
          </a:ln>
          <a:effectLst/>
        </p:spPr>
        <p:txBody>
          <a:bodyPr wrap="square" lIns="203200" tIns="152400" rIns="177800" bIns="152400" rtlCol="0" anchor="t"/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>
                <a:solidFill>
                  <a:srgbClr val="0879C9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③ 文字通道</a:t>
            </a:r>
            <a:endParaRPr sz="1900" b="1">
              <a:solidFill>
                <a:srgbClr val="0879C9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lnSpc>
                <a:spcPct val="100000"/>
              </a:lnSpc>
            </a:pPr>
            <a:r>
              <a:rPr sz="1600" b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纯 Canvas 无节点时，OCR 读出界面文本</a:t>
            </a:r>
            <a:endParaRPr sz="1600" b="0">
              <a:solidFill>
                <a:srgbClr val="1A1A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" name="功能一 通道4"/>
          <p:cNvSpPr/>
          <p:nvPr/>
        </p:nvSpPr>
        <p:spPr>
          <a:xfrm>
            <a:off x="6654800" y="4876800"/>
            <a:ext cx="5029200" cy="1219200"/>
          </a:xfrm>
          <a:prstGeom prst="roundRect">
            <a:avLst>
              <a:gd name="adj" fmla="val 10000"/>
            </a:avLst>
          </a:prstGeom>
          <a:solidFill>
            <a:srgbClr val="F7FCFF"/>
          </a:solidFill>
          <a:ln w="12700">
            <a:solidFill>
              <a:srgbClr val="CFE6F7"/>
            </a:solidFill>
          </a:ln>
          <a:effectLst/>
        </p:spPr>
        <p:txBody>
          <a:bodyPr wrap="square" lIns="203200" tIns="152400" rIns="177800" bIns="152400" rtlCol="0" anchor="t"/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>
                <a:solidFill>
                  <a:srgbClr val="0879C9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④ 特殊形态</a:t>
            </a:r>
            <a:endParaRPr sz="1900" b="1">
              <a:solidFill>
                <a:srgbClr val="0879C9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lnSpc>
                <a:spcPct val="100000"/>
              </a:lnSpc>
            </a:pPr>
            <a:r>
              <a:rPr sz="1600" b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折叠屏展开与折叠两态，按形态切换布局基准</a:t>
            </a:r>
            <a:endParaRPr sz="1600" b="0">
              <a:solidFill>
                <a:srgbClr val="1A1A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9" name="功能一 融合图" descr="fusion_plain_r2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8120" y="1035050"/>
            <a:ext cx="6456680" cy="3340735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"/>
          <p:cNvSpPr txBox="1"/>
          <p:nvPr/>
        </p:nvSpPr>
        <p:spPr>
          <a:xfrm>
            <a:off x="215900" y="165100"/>
            <a:ext cx="9906000" cy="36893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879C9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02 </a:t>
            </a:r>
            <a:r>
              <a:rPr lang="zh-CN" sz="2400" b="1">
                <a:solidFill>
                  <a:srgbClr val="0879C9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核心</a:t>
            </a:r>
            <a:r>
              <a:rPr sz="2400" b="1">
                <a:solidFill>
                  <a:srgbClr val="0879C9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功能二：自动探索与用例生成</a:t>
            </a:r>
            <a:endParaRPr sz="2400" b="1">
              <a:solidFill>
                <a:srgbClr val="0879C9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" name="功能二 探索头"/>
          <p:cNvSpPr txBox="1"/>
          <p:nvPr/>
        </p:nvSpPr>
        <p:spPr>
          <a:xfrm>
            <a:off x="508000" y="1346200"/>
            <a:ext cx="5334000" cy="2921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>
                <a:solidFill>
                  <a:srgbClr val="0879C9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探索　</a:t>
            </a:r>
            <a:r>
              <a:rPr lang="zh-CN" sz="1900" b="1">
                <a:solidFill>
                  <a:srgbClr val="0879C9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让</a:t>
            </a:r>
            <a:r>
              <a:rPr sz="1900" b="1">
                <a:solidFill>
                  <a:srgbClr val="0879C9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应用自己走一遍</a:t>
            </a:r>
            <a:endParaRPr sz="1900" b="1">
              <a:solidFill>
                <a:srgbClr val="0879C9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" name="功能二 生成头"/>
          <p:cNvSpPr txBox="1"/>
          <p:nvPr/>
        </p:nvSpPr>
        <p:spPr>
          <a:xfrm>
            <a:off x="6350000" y="1346200"/>
            <a:ext cx="5334000" cy="381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>
                <a:solidFill>
                  <a:srgbClr val="0879C9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生成　把路径写成用例</a:t>
            </a:r>
            <a:endParaRPr sz="1900" b="1">
              <a:solidFill>
                <a:srgbClr val="0879C9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" name="功能二 探索1"/>
          <p:cNvSpPr/>
          <p:nvPr/>
        </p:nvSpPr>
        <p:spPr>
          <a:xfrm>
            <a:off x="508000" y="1828800"/>
            <a:ext cx="5334000" cy="812800"/>
          </a:xfrm>
          <a:prstGeom prst="roundRect">
            <a:avLst>
              <a:gd name="adj" fmla="val 10000"/>
            </a:avLst>
          </a:prstGeom>
          <a:solidFill>
            <a:srgbClr val="F7FCFF"/>
          </a:solidFill>
          <a:ln w="12700">
            <a:solidFill>
              <a:srgbClr val="CFE6F7"/>
            </a:solidFill>
          </a:ln>
          <a:effectLst/>
        </p:spPr>
        <p:txBody>
          <a:bodyPr wrap="square" lIns="203200" tIns="152400" rIns="177800" bIns="152400" rtlCol="0" anchor="ctr"/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0879C9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候选排序　</a:t>
            </a:r>
            <a:r>
              <a:rPr sz="1600" b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优先选择信息增益最大的控件</a:t>
            </a:r>
            <a:endParaRPr sz="1600" b="0">
              <a:solidFill>
                <a:srgbClr val="1A1A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" name="功能二 探索2"/>
          <p:cNvSpPr/>
          <p:nvPr/>
        </p:nvSpPr>
        <p:spPr>
          <a:xfrm>
            <a:off x="508000" y="2743200"/>
            <a:ext cx="5334000" cy="812800"/>
          </a:xfrm>
          <a:prstGeom prst="roundRect">
            <a:avLst>
              <a:gd name="adj" fmla="val 10000"/>
            </a:avLst>
          </a:prstGeom>
          <a:solidFill>
            <a:srgbClr val="F7FCFF"/>
          </a:solidFill>
          <a:ln w="12700">
            <a:solidFill>
              <a:srgbClr val="CFE6F7"/>
            </a:solidFill>
          </a:ln>
          <a:effectLst/>
        </p:spPr>
        <p:txBody>
          <a:bodyPr wrap="square" lIns="203200" tIns="152400" rIns="177800" bIns="152400" rtlCol="0" anchor="ctr"/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0879C9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防粘滞　</a:t>
            </a:r>
            <a:r>
              <a:rPr lang="en-US" sz="1700" b="1">
                <a:solidFill>
                  <a:srgbClr val="0879C9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  </a:t>
            </a:r>
            <a:r>
              <a:rPr sz="1600" b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相似页面之间不往复跳转</a:t>
            </a:r>
            <a:endParaRPr sz="1600" b="0">
              <a:solidFill>
                <a:srgbClr val="1A1A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" name="功能二 探索3"/>
          <p:cNvSpPr/>
          <p:nvPr/>
        </p:nvSpPr>
        <p:spPr>
          <a:xfrm>
            <a:off x="508000" y="3657600"/>
            <a:ext cx="5334000" cy="812800"/>
          </a:xfrm>
          <a:prstGeom prst="roundRect">
            <a:avLst>
              <a:gd name="adj" fmla="val 10000"/>
            </a:avLst>
          </a:prstGeom>
          <a:solidFill>
            <a:srgbClr val="F7FCFF"/>
          </a:solidFill>
          <a:ln w="12700">
            <a:solidFill>
              <a:srgbClr val="CFE6F7"/>
            </a:solidFill>
          </a:ln>
          <a:effectLst/>
        </p:spPr>
        <p:txBody>
          <a:bodyPr wrap="square" lIns="203200" tIns="152400" rIns="177800" bIns="152400" rtlCol="0" anchor="ctr"/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0879C9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回退校验　</a:t>
            </a:r>
            <a:r>
              <a:rPr sz="1600" b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异常路径自动退回上一页</a:t>
            </a:r>
            <a:endParaRPr sz="1600" b="0">
              <a:solidFill>
                <a:srgbClr val="1A1A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" name="功能二 探索4"/>
          <p:cNvSpPr/>
          <p:nvPr/>
        </p:nvSpPr>
        <p:spPr>
          <a:xfrm>
            <a:off x="508000" y="4572000"/>
            <a:ext cx="5334000" cy="812800"/>
          </a:xfrm>
          <a:prstGeom prst="roundRect">
            <a:avLst>
              <a:gd name="adj" fmla="val 10000"/>
            </a:avLst>
          </a:prstGeom>
          <a:solidFill>
            <a:srgbClr val="F7FCFF"/>
          </a:solidFill>
          <a:ln w="12700">
            <a:solidFill>
              <a:srgbClr val="CFE6F7"/>
            </a:solidFill>
          </a:ln>
          <a:effectLst/>
        </p:spPr>
        <p:txBody>
          <a:bodyPr wrap="square" lIns="203200" tIns="152400" rIns="177800" bIns="152400" rtlCol="0" anchor="ctr"/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0879C9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状态去重　</a:t>
            </a:r>
            <a:r>
              <a:rPr sz="1600" b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同页不同数据合并为一个状态</a:t>
            </a:r>
            <a:endParaRPr sz="1600" b="0">
              <a:solidFill>
                <a:srgbClr val="1A1A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0" name="功能二 生成1"/>
          <p:cNvSpPr/>
          <p:nvPr/>
        </p:nvSpPr>
        <p:spPr>
          <a:xfrm>
            <a:off x="6350000" y="1828800"/>
            <a:ext cx="5334000" cy="812800"/>
          </a:xfrm>
          <a:prstGeom prst="roundRect">
            <a:avLst>
              <a:gd name="adj" fmla="val 10000"/>
            </a:avLst>
          </a:prstGeom>
          <a:solidFill>
            <a:srgbClr val="F7FCFF"/>
          </a:solidFill>
          <a:ln w="12700">
            <a:solidFill>
              <a:srgbClr val="CFE6F7"/>
            </a:solidFill>
          </a:ln>
          <a:effectLst/>
        </p:spPr>
        <p:txBody>
          <a:bodyPr wrap="square" lIns="203200" tIns="152400" rIns="177800" bIns="152400" rtlCol="0" anchor="ctr"/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0879C9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路径规划　</a:t>
            </a:r>
            <a:r>
              <a:rPr sz="1600" b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在状态图上选取目标页，串联可达步骤</a:t>
            </a:r>
            <a:endParaRPr sz="1600" b="0">
              <a:solidFill>
                <a:srgbClr val="1A1A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1" name="功能二 生成2"/>
          <p:cNvSpPr/>
          <p:nvPr/>
        </p:nvSpPr>
        <p:spPr>
          <a:xfrm>
            <a:off x="6350000" y="2743200"/>
            <a:ext cx="5334000" cy="812800"/>
          </a:xfrm>
          <a:prstGeom prst="roundRect">
            <a:avLst>
              <a:gd name="adj" fmla="val 10000"/>
            </a:avLst>
          </a:prstGeom>
          <a:solidFill>
            <a:srgbClr val="F7FCFF"/>
          </a:solidFill>
          <a:ln w="12700">
            <a:solidFill>
              <a:srgbClr val="CFE6F7"/>
            </a:solidFill>
          </a:ln>
          <a:effectLst/>
        </p:spPr>
        <p:txBody>
          <a:bodyPr wrap="square" lIns="203200" tIns="152400" rIns="177800" bIns="152400" rtlCol="0" anchor="ctr"/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0879C9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目标锚定　</a:t>
            </a:r>
            <a:r>
              <a:rPr sz="1600" b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锚定控件身份，不写屏幕坐标</a:t>
            </a:r>
            <a:endParaRPr sz="1600" b="0">
              <a:solidFill>
                <a:srgbClr val="1A1A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2" name="功能二 生成3"/>
          <p:cNvSpPr/>
          <p:nvPr/>
        </p:nvSpPr>
        <p:spPr>
          <a:xfrm>
            <a:off x="6350000" y="3657600"/>
            <a:ext cx="5334000" cy="812800"/>
          </a:xfrm>
          <a:prstGeom prst="roundRect">
            <a:avLst>
              <a:gd name="adj" fmla="val 10000"/>
            </a:avLst>
          </a:prstGeom>
          <a:solidFill>
            <a:srgbClr val="F7FCFF"/>
          </a:solidFill>
          <a:ln w="12700">
            <a:solidFill>
              <a:srgbClr val="CFE6F7"/>
            </a:solidFill>
          </a:ln>
          <a:effectLst/>
        </p:spPr>
        <p:txBody>
          <a:bodyPr wrap="square" lIns="203200" tIns="152400" rIns="177800" bIns="152400" rtlCol="0" anchor="ctr"/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0879C9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断言选取　</a:t>
            </a:r>
            <a:r>
              <a:rPr sz="1600" b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取页面期望态，每 2–3 步一个检查点</a:t>
            </a:r>
            <a:endParaRPr sz="1600" b="0">
              <a:solidFill>
                <a:srgbClr val="1A1A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3" name="功能二 生成4"/>
          <p:cNvSpPr/>
          <p:nvPr/>
        </p:nvSpPr>
        <p:spPr>
          <a:xfrm>
            <a:off x="6350000" y="4572000"/>
            <a:ext cx="5334000" cy="812800"/>
          </a:xfrm>
          <a:prstGeom prst="roundRect">
            <a:avLst>
              <a:gd name="adj" fmla="val 10000"/>
            </a:avLst>
          </a:prstGeom>
          <a:solidFill>
            <a:srgbClr val="F7FCFF"/>
          </a:solidFill>
          <a:ln w="12700">
            <a:solidFill>
              <a:srgbClr val="CFE6F7"/>
            </a:solidFill>
          </a:ln>
          <a:effectLst/>
        </p:spPr>
        <p:txBody>
          <a:bodyPr wrap="square" lIns="203200" tIns="152400" rIns="177800" bIns="152400" rtlCol="0" anchor="ctr"/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0879C9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产物形式　</a:t>
            </a:r>
            <a:r>
              <a:rPr sz="1600" b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结构化用例，可导出 hypium 脚本</a:t>
            </a:r>
            <a:endParaRPr sz="1600" b="0">
              <a:solidFill>
                <a:srgbClr val="1A1A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4" name="功能二 箭头"/>
          <p:cNvSpPr txBox="1"/>
          <p:nvPr/>
        </p:nvSpPr>
        <p:spPr>
          <a:xfrm>
            <a:off x="5867400" y="3175000"/>
            <a:ext cx="457200" cy="508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800" b="1">
                <a:solidFill>
                  <a:srgbClr val="0879C9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→</a:t>
            </a:r>
            <a:endParaRPr sz="2800" b="1">
              <a:solidFill>
                <a:srgbClr val="0879C9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5" name="功能二 左产出"/>
          <p:cNvSpPr txBox="1"/>
          <p:nvPr/>
        </p:nvSpPr>
        <p:spPr>
          <a:xfrm>
            <a:off x="508000" y="5588000"/>
            <a:ext cx="5334000" cy="762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0879C9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产出　</a:t>
            </a:r>
            <a:r>
              <a:rPr sz="1700" b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页面状态图：页面是状态，跳转是边</a:t>
            </a:r>
            <a:endParaRPr sz="1700" b="0">
              <a:solidFill>
                <a:srgbClr val="1A1A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6" name="功能二 右产出"/>
          <p:cNvSpPr txBox="1"/>
          <p:nvPr/>
        </p:nvSpPr>
        <p:spPr>
          <a:xfrm>
            <a:off x="6350000" y="5588000"/>
            <a:ext cx="5334000" cy="762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0879C9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产出　</a:t>
            </a:r>
            <a:r>
              <a:rPr sz="1700" b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可执行用例：步骤 + 断言 + 可导出脚本</a:t>
            </a:r>
            <a:endParaRPr sz="1700" b="0">
              <a:solidFill>
                <a:srgbClr val="1A1A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"/>
          <p:cNvSpPr txBox="1"/>
          <p:nvPr/>
        </p:nvSpPr>
        <p:spPr>
          <a:xfrm>
            <a:off x="215900" y="165100"/>
            <a:ext cx="9906000" cy="36893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879C9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02 </a:t>
            </a:r>
            <a:r>
              <a:rPr lang="zh-CN" sz="2400" b="1">
                <a:solidFill>
                  <a:srgbClr val="0879C9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核心</a:t>
            </a:r>
            <a:r>
              <a:rPr sz="2400" b="1">
                <a:solidFill>
                  <a:srgbClr val="0879C9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功能三：执行与归因</a:t>
            </a:r>
            <a:endParaRPr sz="2400" b="1">
              <a:solidFill>
                <a:srgbClr val="0879C9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功能三 执行"/>
          <p:cNvSpPr/>
          <p:nvPr/>
        </p:nvSpPr>
        <p:spPr>
          <a:xfrm>
            <a:off x="508000" y="1066800"/>
            <a:ext cx="5461000" cy="1574800"/>
          </a:xfrm>
          <a:prstGeom prst="roundRect">
            <a:avLst>
              <a:gd name="adj" fmla="val 10000"/>
            </a:avLst>
          </a:prstGeom>
          <a:solidFill>
            <a:srgbClr val="F7FCFF"/>
          </a:solidFill>
          <a:ln w="12700">
            <a:solidFill>
              <a:srgbClr val="CFE6F7"/>
            </a:solidFill>
          </a:ln>
          <a:effectLst/>
        </p:spPr>
        <p:txBody>
          <a:bodyPr wrap="square" lIns="228600" tIns="152400" rIns="177800" bIns="127000" rtlCol="0" anchor="t"/>
          <a:lstStyle/>
          <a:p>
            <a:pPr algn="l">
              <a:lnSpc>
                <a:spcPct val="100000"/>
              </a:lnSpc>
              <a:spcAft>
                <a:spcPts val="900"/>
              </a:spcAft>
            </a:pPr>
            <a:r>
              <a:rPr sz="2000" b="1">
                <a:solidFill>
                  <a:srgbClr val="0879C9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执行</a:t>
            </a:r>
            <a:endParaRPr sz="2000" b="1">
              <a:solidFill>
                <a:srgbClr val="0879C9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1600" b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· 零部署直连设备，不修改被测应用</a:t>
            </a:r>
            <a:endParaRPr sz="1600" b="0">
              <a:solidFill>
                <a:srgbClr val="1A1A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1600" b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· 先等页面稳定再操作，手势齐备</a:t>
            </a:r>
            <a:endParaRPr sz="1600" b="0">
              <a:solidFill>
                <a:srgbClr val="1A1A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1600" b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· 危险控件不进入压力测试</a:t>
            </a:r>
            <a:endParaRPr sz="1600" b="0">
              <a:solidFill>
                <a:srgbClr val="1A1A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" name="功能三 压测"/>
          <p:cNvSpPr/>
          <p:nvPr/>
        </p:nvSpPr>
        <p:spPr>
          <a:xfrm>
            <a:off x="6223000" y="1066800"/>
            <a:ext cx="5461000" cy="1574800"/>
          </a:xfrm>
          <a:prstGeom prst="roundRect">
            <a:avLst>
              <a:gd name="adj" fmla="val 10000"/>
            </a:avLst>
          </a:prstGeom>
          <a:solidFill>
            <a:srgbClr val="F7FCFF"/>
          </a:solidFill>
          <a:ln w="12700">
            <a:solidFill>
              <a:srgbClr val="CFE6F7"/>
            </a:solidFill>
          </a:ln>
          <a:effectLst/>
        </p:spPr>
        <p:txBody>
          <a:bodyPr wrap="square" lIns="228600" tIns="152400" rIns="177800" bIns="127000" rtlCol="0" anchor="t"/>
          <a:lstStyle/>
          <a:p>
            <a:pPr algn="l">
              <a:lnSpc>
                <a:spcPct val="100000"/>
              </a:lnSpc>
              <a:spcAft>
                <a:spcPts val="900"/>
              </a:spcAft>
            </a:pPr>
            <a:r>
              <a:rPr sz="2000" b="1">
                <a:solidFill>
                  <a:srgbClr val="0879C9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压力测试</a:t>
            </a:r>
            <a:endParaRPr sz="2000" b="1">
              <a:solidFill>
                <a:srgbClr val="0879C9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1600" b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· 重复点击、连续滑动</a:t>
            </a:r>
            <a:endParaRPr sz="1600" b="0">
              <a:solidFill>
                <a:srgbClr val="1A1A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1600" b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· 页面反复进出</a:t>
            </a:r>
            <a:endParaRPr sz="1600" b="0">
              <a:solidFill>
                <a:srgbClr val="1A1A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1600" b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· 长时间运行，分块编排</a:t>
            </a:r>
            <a:endParaRPr sz="1600" b="0">
              <a:solidFill>
                <a:srgbClr val="1A1A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" name="功能三 归因"/>
          <p:cNvSpPr/>
          <p:nvPr/>
        </p:nvSpPr>
        <p:spPr>
          <a:xfrm>
            <a:off x="508000" y="2819400"/>
            <a:ext cx="5461000" cy="1574800"/>
          </a:xfrm>
          <a:prstGeom prst="roundRect">
            <a:avLst>
              <a:gd name="adj" fmla="val 10000"/>
            </a:avLst>
          </a:prstGeom>
          <a:solidFill>
            <a:srgbClr val="F7FCFF"/>
          </a:solidFill>
          <a:ln w="12700">
            <a:solidFill>
              <a:srgbClr val="CFE6F7"/>
            </a:solidFill>
          </a:ln>
          <a:effectLst/>
        </p:spPr>
        <p:txBody>
          <a:bodyPr wrap="square" lIns="228600" tIns="152400" rIns="177800" bIns="127000" rtlCol="0" anchor="t"/>
          <a:lstStyle/>
          <a:p>
            <a:pPr algn="l">
              <a:lnSpc>
                <a:spcPct val="100000"/>
              </a:lnSpc>
              <a:spcAft>
                <a:spcPts val="900"/>
              </a:spcAft>
            </a:pPr>
            <a:r>
              <a:rPr sz="2000" b="1">
                <a:solidFill>
                  <a:srgbClr val="0879C9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归因</a:t>
            </a:r>
            <a:endParaRPr sz="2000" b="1">
              <a:solidFill>
                <a:srgbClr val="0879C9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1600" b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· 六类信号同时取证</a:t>
            </a:r>
            <a:endParaRPr sz="1600" b="0">
              <a:solidFill>
                <a:srgbClr val="1A1A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1600" b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· 四分类：定位 / 时序 / 应用 / 用例</a:t>
            </a:r>
            <a:endParaRPr sz="1600" b="0">
              <a:solidFill>
                <a:srgbClr val="1A1A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1600" b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· 环境问题与证据不足不计入</a:t>
            </a:r>
            <a:endParaRPr sz="1600" b="0">
              <a:solidFill>
                <a:srgbClr val="1A1A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" name="功能三 沉淀"/>
          <p:cNvSpPr/>
          <p:nvPr/>
        </p:nvSpPr>
        <p:spPr>
          <a:xfrm>
            <a:off x="6223000" y="2819400"/>
            <a:ext cx="5461000" cy="1574800"/>
          </a:xfrm>
          <a:prstGeom prst="roundRect">
            <a:avLst>
              <a:gd name="adj" fmla="val 10000"/>
            </a:avLst>
          </a:prstGeom>
          <a:solidFill>
            <a:srgbClr val="F7FCFF"/>
          </a:solidFill>
          <a:ln w="12700">
            <a:solidFill>
              <a:srgbClr val="CFE6F7"/>
            </a:solidFill>
          </a:ln>
          <a:effectLst/>
        </p:spPr>
        <p:txBody>
          <a:bodyPr wrap="square" lIns="228600" tIns="152400" rIns="177800" bIns="127000" rtlCol="0" anchor="t"/>
          <a:lstStyle/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lang="zh-CN" sz="2000" b="1">
                <a:solidFill>
                  <a:srgbClr val="0879C9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生成</a:t>
            </a:r>
            <a:endParaRPr lang="zh-CN" sz="2000" b="1">
              <a:solidFill>
                <a:srgbClr val="0879C9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1600" b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· 轨迹转可重放回归用例</a:t>
            </a:r>
            <a:endParaRPr sz="1600" b="0">
              <a:solidFill>
                <a:srgbClr val="1A1A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1600" b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· 三格式报告：md / html / json</a:t>
            </a:r>
            <a:endParaRPr sz="1600" b="0">
              <a:solidFill>
                <a:srgbClr val="1A1A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1600" b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· 回归集随探索自动增长</a:t>
            </a:r>
            <a:endParaRPr sz="1600" b="0">
              <a:solidFill>
                <a:srgbClr val="1A1A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" name="功能三 判据"/>
          <p:cNvSpPr/>
          <p:nvPr/>
        </p:nvSpPr>
        <p:spPr>
          <a:xfrm>
            <a:off x="508000" y="4597400"/>
            <a:ext cx="11176000" cy="1625600"/>
          </a:xfrm>
          <a:prstGeom prst="roundRect">
            <a:avLst>
              <a:gd name="adj" fmla="val 9000"/>
            </a:avLst>
          </a:prstGeom>
          <a:solidFill>
            <a:srgbClr val="E6F6FE"/>
          </a:solidFill>
          <a:ln w="12700">
            <a:solidFill>
              <a:srgbClr val="CFE6F7"/>
            </a:solidFill>
          </a:ln>
          <a:effectLst/>
        </p:spPr>
        <p:txBody>
          <a:bodyPr wrap="square" lIns="228600" tIns="152400" rIns="177800" bIns="127000" rtlCol="0" anchor="t"/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800" b="1">
                <a:solidFill>
                  <a:srgbClr val="0879C9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归因判据　</a:t>
            </a:r>
            <a:r>
              <a:rPr sz="1800" b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先核验再定论；证据不足</a:t>
            </a:r>
            <a:r>
              <a:rPr lang="zh-CN" sz="1800" b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归因为未知</a:t>
            </a:r>
            <a:endParaRPr sz="1800" b="0">
              <a:solidFill>
                <a:srgbClr val="1A1A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1600" b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时间吻合：失败发生在该时间窗内　　</a:t>
            </a:r>
            <a:r>
              <a:rPr lang="en-US" sz="1600" b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                             </a:t>
            </a:r>
            <a:r>
              <a:rPr sz="1600" b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归属吻合：崩溃记录的应用名与被测应用一致</a:t>
            </a:r>
            <a:endParaRPr sz="1600" b="0">
              <a:solidFill>
                <a:srgbClr val="1A1A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1600" b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证据充分：崩溃原因与调用栈前 6 层　　</a:t>
            </a:r>
            <a:r>
              <a:rPr lang="en-US" sz="1600" b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                         </a:t>
            </a:r>
            <a:r>
              <a:rPr sz="1600" b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阈值：证据分低于 0.5 不判应用缺陷</a:t>
            </a:r>
            <a:endParaRPr sz="1600" b="0">
              <a:solidFill>
                <a:srgbClr val="1A1A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lnSpc>
                <a:spcPct val="100000"/>
              </a:lnSpc>
            </a:pPr>
            <a:r>
              <a:rPr sz="1600" b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并列时按 用例 → 时序 → 定位 的固定优先级取舍</a:t>
            </a:r>
            <a:endParaRPr sz="1600" b="0">
              <a:solidFill>
                <a:srgbClr val="1A1A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73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Text Placeholder 1"/>
          <p:cNvSpPr>
            <a:spLocks noGrp="1"/>
          </p:cNvSpPr>
          <p:nvPr>
            <p:ph type="body" sz="quarter" idx="13"/>
          </p:nvPr>
        </p:nvSpPr>
        <p:spPr>
          <a:xfrm>
            <a:off x="215067" y="171415"/>
            <a:ext cx="8778240" cy="0"/>
          </a:xfrm>
        </p:spPr>
        <p:txBody>
          <a:bodyPr wrap="square"/>
          <a:lstStyle/>
          <a:p>
            <a:r>
              <a:rPr sz="2400" b="1">
                <a:solidFill>
                  <a:srgbClr val="0879C9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03 三个应用</a:t>
            </a:r>
            <a:r>
              <a:rPr sz="2400" b="1">
                <a:solidFill>
                  <a:srgbClr val="0879C9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场景，三种树</a:t>
            </a:r>
            <a:endParaRPr sz="2800" b="0">
              <a:solidFill>
                <a:srgbClr val="1A1A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75" name="Picture 2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051560"/>
            <a:ext cx="2194560" cy="3904487"/>
          </a:xfrm>
          <a:prstGeom prst="rect">
            <a:avLst/>
          </a:prstGeom>
        </p:spPr>
      </p:pic>
      <p:pic>
        <p:nvPicPr>
          <p:cNvPr id="76" name="Picture 912" descr="image.png"/>
          <p:cNvPicPr>
            <a:picLocks noChangeAspect="1"/>
          </p:cNvPicPr>
          <p:nvPr>
            <p:custDataLst>
              <p:tags r:id="rId2"/>
            </p:custDataLst>
          </p:nvPr>
        </p:nvPicPr>
        <p:blipFill>
          <a:blip r:embed="rId3"/>
          <a:stretch>
            <a:fillRect/>
          </a:stretch>
        </p:blipFill>
        <p:spPr>
          <a:xfrm>
            <a:off x="2834640" y="1051560"/>
            <a:ext cx="2194560" cy="3904487"/>
          </a:xfrm>
          <a:prstGeom prst="rect">
            <a:avLst/>
          </a:prstGeom>
        </p:spPr>
      </p:pic>
      <p:pic>
        <p:nvPicPr>
          <p:cNvPr id="77" name="Picture 913" descr="image.png"/>
          <p:cNvPicPr>
            <a:picLocks noChangeAspect="1"/>
          </p:cNvPicPr>
          <p:nvPr>
            <p:custDataLst>
              <p:tags r:id="rId4"/>
            </p:custDataLst>
          </p:nvPr>
        </p:nvPicPr>
        <p:blipFill>
          <a:blip r:embed="rId5"/>
          <a:stretch>
            <a:fillRect/>
          </a:stretch>
        </p:blipFill>
        <p:spPr>
          <a:xfrm>
            <a:off x="5166360" y="1051560"/>
            <a:ext cx="2194560" cy="3904487"/>
          </a:xfrm>
          <a:prstGeom prst="rect">
            <a:avLst/>
          </a:prstGeom>
        </p:spPr>
      </p:pic>
      <p:sp>
        <p:nvSpPr>
          <p:cNvPr id="78" name="RightCard"/>
          <p:cNvSpPr/>
          <p:nvPr/>
        </p:nvSpPr>
        <p:spPr>
          <a:xfrm>
            <a:off x="7635240" y="1051560"/>
            <a:ext cx="4023360" cy="4937760"/>
          </a:xfrm>
          <a:prstGeom prst="roundRect">
            <a:avLst>
              <a:gd name="adj" fmla="val 8000"/>
            </a:avLst>
          </a:prstGeom>
          <a:solidFill>
            <a:srgbClr val="E6F6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91440" rIns="137160" bIns="91440" rtlCol="0" anchor="ctr"/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08A8F6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三种树，同一套流程</a:t>
            </a:r>
            <a:endParaRPr sz="1200" b="1">
              <a:solidFill>
                <a:srgbClr val="0B6FB8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桌面（左）：控件树完整，18 个控件全部携带文案，控件树直取即可命中，单次定位约 50ms。</a:t>
            </a:r>
            <a:endParaRPr sz="1600" b="0">
              <a:solidFill>
                <a:srgbClr val="1A1A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设置（中）：183 个可见节点、可交互仅 28 个、带 id 为 0 —— 定位候选不足，转视觉通道：截图交多模态模型枚举可点控件，11 项认对 10 项（90.9%）。</a:t>
            </a:r>
            <a:endParaRPr sz="1600" b="0">
              <a:solidFill>
                <a:srgbClr val="1A1A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时钟 · 表盘（右）：纯 Canvas 绘制，无可交互节点，转 OCR 通道读出 7 行文本。</a:t>
            </a:r>
            <a:endParaRPr sz="1600" b="0">
              <a:solidFill>
                <a:srgbClr val="1A1A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0879C9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通道选择由树的健康度自动决定，三条通道共用同一套判定规则。</a:t>
            </a:r>
            <a:endParaRPr sz="1600" b="1">
              <a:solidFill>
                <a:srgbClr val="0879C9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9" name="TextBox 16"/>
          <p:cNvSpPr txBox="1"/>
          <p:nvPr/>
        </p:nvSpPr>
        <p:spPr>
          <a:xfrm>
            <a:off x="495300" y="5130800"/>
            <a:ext cx="2197100" cy="1219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700" b="1">
                <a:solidFill>
                  <a:srgbClr val="0879C9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桌面</a:t>
            </a:r>
            <a:endParaRPr sz="1700" b="1">
              <a:solidFill>
                <a:srgbClr val="0879C9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>
              <a:spcAft>
                <a:spcPts val="400"/>
              </a:spcAft>
            </a:pPr>
            <a:r>
              <a:rPr sz="1600" b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18 控件全带文案</a:t>
            </a:r>
            <a:endParaRPr sz="1600" b="0">
              <a:solidFill>
                <a:srgbClr val="1A1A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>
              <a:spcAft>
                <a:spcPts val="400"/>
              </a:spcAft>
            </a:pPr>
            <a:r>
              <a:rPr sz="1600" b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树直取 50ms</a:t>
            </a:r>
            <a:endParaRPr sz="1600" b="0">
              <a:solidFill>
                <a:srgbClr val="1A1A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0" name="TextBox 17"/>
          <p:cNvSpPr txBox="1"/>
          <p:nvPr>
            <p:custDataLst>
              <p:tags r:id="rId6"/>
            </p:custDataLst>
          </p:nvPr>
        </p:nvSpPr>
        <p:spPr>
          <a:xfrm>
            <a:off x="2832100" y="5130800"/>
            <a:ext cx="2197100" cy="1219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700" b="1">
                <a:solidFill>
                  <a:srgbClr val="0879C9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设置</a:t>
            </a:r>
            <a:endParaRPr sz="1700" b="1">
              <a:solidFill>
                <a:srgbClr val="0879C9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>
              <a:spcAft>
                <a:spcPts val="400"/>
              </a:spcAft>
            </a:pPr>
            <a:r>
              <a:rPr sz="1600" b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28 可交互 · 无 id</a:t>
            </a:r>
            <a:endParaRPr sz="1600" b="0">
              <a:solidFill>
                <a:srgbClr val="1A1A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>
              <a:spcAft>
                <a:spcPts val="400"/>
              </a:spcAft>
            </a:pPr>
            <a:r>
              <a:rPr sz="1600" b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视觉通道 90.9%</a:t>
            </a:r>
            <a:endParaRPr sz="1600" b="0">
              <a:solidFill>
                <a:srgbClr val="1A1A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1" name="TextBox 18"/>
          <p:cNvSpPr txBox="1"/>
          <p:nvPr>
            <p:custDataLst>
              <p:tags r:id="rId7"/>
            </p:custDataLst>
          </p:nvPr>
        </p:nvSpPr>
        <p:spPr>
          <a:xfrm>
            <a:off x="5168900" y="5130800"/>
            <a:ext cx="2197100" cy="1219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700" b="1">
                <a:solidFill>
                  <a:srgbClr val="0879C9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时钟 · 表盘</a:t>
            </a:r>
            <a:endParaRPr sz="1700" b="1">
              <a:solidFill>
                <a:srgbClr val="0879C9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>
              <a:spcAft>
                <a:spcPts val="400"/>
              </a:spcAft>
            </a:pPr>
            <a:r>
              <a:rPr sz="1600" b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纯 Canvas 无节点</a:t>
            </a:r>
            <a:endParaRPr sz="1600" b="0">
              <a:solidFill>
                <a:srgbClr val="1A1A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>
              <a:spcAft>
                <a:spcPts val="400"/>
              </a:spcAft>
            </a:pPr>
            <a:r>
              <a:rPr sz="1600" b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OCR 读 7 行</a:t>
            </a:r>
            <a:endParaRPr sz="1600" b="0">
              <a:solidFill>
                <a:srgbClr val="1A1A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8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Text Placeholder 1"/>
          <p:cNvSpPr>
            <a:spLocks noGrp="1"/>
          </p:cNvSpPr>
          <p:nvPr>
            <p:ph type="body" sz="quarter" idx="13"/>
          </p:nvPr>
        </p:nvSpPr>
        <p:spPr>
          <a:xfrm>
            <a:off x="215067" y="171415"/>
            <a:ext cx="8778240" cy="0"/>
          </a:xfrm>
        </p:spPr>
        <p:txBody>
          <a:bodyPr wrap="square"/>
          <a:lstStyle/>
          <a:p>
            <a:r>
              <a:rPr sz="2400">
                <a:solidFill>
                  <a:srgbClr val="0879C9"/>
                </a:solidFill>
                <a:latin typeface="微软雅黑" panose="020B0503020204020204" pitchFamily="34" charset="-122"/>
              </a:rPr>
              <a:t>03 自动探索与用例执行</a:t>
            </a:r>
            <a:endParaRPr sz="2400">
              <a:solidFill>
                <a:srgbClr val="0879C9"/>
              </a:solidFill>
              <a:latin typeface="微软雅黑" panose="020B0503020204020204" pitchFamily="34" charset="-122"/>
            </a:endParaRPr>
          </a:p>
        </p:txBody>
      </p:sp>
      <p:pic>
        <p:nvPicPr>
          <p:cNvPr id="84" name="P14 用例文件" descr="fig_p14a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8000" y="1271181"/>
            <a:ext cx="5334000" cy="3833037"/>
          </a:xfrm>
          <a:prstGeom prst="rect">
            <a:avLst/>
          </a:prstGeom>
        </p:spPr>
      </p:pic>
      <p:pic>
        <p:nvPicPr>
          <p:cNvPr id="87" name="P14 执行报告" descr="fig_p14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0000" y="1295991"/>
            <a:ext cx="5334000" cy="3783418"/>
          </a:xfrm>
          <a:prstGeom prst="rect">
            <a:avLst/>
          </a:prstGeom>
        </p:spPr>
      </p:pic>
      <p:sp>
        <p:nvSpPr>
          <p:cNvPr id="88" name="生成到执行"/>
          <p:cNvSpPr/>
          <p:nvPr/>
        </p:nvSpPr>
        <p:spPr>
          <a:xfrm>
            <a:off x="5943600" y="2997200"/>
            <a:ext cx="330200" cy="381000"/>
          </a:xfrm>
          <a:prstGeom prst="rightArrow">
            <a:avLst/>
          </a:prstGeom>
          <a:solidFill>
            <a:srgbClr val="4FA9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结论条"/>
          <p:cNvSpPr/>
          <p:nvPr/>
        </p:nvSpPr>
        <p:spPr>
          <a:xfrm>
            <a:off x="508000" y="5384800"/>
            <a:ext cx="11176000" cy="584200"/>
          </a:xfrm>
          <a:prstGeom prst="roundRect">
            <a:avLst>
              <a:gd name="adj" fmla="val 50000"/>
            </a:avLst>
          </a:prstGeom>
          <a:solidFill>
            <a:srgbClr val="E6F6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0" bIns="0" rtlCol="0" anchor="ctr"/>
          <a:lstStyle/>
          <a:p>
            <a:pPr algn="ctr"/>
            <a:r>
              <a:rPr sz="1800" b="1">
                <a:solidFill>
                  <a:srgbClr val="0B4A77"/>
                </a:solidFill>
                <a:latin typeface="微软雅黑" panose="020B0503020204020204" pitchFamily="34" charset="-122"/>
              </a:rPr>
              <a:t>一条用例，从探索生成到真机跑通，全程无人工。</a:t>
            </a:r>
            <a:endParaRPr sz="1800" b="1">
              <a:solidFill>
                <a:srgbClr val="0B4A77"/>
              </a:solidFill>
              <a:latin typeface="微软雅黑" panose="020B0503020204020204" pitchFamily="34" charset="-122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3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Text Placeholder 1"/>
          <p:cNvSpPr>
            <a:spLocks noGrp="1"/>
          </p:cNvSpPr>
          <p:nvPr>
            <p:ph type="body" sz="quarter" idx="13"/>
          </p:nvPr>
        </p:nvSpPr>
        <p:spPr>
          <a:xfrm>
            <a:off x="215067" y="171415"/>
            <a:ext cx="8778240" cy="0"/>
          </a:xfrm>
        </p:spPr>
        <p:txBody>
          <a:bodyPr wrap="square"/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0879C9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03 失败归因实证</a:t>
            </a:r>
            <a:endParaRPr sz="2800" b="0">
              <a:solidFill>
                <a:srgbClr val="1A1A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5" name="P15 标签1"/>
          <p:cNvSpPr txBox="1"/>
          <p:nvPr>
            <p:custDataLst>
              <p:tags r:id="rId1"/>
            </p:custDataLst>
          </p:nvPr>
        </p:nvSpPr>
        <p:spPr>
          <a:xfrm>
            <a:off x="508000" y="914400"/>
            <a:ext cx="838200" cy="863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>
                <a:solidFill>
                  <a:srgbClr val="0879C9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现象</a:t>
            </a:r>
            <a:endParaRPr sz="1900" b="1">
              <a:solidFill>
                <a:srgbClr val="0879C9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6" name="P15 正文1"/>
          <p:cNvSpPr txBox="1"/>
          <p:nvPr>
            <p:custDataLst>
              <p:tags r:id="rId2"/>
            </p:custDataLst>
          </p:nvPr>
        </p:nvSpPr>
        <p:spPr>
          <a:xfrm>
            <a:off x="1371600" y="914400"/>
            <a:ext cx="5461000" cy="863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90 轮，每轮固定失败 1 步，累计 90 次。</a:t>
            </a:r>
            <a:endParaRPr sz="1700" b="0">
              <a:solidFill>
                <a:srgbClr val="1A1A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7" name="P15 标签2"/>
          <p:cNvSpPr txBox="1"/>
          <p:nvPr>
            <p:custDataLst>
              <p:tags r:id="rId3"/>
            </p:custDataLst>
          </p:nvPr>
        </p:nvSpPr>
        <p:spPr>
          <a:xfrm>
            <a:off x="508000" y="1879600"/>
            <a:ext cx="838200" cy="863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>
                <a:solidFill>
                  <a:srgbClr val="0879C9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取证</a:t>
            </a:r>
            <a:endParaRPr sz="1900" b="1">
              <a:solidFill>
                <a:srgbClr val="0879C9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8" name="P15 正文2"/>
          <p:cNvSpPr txBox="1"/>
          <p:nvPr>
            <p:custDataLst>
              <p:tags r:id="rId4"/>
            </p:custDataLst>
          </p:nvPr>
        </p:nvSpPr>
        <p:spPr>
          <a:xfrm>
            <a:off x="1371600" y="1879600"/>
            <a:ext cx="5461000" cy="863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失败全在「轨迹-3」；同批「轨迹-1」8 步全过；前台核验 0 失败。</a:t>
            </a:r>
            <a:endParaRPr sz="1700" b="0">
              <a:solidFill>
                <a:srgbClr val="1A1A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9" name="P15 标签3"/>
          <p:cNvSpPr txBox="1"/>
          <p:nvPr>
            <p:custDataLst>
              <p:tags r:id="rId5"/>
            </p:custDataLst>
          </p:nvPr>
        </p:nvSpPr>
        <p:spPr>
          <a:xfrm>
            <a:off x="508000" y="2844800"/>
            <a:ext cx="838200" cy="863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>
                <a:solidFill>
                  <a:srgbClr val="0879C9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判定</a:t>
            </a:r>
            <a:endParaRPr sz="1900" b="1">
              <a:solidFill>
                <a:srgbClr val="0879C9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0" name="P15 正文3"/>
          <p:cNvSpPr txBox="1"/>
          <p:nvPr>
            <p:custDataLst>
              <p:tags r:id="rId6"/>
            </p:custDataLst>
          </p:nvPr>
        </p:nvSpPr>
        <p:spPr>
          <a:xfrm>
            <a:off x="1371600" y="2844800"/>
            <a:ext cx="5461000" cy="863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排除应用与定位，属用例缺陷：轨迹-3 依赖遗留状态。</a:t>
            </a:r>
            <a:endParaRPr sz="1700" b="0">
              <a:solidFill>
                <a:srgbClr val="1A1A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1" name="P15 标签4"/>
          <p:cNvSpPr txBox="1"/>
          <p:nvPr>
            <p:custDataLst>
              <p:tags r:id="rId7"/>
            </p:custDataLst>
          </p:nvPr>
        </p:nvSpPr>
        <p:spPr>
          <a:xfrm>
            <a:off x="508000" y="3810000"/>
            <a:ext cx="838200" cy="863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>
                <a:solidFill>
                  <a:srgbClr val="0879C9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处理</a:t>
            </a:r>
            <a:endParaRPr sz="1900" b="1">
              <a:solidFill>
                <a:srgbClr val="0879C9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2" name="P15 正文4"/>
          <p:cNvSpPr txBox="1"/>
          <p:nvPr>
            <p:custDataLst>
              <p:tags r:id="rId8"/>
            </p:custDataLst>
          </p:nvPr>
        </p:nvSpPr>
        <p:spPr>
          <a:xfrm>
            <a:off x="1371600" y="3810000"/>
            <a:ext cx="5461000" cy="863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每轮前强制停止并重启，用例之间不继承页面状态。</a:t>
            </a:r>
            <a:endParaRPr sz="1700" b="0">
              <a:solidFill>
                <a:srgbClr val="1A1A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3" name="P15 标签5"/>
          <p:cNvSpPr txBox="1"/>
          <p:nvPr>
            <p:custDataLst>
              <p:tags r:id="rId9"/>
            </p:custDataLst>
          </p:nvPr>
        </p:nvSpPr>
        <p:spPr>
          <a:xfrm>
            <a:off x="508000" y="4775200"/>
            <a:ext cx="838200" cy="863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>
                <a:solidFill>
                  <a:srgbClr val="0879C9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结果</a:t>
            </a:r>
            <a:endParaRPr sz="1900" b="1">
              <a:solidFill>
                <a:srgbClr val="0879C9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4" name="P15 正文5"/>
          <p:cNvSpPr txBox="1"/>
          <p:nvPr>
            <p:custDataLst>
              <p:tags r:id="rId10"/>
            </p:custDataLst>
          </p:nvPr>
        </p:nvSpPr>
        <p:spPr>
          <a:xfrm>
            <a:off x="1371600" y="4775200"/>
            <a:ext cx="5461000" cy="863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后两版 0 失败：115 轮、1380 步、126.9 分钟。</a:t>
            </a:r>
            <a:endParaRPr sz="1700" b="0">
              <a:solidFill>
                <a:srgbClr val="1A1A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55" name="P15 证据" descr="fig_p15a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010400" y="914400"/>
            <a:ext cx="4597400" cy="3479800"/>
          </a:xfrm>
          <a:prstGeom prst="rect">
            <a:avLst/>
          </a:prstGeom>
        </p:spPr>
      </p:pic>
      <p:sp>
        <p:nvSpPr>
          <p:cNvPr id="56" name="P15 判定要点"/>
          <p:cNvSpPr txBox="1"/>
          <p:nvPr/>
        </p:nvSpPr>
        <p:spPr>
          <a:xfrm>
            <a:off x="7010400" y="4521200"/>
            <a:ext cx="4673600" cy="111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0879C9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判定要点　</a:t>
            </a:r>
            <a:r>
              <a:rPr sz="1600" b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失败只跟一条用例绑定、每轮一致 —— 指向用例自身，而非应用。</a:t>
            </a:r>
            <a:endParaRPr sz="1600" b="0">
              <a:solidFill>
                <a:srgbClr val="1A1A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7" name="P15 处置"/>
          <p:cNvSpPr/>
          <p:nvPr/>
        </p:nvSpPr>
        <p:spPr>
          <a:xfrm>
            <a:off x="508000" y="5816600"/>
            <a:ext cx="11176000" cy="558800"/>
          </a:xfrm>
          <a:prstGeom prst="roundRect">
            <a:avLst>
              <a:gd name="adj" fmla="val 20000"/>
            </a:avLst>
          </a:prstGeom>
          <a:solidFill>
            <a:srgbClr val="E6F6FE"/>
          </a:solidFill>
          <a:ln w="12700">
            <a:solidFill>
              <a:srgbClr val="CFE6F7"/>
            </a:solidFill>
          </a:ln>
          <a:effectLst/>
        </p:spPr>
        <p:txBody>
          <a:bodyPr wrap="square" lIns="228600" rIns="228600" rtlCol="0" anchor="ctr"/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0879C9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归因结论决定处置去向　</a:t>
            </a:r>
            <a:r>
              <a:rPr sz="1700" b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应用缺陷移交开发者、环境问题退回重跑、用例缺陷回改用例。</a:t>
            </a:r>
            <a:endParaRPr sz="1700" b="0">
              <a:solidFill>
                <a:srgbClr val="1A1A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sz="2400">
                <a:solidFill>
                  <a:srgbClr val="0879C9"/>
                </a:solidFill>
                <a:latin typeface="微软雅黑" panose="020B0503020204020204" pitchFamily="34" charset="-122"/>
              </a:rPr>
              <a:t>03 压力测试：真机实测</a:t>
            </a:r>
            <a:endParaRPr sz="2400">
              <a:solidFill>
                <a:srgbClr val="0879C9"/>
              </a:solidFill>
              <a:latin typeface="微软雅黑" panose="020B0503020204020204" pitchFamily="34" charset="-122"/>
            </a:endParaRPr>
          </a:p>
        </p:txBody>
      </p:sp>
      <p:sp>
        <p:nvSpPr>
          <p:cNvPr id="14" name="结论条"/>
          <p:cNvSpPr/>
          <p:nvPr/>
        </p:nvSpPr>
        <p:spPr>
          <a:xfrm>
            <a:off x="508000" y="5384800"/>
            <a:ext cx="11176000" cy="584200"/>
          </a:xfrm>
          <a:prstGeom prst="roundRect">
            <a:avLst>
              <a:gd name="adj" fmla="val 50000"/>
            </a:avLst>
          </a:prstGeom>
          <a:solidFill>
            <a:srgbClr val="E6F6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0" bIns="0" rtlCol="0" anchor="ctr"/>
          <a:lstStyle/>
          <a:p>
            <a:pPr algn="ctr"/>
            <a:r>
              <a:rPr sz="1800" b="1">
                <a:solidFill>
                  <a:srgbClr val="0B4A77"/>
                </a:solidFill>
                <a:latin typeface="微软雅黑" panose="020B0503020204020204" pitchFamily="34" charset="-122"/>
              </a:rPr>
              <a:t>三轮实测同一套链路：暴露缺陷 → 归因修复 → 回归验证。</a:t>
            </a:r>
            <a:endParaRPr sz="1800" b="1">
              <a:solidFill>
                <a:srgbClr val="0B4A77"/>
              </a:solidFill>
              <a:latin typeface="微软雅黑" panose="020B0503020204020204" pitchFamily="34" charset="-122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508000" y="1080000"/>
            <a:ext cx="3572933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>
                <a:solidFill>
                  <a:srgbClr val="0B4A77"/>
                </a:solidFill>
                <a:latin typeface="微软雅黑" panose="020B0503020204020204" pitchFamily="34" charset="-122"/>
              </a:rPr>
              <a:t>重复点击</a:t>
            </a:r>
            <a:endParaRPr sz="1700" b="1">
              <a:solidFill>
                <a:srgbClr val="0B4A77"/>
              </a:solidFill>
              <a:latin typeface="微软雅黑" panose="020B0503020204020204" pitchFamily="34" charset="-122"/>
            </a:endParaRPr>
          </a:p>
        </p:txBody>
      </p:sp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92904" y="1520000"/>
            <a:ext cx="1603125" cy="28500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508000" y="4560000"/>
            <a:ext cx="3572933" cy="7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0">
                <a:solidFill>
                  <a:srgbClr val="1A1A1A"/>
                </a:solidFill>
                <a:latin typeface="微软雅黑" panose="020B0503020204020204" pitchFamily="34" charset="-122"/>
              </a:rPr>
              <a:t>计算器加法 220 轮 · 2200 步 · 0 失败</a:t>
            </a:r>
            <a:endParaRPr sz="1400" b="0">
              <a:solidFill>
                <a:srgbClr val="1A1A1A"/>
              </a:solidFill>
              <a:latin typeface="微软雅黑" panose="020B0503020204020204" pitchFamily="34" charset="-122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4309533" y="1080000"/>
            <a:ext cx="3572933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>
                <a:solidFill>
                  <a:srgbClr val="0B4A77"/>
                </a:solidFill>
                <a:latin typeface="微软雅黑" panose="020B0503020204020204" pitchFamily="34" charset="-122"/>
              </a:rPr>
              <a:t>连续滑动</a:t>
            </a:r>
            <a:endParaRPr sz="1700" b="1">
              <a:solidFill>
                <a:srgbClr val="0B4A77"/>
              </a:solidFill>
              <a:latin typeface="微软雅黑" panose="020B0503020204020204" pitchFamily="34" charset="-122"/>
            </a:endParaRPr>
          </a:p>
        </p:txBody>
      </p:sp>
      <p:pic>
        <p:nvPicPr>
          <p:cNvPr id="19" name="Picture 18" descr="p11_swipe_ca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09533" y="1520000"/>
            <a:ext cx="3572933" cy="2567526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4309533" y="4560000"/>
            <a:ext cx="3572933" cy="7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0">
                <a:solidFill>
                  <a:srgbClr val="1A1A1A"/>
                </a:solidFill>
                <a:latin typeface="微软雅黑" panose="020B0503020204020204" pitchFamily="34" charset="-122"/>
              </a:rPr>
              <a:t>设置列表 20 轮 · 180 步 · 0 失败 · 15.7 分钟</a:t>
            </a:r>
            <a:endParaRPr sz="1400" b="0">
              <a:solidFill>
                <a:srgbClr val="1A1A1A"/>
              </a:solidFill>
              <a:latin typeface="微软雅黑" panose="020B0503020204020204" pitchFamily="34" charset="-122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8111066" y="1080000"/>
            <a:ext cx="3572933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>
                <a:solidFill>
                  <a:srgbClr val="0B4A77"/>
                </a:solidFill>
                <a:latin typeface="微软雅黑" panose="020B0503020204020204" pitchFamily="34" charset="-122"/>
              </a:rPr>
              <a:t>页面反复进出 + 长时间运行</a:t>
            </a:r>
            <a:endParaRPr sz="1700" b="1">
              <a:solidFill>
                <a:srgbClr val="0B4A77"/>
              </a:solidFill>
              <a:latin typeface="微软雅黑" panose="020B0503020204020204" pitchFamily="34" charset="-122"/>
            </a:endParaRPr>
          </a:p>
        </p:txBody>
      </p:sp>
      <p:pic>
        <p:nvPicPr>
          <p:cNvPr id="22" name="Picture 2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11066" y="1520000"/>
            <a:ext cx="3572933" cy="2143759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8111066" y="4560000"/>
            <a:ext cx="3572933" cy="7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0">
                <a:solidFill>
                  <a:srgbClr val="1A1A1A"/>
                </a:solidFill>
                <a:latin typeface="微软雅黑" panose="020B0503020204020204" pitchFamily="34" charset="-122"/>
              </a:rPr>
              <a:t>90 轮暴露用例缺陷 → 修复后 115 轮 0 失败</a:t>
            </a:r>
            <a:endParaRPr sz="1400" b="0">
              <a:solidFill>
                <a:srgbClr val="1A1A1A"/>
              </a:solidFill>
              <a:latin typeface="微软雅黑" panose="020B0503020204020204" pitchFamily="34" charset="-122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88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Text Placeholder 1"/>
          <p:cNvSpPr>
            <a:spLocks noGrp="1"/>
          </p:cNvSpPr>
          <p:nvPr>
            <p:ph type="body" sz="quarter" idx="13"/>
          </p:nvPr>
        </p:nvSpPr>
        <p:spPr>
          <a:xfrm>
            <a:off x="215067" y="171415"/>
            <a:ext cx="8778240" cy="0"/>
          </a:xfrm>
        </p:spPr>
        <p:txBody>
          <a:bodyPr wrap="square"/>
          <a:lstStyle/>
          <a:p>
            <a:pPr algn="l">
              <a:spcAft>
                <a:spcPts val="400"/>
              </a:spcAft>
              <a:buClrTx/>
              <a:buSzTx/>
            </a:pPr>
            <a:r>
              <a:rPr sz="2400">
                <a:solidFill>
                  <a:srgbClr val="0879C9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03 长时间运行</a:t>
            </a:r>
            <a:r>
              <a:rPr sz="2400">
                <a:solidFill>
                  <a:srgbClr val="0879C9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测试</a:t>
            </a:r>
            <a:endParaRPr sz="2400">
              <a:solidFill>
                <a:srgbClr val="0879C9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0" name="TextBox 2"/>
          <p:cNvSpPr txBox="1"/>
          <p:nvPr/>
        </p:nvSpPr>
        <p:spPr>
          <a:xfrm>
            <a:off x="7214235" y="1482090"/>
            <a:ext cx="6949440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4000" b="1">
                <a:solidFill>
                  <a:srgbClr val="0B6FB8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115 轮 · 0 失败</a:t>
            </a:r>
            <a:endParaRPr lang="zh-CN" sz="5600" b="1">
              <a:solidFill>
                <a:srgbClr val="0B6FB8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1" name="TextBox 3"/>
          <p:cNvSpPr txBox="1"/>
          <p:nvPr/>
        </p:nvSpPr>
        <p:spPr>
          <a:xfrm>
            <a:off x="7213600" y="2616200"/>
            <a:ext cx="4470400" cy="1676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0">
                <a:solidFill>
                  <a:srgbClr val="1A1A1A"/>
                </a:solidFill>
                <a:latin typeface="微软雅黑" panose="020B0503020204020204" pitchFamily="34" charset="-122"/>
              </a:rPr>
              <a:t>DAYU200 真机，连续 126.9 分钟</a:t>
            </a:r>
            <a:endParaRPr lang="zh-CN" sz="2000" b="0">
              <a:solidFill>
                <a:srgbClr val="1A1A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0">
                <a:solidFill>
                  <a:srgbClr val="1A1A1A"/>
                </a:solidFill>
                <a:latin typeface="微软雅黑" panose="020B0503020204020204" pitchFamily="34" charset="-122"/>
              </a:rPr>
              <a:t>每轮回放 12 步 + 探索爆发 + 前台核验</a:t>
            </a:r>
            <a:endParaRPr sz="1600" b="0">
              <a:solidFill>
                <a:srgbClr val="1A1A1A"/>
              </a:solidFill>
              <a:latin typeface="微软雅黑" panose="020B0503020204020204" pitchFamily="34" charset="-122"/>
            </a:endParaRP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0">
                <a:solidFill>
                  <a:srgbClr val="1A1A1A"/>
                </a:solidFill>
                <a:latin typeface="微软雅黑" panose="020B0503020204020204" pitchFamily="34" charset="-122"/>
              </a:rPr>
              <a:t>零人工干预，失败步骤 0</a:t>
            </a:r>
            <a:endParaRPr sz="1600" b="0">
              <a:solidFill>
                <a:srgbClr val="1A1A1A"/>
              </a:solidFill>
              <a:latin typeface="微软雅黑" panose="020B0503020204020204" pitchFamily="34" charset="-122"/>
            </a:endParaRP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0">
                <a:solidFill>
                  <a:srgbClr val="1A1A1A"/>
                </a:solidFill>
                <a:latin typeface="微软雅黑" panose="020B0503020204020204" pitchFamily="34" charset="-122"/>
              </a:rPr>
              <a:t>内存后半段降 1.70%，无持续增长</a:t>
            </a:r>
            <a:endParaRPr sz="1600" b="0">
              <a:solidFill>
                <a:srgbClr val="1A1A1A"/>
              </a:solidFill>
              <a:latin typeface="微软雅黑" panose="020B0503020204020204" pitchFamily="34" charset="-122"/>
            </a:endParaRPr>
          </a:p>
        </p:txBody>
      </p:sp>
      <p:pic>
        <p:nvPicPr>
          <p:cNvPr id="208" name="Picture 121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36880" y="1016000"/>
            <a:ext cx="6205220" cy="3410585"/>
          </a:xfrm>
          <a:prstGeom prst="rect">
            <a:avLst/>
          </a:prstGeom>
        </p:spPr>
      </p:pic>
      <p:sp>
        <p:nvSpPr>
          <p:cNvPr id="210" name="Rounded Rectangle 123"/>
          <p:cNvSpPr/>
          <p:nvPr/>
        </p:nvSpPr>
        <p:spPr>
          <a:xfrm>
            <a:off x="508000" y="4597400"/>
            <a:ext cx="11201400" cy="1854200"/>
          </a:xfrm>
          <a:prstGeom prst="roundRect">
            <a:avLst>
              <a:gd name="adj" fmla="val 8000"/>
            </a:avLst>
          </a:prstGeom>
          <a:solidFill>
            <a:srgbClr val="1033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800" tIns="127000" rIns="177800" bIns="127000" rtlCol="0" anchor="t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7FD0F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执行日志摘录 · b15_real_v3.log（节选）</a:t>
            </a:r>
            <a:endParaRPr sz="1600" b="1">
              <a:solidFill>
                <a:srgbClr val="7FD0FF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8F1FF"/>
                </a:solidFill>
                <a:latin typeface="Consolas" panose="020B0609020204030204"/>
                <a:ea typeface="微软雅黑" panose="020B0503020204020204" pitchFamily="34" charset="-122"/>
              </a:rPr>
              <a:t>[12:10:22] 周期   1/115: replay 12/12 步 | 累计   12 步（失败 0）| 1.1 分钟</a:t>
            </a:r>
            <a:endParaRPr sz="1600" b="0">
              <a:solidFill>
                <a:srgbClr val="D8F1FF"/>
              </a:solidFill>
              <a:latin typeface="Consolas" panose="020B0609020204030204"/>
              <a:ea typeface="微软雅黑" panose="020B0503020204020204" pitchFamily="34" charset="-122"/>
            </a:endParaRP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8F1FF"/>
                </a:solidFill>
                <a:latin typeface="Consolas" panose="020B0609020204030204"/>
                <a:ea typeface="微软雅黑" panose="020B0503020204020204" pitchFamily="34" charset="-122"/>
              </a:rPr>
              <a:t>[13:13:14] 周期  58/115: replay 12/12 步 | 累计  696 步（失败 0）| 1.1 分钟</a:t>
            </a:r>
            <a:endParaRPr sz="1600" b="0">
              <a:solidFill>
                <a:srgbClr val="D8F1FF"/>
              </a:solidFill>
              <a:latin typeface="Consolas" panose="020B0609020204030204"/>
              <a:ea typeface="微软雅黑" panose="020B0503020204020204" pitchFamily="34" charset="-122"/>
            </a:endParaRP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8F1FF"/>
                </a:solidFill>
                <a:latin typeface="Consolas" panose="020B0609020204030204"/>
                <a:ea typeface="微软雅黑" panose="020B0503020204020204" pitchFamily="34" charset="-122"/>
              </a:rPr>
              <a:t>[14:16:06] 周期 115/115: replay 12/12 步 | 累计 1380 步（失败 0）| 1.1 分钟</a:t>
            </a:r>
            <a:endParaRPr sz="1600" b="0">
              <a:solidFill>
                <a:srgbClr val="D8F1FF"/>
              </a:solidFill>
              <a:latin typeface="Consolas" panose="020B0609020204030204"/>
              <a:ea typeface="微软雅黑" panose="020B0503020204020204" pitchFamily="34" charset="-122"/>
            </a:endParaRP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9FE09F"/>
                </a:solidFill>
                <a:latin typeface="Consolas" panose="020B0609020204030204"/>
                <a:ea typeface="微软雅黑" panose="020B0503020204020204" pitchFamily="34" charset="-122"/>
              </a:rPr>
              <a:t>[14:16:06] 全部周期完成: 115 周期 / 1380 步（失败 0）→ 达标</a:t>
            </a:r>
            <a:endParaRPr sz="1600" b="0">
              <a:solidFill>
                <a:srgbClr val="9FE09F"/>
              </a:solidFill>
              <a:latin typeface="Consolas" panose="020B0609020204030204"/>
              <a:ea typeface="微软雅黑" panose="020B0503020204020204" pitchFamily="34" charset="-122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"/>
          <p:cNvSpPr txBox="1"/>
          <p:nvPr/>
        </p:nvSpPr>
        <p:spPr>
          <a:xfrm>
            <a:off x="215900" y="196533"/>
            <a:ext cx="9906000" cy="36893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lang="en-US" sz="2400" b="1">
                <a:solidFill>
                  <a:srgbClr val="0879C9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04 </a:t>
            </a:r>
            <a:r>
              <a:rPr sz="2400" b="1">
                <a:solidFill>
                  <a:srgbClr val="0879C9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创新</a:t>
            </a:r>
            <a:r>
              <a:rPr lang="zh-CN" sz="2400" b="1">
                <a:solidFill>
                  <a:srgbClr val="0879C9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特点</a:t>
            </a:r>
            <a:r>
              <a:rPr sz="2400" b="1">
                <a:solidFill>
                  <a:srgbClr val="0879C9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：四条设计</a:t>
            </a:r>
            <a:endParaRPr sz="2400" b="1">
              <a:solidFill>
                <a:srgbClr val="0879C9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序号"/>
          <p:cNvSpPr txBox="1"/>
          <p:nvPr>
            <p:custDataLst>
              <p:tags r:id="rId1"/>
            </p:custDataLst>
          </p:nvPr>
        </p:nvSpPr>
        <p:spPr>
          <a:xfrm>
            <a:off x="508000" y="1092200"/>
            <a:ext cx="889000" cy="381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4FA9E8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01</a:t>
            </a:r>
            <a:endParaRPr sz="2600" b="1">
              <a:solidFill>
                <a:srgbClr val="4FA9E8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" name="小标题"/>
          <p:cNvSpPr txBox="1"/>
          <p:nvPr>
            <p:custDataLst>
              <p:tags r:id="rId2"/>
            </p:custDataLst>
          </p:nvPr>
        </p:nvSpPr>
        <p:spPr>
          <a:xfrm>
            <a:off x="1371600" y="1092200"/>
            <a:ext cx="3810000" cy="381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0B4A77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四路证据，双向比对</a:t>
            </a:r>
            <a:endParaRPr sz="2000" b="1">
              <a:solidFill>
                <a:srgbClr val="0B4A77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" name="说明"/>
          <p:cNvSpPr txBox="1"/>
          <p:nvPr>
            <p:custDataLst>
              <p:tags r:id="rId3"/>
            </p:custDataLst>
          </p:nvPr>
        </p:nvSpPr>
        <p:spPr>
          <a:xfrm>
            <a:off x="1371600" y="1362075"/>
            <a:ext cx="10312400" cy="4921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endParaRPr sz="1600" b="0">
              <a:solidFill>
                <a:srgbClr val="1A1A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lnSpc>
                <a:spcPct val="100000"/>
              </a:lnSpc>
            </a:pPr>
            <a:r>
              <a:rPr sz="1600" b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源码与应用声明</a:t>
            </a:r>
            <a:r>
              <a:rPr lang="zh-CN" sz="1600" b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普遍样例</a:t>
            </a:r>
            <a:r>
              <a:rPr sz="1600" b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，控件树、截图与文字识别回答</a:t>
            </a:r>
            <a:r>
              <a:rPr lang="zh-CN" sz="1600" b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实际数据</a:t>
            </a:r>
            <a:r>
              <a:rPr sz="1600" b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。</a:t>
            </a:r>
            <a:endParaRPr sz="1600" b="0">
              <a:solidFill>
                <a:srgbClr val="1A1A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6" name="Connector 5"/>
          <p:cNvCxnSpPr/>
          <p:nvPr>
            <p:custDataLst>
              <p:tags r:id="rId4"/>
            </p:custDataLst>
          </p:nvPr>
        </p:nvCxnSpPr>
        <p:spPr>
          <a:xfrm>
            <a:off x="508000" y="2311400"/>
            <a:ext cx="11176000" cy="0"/>
          </a:xfrm>
          <a:prstGeom prst="line">
            <a:avLst/>
          </a:prstGeom>
          <a:ln w="9525">
            <a:solidFill>
              <a:srgbClr val="DCE9F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序号"/>
          <p:cNvSpPr txBox="1"/>
          <p:nvPr>
            <p:custDataLst>
              <p:tags r:id="rId5"/>
            </p:custDataLst>
          </p:nvPr>
        </p:nvSpPr>
        <p:spPr>
          <a:xfrm>
            <a:off x="508000" y="2432685"/>
            <a:ext cx="889000" cy="381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4FA9E8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02</a:t>
            </a:r>
            <a:endParaRPr sz="2600" b="1">
              <a:solidFill>
                <a:srgbClr val="4FA9E8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" name="小标题"/>
          <p:cNvSpPr txBox="1"/>
          <p:nvPr>
            <p:custDataLst>
              <p:tags r:id="rId6"/>
            </p:custDataLst>
          </p:nvPr>
        </p:nvSpPr>
        <p:spPr>
          <a:xfrm>
            <a:off x="1371600" y="2432685"/>
            <a:ext cx="3810000" cy="381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0B4A77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通道逐级降级</a:t>
            </a:r>
            <a:endParaRPr sz="2000" b="1">
              <a:solidFill>
                <a:srgbClr val="0B4A77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" name="说明"/>
          <p:cNvSpPr txBox="1"/>
          <p:nvPr>
            <p:custDataLst>
              <p:tags r:id="rId7"/>
            </p:custDataLst>
          </p:nvPr>
        </p:nvSpPr>
        <p:spPr>
          <a:xfrm>
            <a:off x="1371600" y="2654300"/>
            <a:ext cx="10312400" cy="4921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endParaRPr sz="1600" b="0">
              <a:solidFill>
                <a:srgbClr val="1A1A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lnSpc>
                <a:spcPct val="100000"/>
              </a:lnSpc>
            </a:pPr>
            <a:r>
              <a:rPr sz="1600" b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控件树可用则直取，候选不足转视觉模型，纯画布转文字识别；三条通道输出同一格式，后续流程不区分来源。</a:t>
            </a:r>
            <a:endParaRPr sz="1600" b="0">
              <a:solidFill>
                <a:srgbClr val="1A1A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10" name="Connector 9"/>
          <p:cNvCxnSpPr/>
          <p:nvPr>
            <p:custDataLst>
              <p:tags r:id="rId8"/>
            </p:custDataLst>
          </p:nvPr>
        </p:nvCxnSpPr>
        <p:spPr>
          <a:xfrm>
            <a:off x="508000" y="3581400"/>
            <a:ext cx="11176000" cy="0"/>
          </a:xfrm>
          <a:prstGeom prst="line">
            <a:avLst/>
          </a:prstGeom>
          <a:ln w="9525">
            <a:solidFill>
              <a:srgbClr val="DCE9F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序号"/>
          <p:cNvSpPr txBox="1"/>
          <p:nvPr>
            <p:custDataLst>
              <p:tags r:id="rId9"/>
            </p:custDataLst>
          </p:nvPr>
        </p:nvSpPr>
        <p:spPr>
          <a:xfrm>
            <a:off x="508000" y="3702050"/>
            <a:ext cx="889000" cy="381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4FA9E8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03</a:t>
            </a:r>
            <a:endParaRPr sz="2600" b="1">
              <a:solidFill>
                <a:srgbClr val="4FA9E8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2" name="小标题"/>
          <p:cNvSpPr txBox="1"/>
          <p:nvPr>
            <p:custDataLst>
              <p:tags r:id="rId10"/>
            </p:custDataLst>
          </p:nvPr>
        </p:nvSpPr>
        <p:spPr>
          <a:xfrm>
            <a:off x="1371600" y="3714115"/>
            <a:ext cx="3810000" cy="381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0B4A77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零部署外部观察</a:t>
            </a:r>
            <a:endParaRPr sz="2000" b="1">
              <a:solidFill>
                <a:srgbClr val="0B4A77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3" name="说明"/>
          <p:cNvSpPr txBox="1"/>
          <p:nvPr>
            <p:custDataLst>
              <p:tags r:id="rId11"/>
            </p:custDataLst>
          </p:nvPr>
        </p:nvSpPr>
        <p:spPr>
          <a:xfrm>
            <a:off x="1397000" y="3970655"/>
            <a:ext cx="10312400" cy="4921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endParaRPr sz="1600" b="0">
              <a:solidFill>
                <a:srgbClr val="1A1A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lnSpc>
                <a:spcPct val="100000"/>
              </a:lnSpc>
            </a:pPr>
            <a:r>
              <a:rPr sz="1600" b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不打包测试安装包、不改被测应用一行代码；同一套用例可跨应用复用，换应用只需换入口。</a:t>
            </a:r>
            <a:endParaRPr sz="1600" b="0">
              <a:solidFill>
                <a:srgbClr val="1A1A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14" name="Connector 13"/>
          <p:cNvCxnSpPr/>
          <p:nvPr>
            <p:custDataLst>
              <p:tags r:id="rId12"/>
            </p:custDataLst>
          </p:nvPr>
        </p:nvCxnSpPr>
        <p:spPr>
          <a:xfrm>
            <a:off x="508000" y="4851400"/>
            <a:ext cx="11176000" cy="0"/>
          </a:xfrm>
          <a:prstGeom prst="line">
            <a:avLst/>
          </a:prstGeom>
          <a:ln w="9525">
            <a:solidFill>
              <a:srgbClr val="DCE9F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序号"/>
          <p:cNvSpPr txBox="1"/>
          <p:nvPr>
            <p:custDataLst>
              <p:tags r:id="rId13"/>
            </p:custDataLst>
          </p:nvPr>
        </p:nvSpPr>
        <p:spPr>
          <a:xfrm>
            <a:off x="508000" y="4995545"/>
            <a:ext cx="889000" cy="381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4FA9E8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04</a:t>
            </a:r>
            <a:endParaRPr sz="2600" b="1">
              <a:solidFill>
                <a:srgbClr val="4FA9E8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6" name="小标题"/>
          <p:cNvSpPr txBox="1"/>
          <p:nvPr>
            <p:custDataLst>
              <p:tags r:id="rId14"/>
            </p:custDataLst>
          </p:nvPr>
        </p:nvSpPr>
        <p:spPr>
          <a:xfrm>
            <a:off x="1397000" y="4995545"/>
            <a:ext cx="3810000" cy="381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0B4A77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证据与结论分离</a:t>
            </a:r>
            <a:endParaRPr sz="2000" b="1">
              <a:solidFill>
                <a:srgbClr val="0B4A77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7" name="说明"/>
          <p:cNvSpPr txBox="1"/>
          <p:nvPr>
            <p:custDataLst>
              <p:tags r:id="rId15"/>
            </p:custDataLst>
          </p:nvPr>
        </p:nvSpPr>
        <p:spPr>
          <a:xfrm>
            <a:off x="1397000" y="5287010"/>
            <a:ext cx="10312400" cy="4921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endParaRPr sz="1600" b="0">
              <a:solidFill>
                <a:srgbClr val="1A1A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lnSpc>
                <a:spcPct val="100000"/>
              </a:lnSpc>
            </a:pPr>
            <a:r>
              <a:rPr sz="1600" b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信号采集只出证据与置信度，归因模块据此下结论；证据不足时</a:t>
            </a:r>
            <a:r>
              <a:rPr lang="zh-CN" sz="1600" b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标为未知</a:t>
            </a:r>
            <a:r>
              <a:rPr sz="1600" b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，不硬凑一个结论。</a:t>
            </a:r>
            <a:endParaRPr sz="1600" b="0">
              <a:solidFill>
                <a:srgbClr val="1A1A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8" name="收束"/>
          <p:cNvSpPr txBox="1"/>
          <p:nvPr>
            <p:custDataLst>
              <p:tags r:id="rId16"/>
            </p:custDataLst>
          </p:nvPr>
        </p:nvSpPr>
        <p:spPr>
          <a:xfrm>
            <a:off x="508000" y="6214428"/>
            <a:ext cx="11176000" cy="24574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endParaRPr sz="1600" b="0">
              <a:solidFill>
                <a:srgbClr val="4A6B8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20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Text Placeholder 1"/>
          <p:cNvSpPr>
            <a:spLocks noGrp="1"/>
          </p:cNvSpPr>
          <p:nvPr>
            <p:ph type="body" sz="quarter" idx="13"/>
          </p:nvPr>
        </p:nvSpPr>
        <p:spPr>
          <a:xfrm>
            <a:off x="215900" y="165100"/>
            <a:ext cx="8775700" cy="431800"/>
          </a:xfrm>
        </p:spPr>
        <p:txBody>
          <a:bodyPr wrap="square"/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0879C9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400" b="1">
                <a:solidFill>
                  <a:srgbClr val="0879C9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04 </a:t>
            </a:r>
            <a:r>
              <a:rPr sz="2400" b="1">
                <a:solidFill>
                  <a:srgbClr val="0879C9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命题对照：13 条逐条验收</a:t>
            </a:r>
            <a:endParaRPr sz="2800" b="0">
              <a:solidFill>
                <a:srgbClr val="1A1A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aphicFrame>
        <p:nvGraphicFramePr>
          <p:cNvPr id="222" name="验收表"/>
          <p:cNvGraphicFramePr>
            <a:graphicFrameLocks noGrp="1"/>
          </p:cNvGraphicFramePr>
          <p:nvPr/>
        </p:nvGraphicFramePr>
        <p:xfrm>
          <a:off x="508000" y="939800"/>
          <a:ext cx="11176000" cy="51943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295400"/>
                <a:gridCol w="4699000"/>
                <a:gridCol w="1016000"/>
                <a:gridCol w="4165600"/>
              </a:tblGrid>
              <a:tr h="4064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600" b="1">
                          <a:solidFill>
                            <a:srgbClr val="0879C9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分类</a:t>
                      </a:r>
                      <a:endParaRPr sz="1600" b="1">
                        <a:solidFill>
                          <a:srgbClr val="0879C9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88900" marR="76200" marT="25400" marB="25400" anchor="ctr">
                    <a:lnL w="12700" cap="flat" cmpd="sng" algn="ctr">
                      <a:solidFill>
                        <a:srgbClr val="0879C9"/>
                      </a:solidFill>
                    </a:lnL>
                    <a:lnR w="12700" cap="flat" cmpd="sng" algn="ctr">
                      <a:solidFill>
                        <a:srgbClr val="0879C9"/>
                      </a:solidFill>
                    </a:lnR>
                    <a:lnT w="12700" cap="flat" cmpd="sng" algn="ctr">
                      <a:solidFill>
                        <a:srgbClr val="0879C9"/>
                      </a:solidFill>
                    </a:lnT>
                    <a:lnB w="12700" cap="flat" cmpd="sng" algn="ctr">
                      <a:solidFill>
                        <a:srgbClr val="0879C9"/>
                      </a:solidFill>
                    </a:lnB>
                    <a:solidFill>
                      <a:srgbClr val="E6F6F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600" b="1">
                          <a:solidFill>
                            <a:srgbClr val="0879C9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命题要求</a:t>
                      </a:r>
                      <a:endParaRPr sz="1600" b="1">
                        <a:solidFill>
                          <a:srgbClr val="0879C9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88900" marR="76200" marT="25400" marB="25400" anchor="ctr">
                    <a:lnL w="12700" cap="flat" cmpd="sng" algn="ctr">
                      <a:solidFill>
                        <a:srgbClr val="0879C9"/>
                      </a:solidFill>
                    </a:lnL>
                    <a:lnR w="12700" cap="flat" cmpd="sng" algn="ctr">
                      <a:solidFill>
                        <a:srgbClr val="0879C9"/>
                      </a:solidFill>
                    </a:lnR>
                    <a:lnT w="12700" cap="flat" cmpd="sng" algn="ctr">
                      <a:solidFill>
                        <a:srgbClr val="0879C9"/>
                      </a:solidFill>
                    </a:lnT>
                    <a:lnB w="12700" cap="flat" cmpd="sng" algn="ctr">
                      <a:solidFill>
                        <a:srgbClr val="0879C9"/>
                      </a:solidFill>
                    </a:lnB>
                    <a:solidFill>
                      <a:srgbClr val="E6F6F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600" b="1">
                          <a:solidFill>
                            <a:srgbClr val="0879C9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情况</a:t>
                      </a:r>
                      <a:endParaRPr sz="1600" b="1">
                        <a:solidFill>
                          <a:srgbClr val="0879C9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88900" marR="76200" marT="25400" marB="25400" anchor="ctr">
                    <a:lnL w="12700" cap="flat" cmpd="sng" algn="ctr">
                      <a:solidFill>
                        <a:srgbClr val="0879C9"/>
                      </a:solidFill>
                    </a:lnL>
                    <a:lnR w="12700" cap="flat" cmpd="sng" algn="ctr">
                      <a:solidFill>
                        <a:srgbClr val="0879C9"/>
                      </a:solidFill>
                    </a:lnR>
                    <a:lnT w="12700" cap="flat" cmpd="sng" algn="ctr">
                      <a:solidFill>
                        <a:srgbClr val="0879C9"/>
                      </a:solidFill>
                    </a:lnT>
                    <a:lnB w="12700" cap="flat" cmpd="sng" algn="ctr">
                      <a:solidFill>
                        <a:srgbClr val="0879C9"/>
                      </a:solidFill>
                    </a:lnB>
                    <a:solidFill>
                      <a:srgbClr val="E6F6F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600" b="1">
                          <a:solidFill>
                            <a:srgbClr val="0879C9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实测与落点</a:t>
                      </a:r>
                      <a:endParaRPr sz="1600" b="1">
                        <a:solidFill>
                          <a:srgbClr val="0879C9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88900" marR="76200" marT="25400" marB="25400" anchor="ctr">
                    <a:lnL w="12700" cap="flat" cmpd="sng" algn="ctr">
                      <a:solidFill>
                        <a:srgbClr val="0879C9"/>
                      </a:solidFill>
                    </a:lnL>
                    <a:lnR w="12700" cap="flat" cmpd="sng" algn="ctr">
                      <a:solidFill>
                        <a:srgbClr val="0879C9"/>
                      </a:solidFill>
                    </a:lnR>
                    <a:lnT w="12700" cap="flat" cmpd="sng" algn="ctr">
                      <a:solidFill>
                        <a:srgbClr val="0879C9"/>
                      </a:solidFill>
                    </a:lnT>
                    <a:lnB w="12700" cap="flat" cmpd="sng" algn="ctr">
                      <a:solidFill>
                        <a:srgbClr val="0879C9"/>
                      </a:solidFill>
                    </a:lnB>
                    <a:solidFill>
                      <a:srgbClr val="E6F6FE"/>
                    </a:solidFill>
                  </a:tcPr>
                </a:tc>
              </a:tr>
              <a:tr h="368300">
                <a:tc rowSpan="2"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600" b="1">
                          <a:solidFill>
                            <a:srgbClr val="0879C9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① 感知定位</a:t>
                      </a:r>
                      <a:endParaRPr sz="1600" b="1">
                        <a:solidFill>
                          <a:srgbClr val="0879C9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88900" marR="76200" marT="25400" marB="25400" anchor="ctr">
                    <a:lnL w="9525" cap="flat" cmpd="sng" algn="ctr">
                      <a:solidFill>
                        <a:srgbClr val="D8E7F2"/>
                      </a:solidFill>
                    </a:lnL>
                    <a:lnR w="9525" cap="flat" cmpd="sng" algn="ctr">
                      <a:solidFill>
                        <a:srgbClr val="D8E7F2"/>
                      </a:solidFill>
                    </a:lnR>
                    <a:lnT w="9525" cap="flat" cmpd="sng" algn="ctr">
                      <a:solidFill>
                        <a:srgbClr val="D8E7F2"/>
                      </a:solidFill>
                    </a:lnT>
                    <a:lnB w="9525" cap="flat" cmpd="sng" algn="ctr">
                      <a:solidFill>
                        <a:srgbClr val="D8E7F2"/>
                      </a:solidFill>
                    </a:lnB>
                    <a:solidFill>
                      <a:srgbClr val="E1F1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600" b="1">
                          <a:solidFill>
                            <a:srgbClr val="0879C9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基01　</a:t>
                      </a:r>
                      <a:r>
                        <a:rPr sz="1600" b="0">
                          <a:solidFill>
                            <a:srgbClr val="1A1A1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采集截图与布局，识别可交互元素</a:t>
                      </a:r>
                      <a:endParaRPr sz="1600" b="0">
                        <a:solidFill>
                          <a:srgbClr val="1A1A1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88900" marR="76200" marT="25400" marB="25400" anchor="ctr">
                    <a:lnL w="9525" cap="flat" cmpd="sng" algn="ctr">
                      <a:solidFill>
                        <a:srgbClr val="D8E7F2"/>
                      </a:solidFill>
                    </a:lnL>
                    <a:lnR w="9525" cap="flat" cmpd="sng" algn="ctr">
                      <a:solidFill>
                        <a:srgbClr val="D8E7F2"/>
                      </a:solidFill>
                    </a:lnR>
                    <a:lnT w="9525" cap="flat" cmpd="sng" algn="ctr">
                      <a:solidFill>
                        <a:srgbClr val="D8E7F2"/>
                      </a:solidFill>
                    </a:lnT>
                    <a:lnB w="9525" cap="flat" cmpd="sng" algn="ctr">
                      <a:solidFill>
                        <a:srgbClr val="D8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600" b="1">
                          <a:solidFill>
                            <a:srgbClr val="0879C9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完成</a:t>
                      </a:r>
                      <a:endParaRPr sz="1600" b="1">
                        <a:solidFill>
                          <a:srgbClr val="0879C9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88900" marR="76200" marT="25400" marB="25400" anchor="ctr">
                    <a:lnL w="9525" cap="flat" cmpd="sng" algn="ctr">
                      <a:solidFill>
                        <a:srgbClr val="D8E7F2"/>
                      </a:solidFill>
                    </a:lnL>
                    <a:lnR w="9525" cap="flat" cmpd="sng" algn="ctr">
                      <a:solidFill>
                        <a:srgbClr val="D8E7F2"/>
                      </a:solidFill>
                    </a:lnR>
                    <a:lnT w="9525" cap="flat" cmpd="sng" algn="ctr">
                      <a:solidFill>
                        <a:srgbClr val="D8E7F2"/>
                      </a:solidFill>
                    </a:lnT>
                    <a:lnB w="9525" cap="flat" cmpd="sng" algn="ctr">
                      <a:solidFill>
                        <a:srgbClr val="D8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buClrTx/>
                        <a:buSzTx/>
                        <a:buFontTx/>
                      </a:pPr>
                      <a:r>
                        <a:rPr sz="1600" b="0">
                          <a:solidFill>
                            <a:srgbClr val="1A1A1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四路来源 · 仅 70/1648 带 id</a:t>
                      </a:r>
                      <a:endParaRPr sz="1600" b="0">
                        <a:solidFill>
                          <a:srgbClr val="1A1A1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88900" marR="76200" marT="25400" marB="25400" anchor="ctr">
                    <a:lnL w="9525" cap="flat" cmpd="sng" algn="ctr">
                      <a:solidFill>
                        <a:srgbClr val="D8E7F2"/>
                      </a:solidFill>
                    </a:lnL>
                    <a:lnR w="9525" cap="flat" cmpd="sng" algn="ctr">
                      <a:solidFill>
                        <a:srgbClr val="D8E7F2"/>
                      </a:solidFill>
                    </a:lnR>
                    <a:lnT w="9525" cap="flat" cmpd="sng" algn="ctr">
                      <a:solidFill>
                        <a:srgbClr val="D8E7F2"/>
                      </a:solidFill>
                    </a:lnT>
                    <a:lnB w="9525" cap="flat" cmpd="sng" algn="ctr">
                      <a:solidFill>
                        <a:srgbClr val="D8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68300">
                <a:tc vMerge="1">
                  <a:tcPr/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600" b="1">
                          <a:solidFill>
                            <a:srgbClr val="0879C9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挑01　</a:t>
                      </a:r>
                      <a:r>
                        <a:rPr sz="1600" b="0">
                          <a:solidFill>
                            <a:srgbClr val="1A1A1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多模态理解截图与布局，识别意图与路径</a:t>
                      </a:r>
                      <a:endParaRPr sz="1600" b="0">
                        <a:solidFill>
                          <a:srgbClr val="1A1A1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88900" marR="76200" marT="25400" marB="25400" anchor="ctr">
                    <a:lnL w="9525" cap="flat" cmpd="sng" algn="ctr">
                      <a:solidFill>
                        <a:srgbClr val="D8E7F2"/>
                      </a:solidFill>
                    </a:lnL>
                    <a:lnR w="9525" cap="flat" cmpd="sng" algn="ctr">
                      <a:solidFill>
                        <a:srgbClr val="D8E7F2"/>
                      </a:solidFill>
                    </a:lnR>
                    <a:lnT w="9525" cap="flat" cmpd="sng" algn="ctr">
                      <a:solidFill>
                        <a:srgbClr val="D8E7F2"/>
                      </a:solidFill>
                    </a:lnT>
                    <a:lnB w="9525" cap="flat" cmpd="sng" algn="ctr">
                      <a:solidFill>
                        <a:srgbClr val="D8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600" b="1">
                          <a:solidFill>
                            <a:srgbClr val="0879C9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完成</a:t>
                      </a:r>
                      <a:endParaRPr sz="1600" b="1">
                        <a:solidFill>
                          <a:srgbClr val="0879C9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88900" marR="76200" marT="25400" marB="25400" anchor="ctr">
                    <a:lnL w="9525" cap="flat" cmpd="sng" algn="ctr">
                      <a:solidFill>
                        <a:srgbClr val="D8E7F2"/>
                      </a:solidFill>
                    </a:lnL>
                    <a:lnR w="9525" cap="flat" cmpd="sng" algn="ctr">
                      <a:solidFill>
                        <a:srgbClr val="D8E7F2"/>
                      </a:solidFill>
                    </a:lnR>
                    <a:lnT w="9525" cap="flat" cmpd="sng" algn="ctr">
                      <a:solidFill>
                        <a:srgbClr val="D8E7F2"/>
                      </a:solidFill>
                    </a:lnT>
                    <a:lnB w="9525" cap="flat" cmpd="sng" algn="ctr">
                      <a:solidFill>
                        <a:srgbClr val="D8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buClrTx/>
                        <a:buSzTx/>
                        <a:buFontTx/>
                      </a:pPr>
                      <a:r>
                        <a:rPr sz="1600" b="0">
                          <a:solidFill>
                            <a:srgbClr val="1A1A1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一致率 97.8% · 免微调 67.4%</a:t>
                      </a:r>
                      <a:endParaRPr sz="1600" b="0">
                        <a:solidFill>
                          <a:srgbClr val="1A1A1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88900" marR="76200" marT="25400" marB="25400" anchor="ctr">
                    <a:lnL w="9525" cap="flat" cmpd="sng" algn="ctr">
                      <a:solidFill>
                        <a:srgbClr val="D8E7F2"/>
                      </a:solidFill>
                    </a:lnL>
                    <a:lnR w="9525" cap="flat" cmpd="sng" algn="ctr">
                      <a:solidFill>
                        <a:srgbClr val="D8E7F2"/>
                      </a:solidFill>
                    </a:lnR>
                    <a:lnT w="9525" cap="flat" cmpd="sng" algn="ctr">
                      <a:solidFill>
                        <a:srgbClr val="D8E7F2"/>
                      </a:solidFill>
                    </a:lnT>
                    <a:lnB w="9525" cap="flat" cmpd="sng" algn="ctr">
                      <a:solidFill>
                        <a:srgbClr val="D8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68300">
                <a:tc rowSpan="4"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600" b="1">
                          <a:solidFill>
                            <a:srgbClr val="0879C9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② 探索生成</a:t>
                      </a:r>
                      <a:endParaRPr sz="1600" b="1">
                        <a:solidFill>
                          <a:srgbClr val="0879C9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88900" marR="76200" marT="25400" marB="25400" anchor="ctr">
                    <a:lnL w="9525" cap="flat" cmpd="sng" algn="ctr">
                      <a:solidFill>
                        <a:srgbClr val="D8E7F2"/>
                      </a:solidFill>
                    </a:lnL>
                    <a:lnR w="9525" cap="flat" cmpd="sng" algn="ctr">
                      <a:solidFill>
                        <a:srgbClr val="D8E7F2"/>
                      </a:solidFill>
                    </a:lnR>
                    <a:lnT w="9525" cap="flat" cmpd="sng" algn="ctr">
                      <a:solidFill>
                        <a:srgbClr val="D8E7F2"/>
                      </a:solidFill>
                    </a:lnT>
                    <a:lnB w="9525" cap="flat" cmpd="sng" algn="ctr">
                      <a:solidFill>
                        <a:srgbClr val="D8E7F2"/>
                      </a:solidFill>
                    </a:lnB>
                    <a:solidFill>
                      <a:srgbClr val="E1F1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600" b="1">
                          <a:solidFill>
                            <a:srgbClr val="0879C9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基02　</a:t>
                      </a:r>
                      <a:r>
                        <a:rPr sz="1600" b="0">
                          <a:solidFill>
                            <a:srgbClr val="1A1A1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至少 3 类控件交互的脚本生成</a:t>
                      </a:r>
                      <a:endParaRPr sz="1600" b="0">
                        <a:solidFill>
                          <a:srgbClr val="1A1A1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88900" marR="76200" marT="25400" marB="25400" anchor="ctr">
                    <a:lnL w="9525" cap="flat" cmpd="sng" algn="ctr">
                      <a:solidFill>
                        <a:srgbClr val="D8E7F2"/>
                      </a:solidFill>
                    </a:lnL>
                    <a:lnR w="9525" cap="flat" cmpd="sng" algn="ctr">
                      <a:solidFill>
                        <a:srgbClr val="D8E7F2"/>
                      </a:solidFill>
                    </a:lnR>
                    <a:lnT w="9525" cap="flat" cmpd="sng" algn="ctr">
                      <a:solidFill>
                        <a:srgbClr val="D8E7F2"/>
                      </a:solidFill>
                    </a:lnT>
                    <a:lnB w="9525" cap="flat" cmpd="sng" algn="ctr">
                      <a:solidFill>
                        <a:srgbClr val="D8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600" b="1">
                          <a:solidFill>
                            <a:srgbClr val="0879C9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完成</a:t>
                      </a:r>
                      <a:endParaRPr sz="1600" b="1">
                        <a:solidFill>
                          <a:srgbClr val="0879C9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88900" marR="76200" marT="25400" marB="25400" anchor="ctr">
                    <a:lnL w="9525" cap="flat" cmpd="sng" algn="ctr">
                      <a:solidFill>
                        <a:srgbClr val="D8E7F2"/>
                      </a:solidFill>
                    </a:lnL>
                    <a:lnR w="9525" cap="flat" cmpd="sng" algn="ctr">
                      <a:solidFill>
                        <a:srgbClr val="D8E7F2"/>
                      </a:solidFill>
                    </a:lnR>
                    <a:lnT w="9525" cap="flat" cmpd="sng" algn="ctr">
                      <a:solidFill>
                        <a:srgbClr val="D8E7F2"/>
                      </a:solidFill>
                    </a:lnT>
                    <a:lnB w="9525" cap="flat" cmpd="sng" algn="ctr">
                      <a:solidFill>
                        <a:srgbClr val="D8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buClrTx/>
                        <a:buSzTx/>
                        <a:buFontTx/>
                      </a:pPr>
                      <a:r>
                        <a:rPr sz="1600" b="0">
                          <a:solidFill>
                            <a:srgbClr val="1A1A1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五类动作 · 生成 26 条用例</a:t>
                      </a:r>
                      <a:endParaRPr sz="1600" b="0">
                        <a:solidFill>
                          <a:srgbClr val="1A1A1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88900" marR="76200" marT="25400" marB="25400" anchor="ctr">
                    <a:lnL w="9525" cap="flat" cmpd="sng" algn="ctr">
                      <a:solidFill>
                        <a:srgbClr val="D8E7F2"/>
                      </a:solidFill>
                    </a:lnL>
                    <a:lnR w="9525" cap="flat" cmpd="sng" algn="ctr">
                      <a:solidFill>
                        <a:srgbClr val="D8E7F2"/>
                      </a:solidFill>
                    </a:lnR>
                    <a:lnT w="9525" cap="flat" cmpd="sng" algn="ctr">
                      <a:solidFill>
                        <a:srgbClr val="D8E7F2"/>
                      </a:solidFill>
                    </a:lnT>
                    <a:lnB w="9525" cap="flat" cmpd="sng" algn="ctr">
                      <a:solidFill>
                        <a:srgbClr val="D8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68300">
                <a:tc vMerge="1">
                  <a:tcPr/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600" b="1">
                          <a:solidFill>
                            <a:srgbClr val="0879C9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基03　</a:t>
                      </a:r>
                      <a:r>
                        <a:rPr sz="1600" b="0">
                          <a:solidFill>
                            <a:srgbClr val="1A1A1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可复用脚本，含断言，框架可执行</a:t>
                      </a:r>
                      <a:endParaRPr sz="1600" b="0">
                        <a:solidFill>
                          <a:srgbClr val="1A1A1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88900" marR="76200" marT="25400" marB="25400" anchor="ctr">
                    <a:lnL w="9525" cap="flat" cmpd="sng" algn="ctr">
                      <a:solidFill>
                        <a:srgbClr val="D8E7F2"/>
                      </a:solidFill>
                    </a:lnL>
                    <a:lnR w="9525" cap="flat" cmpd="sng" algn="ctr">
                      <a:solidFill>
                        <a:srgbClr val="D8E7F2"/>
                      </a:solidFill>
                    </a:lnR>
                    <a:lnT w="9525" cap="flat" cmpd="sng" algn="ctr">
                      <a:solidFill>
                        <a:srgbClr val="D8E7F2"/>
                      </a:solidFill>
                    </a:lnT>
                    <a:lnB w="9525" cap="flat" cmpd="sng" algn="ctr">
                      <a:solidFill>
                        <a:srgbClr val="D8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600" b="1">
                          <a:solidFill>
                            <a:srgbClr val="0879C9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完成</a:t>
                      </a:r>
                      <a:endParaRPr sz="1600" b="1">
                        <a:solidFill>
                          <a:srgbClr val="0879C9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88900" marR="76200" marT="25400" marB="25400" anchor="ctr">
                    <a:lnL w="9525" cap="flat" cmpd="sng" algn="ctr">
                      <a:solidFill>
                        <a:srgbClr val="D8E7F2"/>
                      </a:solidFill>
                    </a:lnL>
                    <a:lnR w="9525" cap="flat" cmpd="sng" algn="ctr">
                      <a:solidFill>
                        <a:srgbClr val="D8E7F2"/>
                      </a:solidFill>
                    </a:lnR>
                    <a:lnT w="9525" cap="flat" cmpd="sng" algn="ctr">
                      <a:solidFill>
                        <a:srgbClr val="D8E7F2"/>
                      </a:solidFill>
                    </a:lnT>
                    <a:lnB w="9525" cap="flat" cmpd="sng" algn="ctr">
                      <a:solidFill>
                        <a:srgbClr val="D8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buClrTx/>
                        <a:buSzTx/>
                        <a:buFontTx/>
                      </a:pPr>
                      <a:r>
                        <a:rPr sz="1600" b="0">
                          <a:solidFill>
                            <a:srgbClr val="1A1A1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 静态可执行 92.3% · 无断言 0 条</a:t>
                      </a:r>
                      <a:endParaRPr sz="1600" b="0">
                        <a:solidFill>
                          <a:srgbClr val="1A1A1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88900" marR="76200" marT="25400" marB="25400" anchor="ctr">
                    <a:lnL w="9525" cap="flat" cmpd="sng" algn="ctr">
                      <a:solidFill>
                        <a:srgbClr val="D8E7F2"/>
                      </a:solidFill>
                    </a:lnL>
                    <a:lnR w="9525" cap="flat" cmpd="sng" algn="ctr">
                      <a:solidFill>
                        <a:srgbClr val="D8E7F2"/>
                      </a:solidFill>
                    </a:lnR>
                    <a:lnT w="9525" cap="flat" cmpd="sng" algn="ctr">
                      <a:solidFill>
                        <a:srgbClr val="D8E7F2"/>
                      </a:solidFill>
                    </a:lnT>
                    <a:lnB w="9525" cap="flat" cmpd="sng" algn="ctr">
                      <a:solidFill>
                        <a:srgbClr val="D8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68300">
                <a:tc vMerge="1">
                  <a:tcPr/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600" b="1">
                          <a:solidFill>
                            <a:srgbClr val="0879C9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挑02　</a:t>
                      </a:r>
                      <a:r>
                        <a:rPr sz="1600" b="0">
                          <a:solidFill>
                            <a:srgbClr val="1A1A1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自然语言生成问题复现脚本</a:t>
                      </a:r>
                      <a:endParaRPr sz="1600" b="0">
                        <a:solidFill>
                          <a:srgbClr val="1A1A1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88900" marR="76200" marT="25400" marB="25400" anchor="ctr">
                    <a:lnL w="9525" cap="flat" cmpd="sng" algn="ctr">
                      <a:solidFill>
                        <a:srgbClr val="D8E7F2"/>
                      </a:solidFill>
                    </a:lnL>
                    <a:lnR w="9525" cap="flat" cmpd="sng" algn="ctr">
                      <a:solidFill>
                        <a:srgbClr val="D8E7F2"/>
                      </a:solidFill>
                    </a:lnR>
                    <a:lnT w="9525" cap="flat" cmpd="sng" algn="ctr">
                      <a:solidFill>
                        <a:srgbClr val="D8E7F2"/>
                      </a:solidFill>
                    </a:lnT>
                    <a:lnB w="9525" cap="flat" cmpd="sng" algn="ctr">
                      <a:solidFill>
                        <a:srgbClr val="D8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600" b="1">
                          <a:solidFill>
                            <a:srgbClr val="0879C9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完成</a:t>
                      </a:r>
                      <a:endParaRPr sz="1600" b="1">
                        <a:solidFill>
                          <a:srgbClr val="0879C9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88900" marR="76200" marT="25400" marB="25400" anchor="ctr">
                    <a:lnL w="9525" cap="flat" cmpd="sng" algn="ctr">
                      <a:solidFill>
                        <a:srgbClr val="D8E7F2"/>
                      </a:solidFill>
                    </a:lnL>
                    <a:lnR w="9525" cap="flat" cmpd="sng" algn="ctr">
                      <a:solidFill>
                        <a:srgbClr val="D8E7F2"/>
                      </a:solidFill>
                    </a:lnR>
                    <a:lnT w="9525" cap="flat" cmpd="sng" algn="ctr">
                      <a:solidFill>
                        <a:srgbClr val="D8E7F2"/>
                      </a:solidFill>
                    </a:lnT>
                    <a:lnB w="9525" cap="flat" cmpd="sng" algn="ctr">
                      <a:solidFill>
                        <a:srgbClr val="D8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buClrTx/>
                        <a:buSzTx/>
                        <a:buFontTx/>
                      </a:pPr>
                      <a:r>
                        <a:rPr sz="1600" b="0">
                          <a:solidFill>
                            <a:srgbClr val="1A1A1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 真机 23/24 · 第二轮 22/24</a:t>
                      </a:r>
                      <a:endParaRPr sz="1600" b="0">
                        <a:solidFill>
                          <a:srgbClr val="1A1A1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88900" marR="76200" marT="25400" marB="25400" anchor="ctr">
                    <a:lnL w="9525" cap="flat" cmpd="sng" algn="ctr">
                      <a:solidFill>
                        <a:srgbClr val="D8E7F2"/>
                      </a:solidFill>
                    </a:lnL>
                    <a:lnR w="9525" cap="flat" cmpd="sng" algn="ctr">
                      <a:solidFill>
                        <a:srgbClr val="D8E7F2"/>
                      </a:solidFill>
                    </a:lnR>
                    <a:lnT w="9525" cap="flat" cmpd="sng" algn="ctr">
                      <a:solidFill>
                        <a:srgbClr val="D8E7F2"/>
                      </a:solidFill>
                    </a:lnT>
                    <a:lnB w="9525" cap="flat" cmpd="sng" algn="ctr">
                      <a:solidFill>
                        <a:srgbClr val="D8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68300">
                <a:tc vMerge="1">
                  <a:tcPr/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600" b="1">
                          <a:solidFill>
                            <a:srgbClr val="0879C9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挑03　</a:t>
                      </a:r>
                      <a:r>
                        <a:rPr sz="1600" b="0">
                          <a:solidFill>
                            <a:srgbClr val="1A1A1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自动探索跳转，生成状态图</a:t>
                      </a:r>
                      <a:endParaRPr sz="1600" b="0">
                        <a:solidFill>
                          <a:srgbClr val="1A1A1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88900" marR="76200" marT="25400" marB="25400" anchor="ctr">
                    <a:lnL w="9525" cap="flat" cmpd="sng" algn="ctr">
                      <a:solidFill>
                        <a:srgbClr val="D8E7F2"/>
                      </a:solidFill>
                    </a:lnL>
                    <a:lnR w="9525" cap="flat" cmpd="sng" algn="ctr">
                      <a:solidFill>
                        <a:srgbClr val="D8E7F2"/>
                      </a:solidFill>
                    </a:lnR>
                    <a:lnT w="9525" cap="flat" cmpd="sng" algn="ctr">
                      <a:solidFill>
                        <a:srgbClr val="D8E7F2"/>
                      </a:solidFill>
                    </a:lnT>
                    <a:lnB w="9525" cap="flat" cmpd="sng" algn="ctr">
                      <a:solidFill>
                        <a:srgbClr val="D8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600" b="1">
                          <a:solidFill>
                            <a:srgbClr val="0879C9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完成</a:t>
                      </a:r>
                      <a:endParaRPr sz="1600" b="1">
                        <a:solidFill>
                          <a:srgbClr val="0879C9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88900" marR="76200" marT="25400" marB="25400" anchor="ctr">
                    <a:lnL w="9525" cap="flat" cmpd="sng" algn="ctr">
                      <a:solidFill>
                        <a:srgbClr val="D8E7F2"/>
                      </a:solidFill>
                    </a:lnL>
                    <a:lnR w="9525" cap="flat" cmpd="sng" algn="ctr">
                      <a:solidFill>
                        <a:srgbClr val="D8E7F2"/>
                      </a:solidFill>
                    </a:lnR>
                    <a:lnT w="9525" cap="flat" cmpd="sng" algn="ctr">
                      <a:solidFill>
                        <a:srgbClr val="D8E7F2"/>
                      </a:solidFill>
                    </a:lnT>
                    <a:lnB w="9525" cap="flat" cmpd="sng" algn="ctr">
                      <a:solidFill>
                        <a:srgbClr val="D8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buClrTx/>
                        <a:buSzTx/>
                        <a:buFontTx/>
                      </a:pPr>
                      <a:r>
                        <a:rPr sz="1600" b="0">
                          <a:solidFill>
                            <a:srgbClr val="1A1A1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 3/3 页 · 5 状态 · 7 跳转</a:t>
                      </a:r>
                      <a:endParaRPr sz="1600" b="0">
                        <a:solidFill>
                          <a:srgbClr val="1A1A1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88900" marR="76200" marT="25400" marB="25400" anchor="ctr">
                    <a:lnL w="9525" cap="flat" cmpd="sng" algn="ctr">
                      <a:solidFill>
                        <a:srgbClr val="D8E7F2"/>
                      </a:solidFill>
                    </a:lnL>
                    <a:lnR w="9525" cap="flat" cmpd="sng" algn="ctr">
                      <a:solidFill>
                        <a:srgbClr val="D8E7F2"/>
                      </a:solidFill>
                    </a:lnR>
                    <a:lnT w="9525" cap="flat" cmpd="sng" algn="ctr">
                      <a:solidFill>
                        <a:srgbClr val="D8E7F2"/>
                      </a:solidFill>
                    </a:lnT>
                    <a:lnB w="9525" cap="flat" cmpd="sng" algn="ctr">
                      <a:solidFill>
                        <a:srgbClr val="D8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68300">
                <a:tc rowSpan="4"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600" b="1">
                          <a:solidFill>
                            <a:srgbClr val="0879C9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③ 执行归因</a:t>
                      </a:r>
                      <a:endParaRPr sz="1600" b="1">
                        <a:solidFill>
                          <a:srgbClr val="0879C9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88900" marR="76200" marT="25400" marB="25400" anchor="ctr">
                    <a:lnL w="9525" cap="flat" cmpd="sng" algn="ctr">
                      <a:solidFill>
                        <a:srgbClr val="D8E7F2"/>
                      </a:solidFill>
                    </a:lnL>
                    <a:lnR w="9525" cap="flat" cmpd="sng" algn="ctr">
                      <a:solidFill>
                        <a:srgbClr val="D8E7F2"/>
                      </a:solidFill>
                    </a:lnR>
                    <a:lnT w="9525" cap="flat" cmpd="sng" algn="ctr">
                      <a:solidFill>
                        <a:srgbClr val="D8E7F2"/>
                      </a:solidFill>
                    </a:lnT>
                    <a:lnB w="9525" cap="flat" cmpd="sng" algn="ctr">
                      <a:solidFill>
                        <a:srgbClr val="D8E7F2"/>
                      </a:solidFill>
                    </a:lnB>
                    <a:solidFill>
                      <a:srgbClr val="E1F1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600" b="1">
                          <a:solidFill>
                            <a:srgbClr val="0879C9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基04　</a:t>
                      </a:r>
                      <a:r>
                        <a:rPr sz="1600" b="0">
                          <a:solidFill>
                            <a:srgbClr val="1A1A1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至少 2 类测试场景</a:t>
                      </a:r>
                      <a:endParaRPr sz="1600" b="0">
                        <a:solidFill>
                          <a:srgbClr val="1A1A1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88900" marR="76200" marT="25400" marB="25400" anchor="ctr">
                    <a:lnL w="9525" cap="flat" cmpd="sng" algn="ctr">
                      <a:solidFill>
                        <a:srgbClr val="D8E7F2"/>
                      </a:solidFill>
                    </a:lnL>
                    <a:lnR w="9525" cap="flat" cmpd="sng" algn="ctr">
                      <a:solidFill>
                        <a:srgbClr val="D8E7F2"/>
                      </a:solidFill>
                    </a:lnR>
                    <a:lnT w="9525" cap="flat" cmpd="sng" algn="ctr">
                      <a:solidFill>
                        <a:srgbClr val="D8E7F2"/>
                      </a:solidFill>
                    </a:lnT>
                    <a:lnB w="9525" cap="flat" cmpd="sng" algn="ctr">
                      <a:solidFill>
                        <a:srgbClr val="D8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600" b="1">
                          <a:solidFill>
                            <a:srgbClr val="0879C9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完成</a:t>
                      </a:r>
                      <a:endParaRPr sz="1600" b="1">
                        <a:solidFill>
                          <a:srgbClr val="0879C9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88900" marR="76200" marT="25400" marB="25400" anchor="ctr">
                    <a:lnL w="9525" cap="flat" cmpd="sng" algn="ctr">
                      <a:solidFill>
                        <a:srgbClr val="D8E7F2"/>
                      </a:solidFill>
                    </a:lnL>
                    <a:lnR w="9525" cap="flat" cmpd="sng" algn="ctr">
                      <a:solidFill>
                        <a:srgbClr val="D8E7F2"/>
                      </a:solidFill>
                    </a:lnR>
                    <a:lnT w="9525" cap="flat" cmpd="sng" algn="ctr">
                      <a:solidFill>
                        <a:srgbClr val="D8E7F2"/>
                      </a:solidFill>
                    </a:lnT>
                    <a:lnB w="9525" cap="flat" cmpd="sng" algn="ctr">
                      <a:solidFill>
                        <a:srgbClr val="D8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buClrTx/>
                        <a:buSzTx/>
                        <a:buFontTx/>
                      </a:pPr>
                      <a:r>
                        <a:rPr sz="1600" b="0">
                          <a:solidFill>
                            <a:srgbClr val="1A1A1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 问题复现 · 探索 · 压力测试 · 回归</a:t>
                      </a:r>
                      <a:endParaRPr sz="1600" b="0">
                        <a:solidFill>
                          <a:srgbClr val="1A1A1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88900" marR="76200" marT="25400" marB="25400" anchor="ctr">
                    <a:lnL w="9525" cap="flat" cmpd="sng" algn="ctr">
                      <a:solidFill>
                        <a:srgbClr val="D8E7F2"/>
                      </a:solidFill>
                    </a:lnL>
                    <a:lnR w="9525" cap="flat" cmpd="sng" algn="ctr">
                      <a:solidFill>
                        <a:srgbClr val="D8E7F2"/>
                      </a:solidFill>
                    </a:lnR>
                    <a:lnT w="9525" cap="flat" cmpd="sng" algn="ctr">
                      <a:solidFill>
                        <a:srgbClr val="D8E7F2"/>
                      </a:solidFill>
                    </a:lnT>
                    <a:lnB w="9525" cap="flat" cmpd="sng" algn="ctr">
                      <a:solidFill>
                        <a:srgbClr val="D8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68300">
                <a:tc vMerge="1">
                  <a:tcPr/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600" b="1">
                          <a:solidFill>
                            <a:srgbClr val="0879C9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挑04　</a:t>
                      </a:r>
                      <a:r>
                        <a:rPr sz="1600" b="0">
                          <a:solidFill>
                            <a:srgbClr val="1A1A1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压力测试脚本生成四类</a:t>
                      </a:r>
                      <a:endParaRPr sz="1600" b="0">
                        <a:solidFill>
                          <a:srgbClr val="1A1A1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88900" marR="76200" marT="25400" marB="25400" anchor="ctr">
                    <a:lnL w="9525" cap="flat" cmpd="sng" algn="ctr">
                      <a:solidFill>
                        <a:srgbClr val="D8E7F2"/>
                      </a:solidFill>
                    </a:lnL>
                    <a:lnR w="9525" cap="flat" cmpd="sng" algn="ctr">
                      <a:solidFill>
                        <a:srgbClr val="D8E7F2"/>
                      </a:solidFill>
                    </a:lnR>
                    <a:lnT w="9525" cap="flat" cmpd="sng" algn="ctr">
                      <a:solidFill>
                        <a:srgbClr val="D8E7F2"/>
                      </a:solidFill>
                    </a:lnT>
                    <a:lnB w="9525" cap="flat" cmpd="sng" algn="ctr">
                      <a:solidFill>
                        <a:srgbClr val="D8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600" b="1">
                          <a:solidFill>
                            <a:srgbClr val="0879C9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完成</a:t>
                      </a:r>
                      <a:endParaRPr sz="1600" b="1">
                        <a:solidFill>
                          <a:srgbClr val="0879C9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88900" marR="76200" marT="25400" marB="25400" anchor="ctr">
                    <a:lnL w="9525" cap="flat" cmpd="sng" algn="ctr">
                      <a:solidFill>
                        <a:srgbClr val="D8E7F2"/>
                      </a:solidFill>
                    </a:lnL>
                    <a:lnR w="9525" cap="flat" cmpd="sng" algn="ctr">
                      <a:solidFill>
                        <a:srgbClr val="D8E7F2"/>
                      </a:solidFill>
                    </a:lnR>
                    <a:lnT w="9525" cap="flat" cmpd="sng" algn="ctr">
                      <a:solidFill>
                        <a:srgbClr val="D8E7F2"/>
                      </a:solidFill>
                    </a:lnT>
                    <a:lnB w="9525" cap="flat" cmpd="sng" algn="ctr">
                      <a:solidFill>
                        <a:srgbClr val="D8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buClrTx/>
                        <a:buSzTx/>
                        <a:buFontTx/>
                      </a:pPr>
                      <a:r>
                        <a:rPr sz="1600" b="0">
                          <a:solidFill>
                            <a:srgbClr val="1A1A1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 115 轮 · 0 失败 · 126.9 分钟</a:t>
                      </a:r>
                      <a:endParaRPr sz="1600" b="0">
                        <a:solidFill>
                          <a:srgbClr val="1A1A1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88900" marR="76200" marT="25400" marB="25400" anchor="ctr">
                    <a:lnL w="9525" cap="flat" cmpd="sng" algn="ctr">
                      <a:solidFill>
                        <a:srgbClr val="D8E7F2"/>
                      </a:solidFill>
                    </a:lnL>
                    <a:lnR w="9525" cap="flat" cmpd="sng" algn="ctr">
                      <a:solidFill>
                        <a:srgbClr val="D8E7F2"/>
                      </a:solidFill>
                    </a:lnR>
                    <a:lnT w="9525" cap="flat" cmpd="sng" algn="ctr">
                      <a:solidFill>
                        <a:srgbClr val="D8E7F2"/>
                      </a:solidFill>
                    </a:lnT>
                    <a:lnB w="9525" cap="flat" cmpd="sng" algn="ctr">
                      <a:solidFill>
                        <a:srgbClr val="D8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68300">
                <a:tc vMerge="1">
                  <a:tcPr/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600" b="1">
                          <a:solidFill>
                            <a:srgbClr val="0879C9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挑05　</a:t>
                      </a:r>
                      <a:r>
                        <a:rPr sz="1600" b="0">
                          <a:solidFill>
                            <a:srgbClr val="1A1A1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识别崩溃、卡死、白屏、无响应</a:t>
                      </a:r>
                      <a:endParaRPr sz="1600" b="0">
                        <a:solidFill>
                          <a:srgbClr val="1A1A1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88900" marR="76200" marT="25400" marB="25400" anchor="ctr">
                    <a:lnL w="9525" cap="flat" cmpd="sng" algn="ctr">
                      <a:solidFill>
                        <a:srgbClr val="D8E7F2"/>
                      </a:solidFill>
                    </a:lnL>
                    <a:lnR w="9525" cap="flat" cmpd="sng" algn="ctr">
                      <a:solidFill>
                        <a:srgbClr val="D8E7F2"/>
                      </a:solidFill>
                    </a:lnR>
                    <a:lnT w="9525" cap="flat" cmpd="sng" algn="ctr">
                      <a:solidFill>
                        <a:srgbClr val="D8E7F2"/>
                      </a:solidFill>
                    </a:lnT>
                    <a:lnB w="9525" cap="flat" cmpd="sng" algn="ctr">
                      <a:solidFill>
                        <a:srgbClr val="D8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600" b="1">
                          <a:solidFill>
                            <a:srgbClr val="0879C9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完成</a:t>
                      </a:r>
                      <a:endParaRPr sz="1600" b="1">
                        <a:solidFill>
                          <a:srgbClr val="0879C9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88900" marR="76200" marT="25400" marB="25400" anchor="ctr">
                    <a:lnL w="9525" cap="flat" cmpd="sng" algn="ctr">
                      <a:solidFill>
                        <a:srgbClr val="D8E7F2"/>
                      </a:solidFill>
                    </a:lnL>
                    <a:lnR w="9525" cap="flat" cmpd="sng" algn="ctr">
                      <a:solidFill>
                        <a:srgbClr val="D8E7F2"/>
                      </a:solidFill>
                    </a:lnR>
                    <a:lnT w="9525" cap="flat" cmpd="sng" algn="ctr">
                      <a:solidFill>
                        <a:srgbClr val="D8E7F2"/>
                      </a:solidFill>
                    </a:lnT>
                    <a:lnB w="9525" cap="flat" cmpd="sng" algn="ctr">
                      <a:solidFill>
                        <a:srgbClr val="D8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buClrTx/>
                        <a:buSzTx/>
                        <a:buFontTx/>
                      </a:pPr>
                      <a:r>
                        <a:rPr sz="1600" b="0">
                          <a:solidFill>
                            <a:srgbClr val="1A1A1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 六类信号 · 四分类归因</a:t>
                      </a:r>
                      <a:endParaRPr sz="1600" b="0">
                        <a:solidFill>
                          <a:srgbClr val="1A1A1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88900" marR="76200" marT="25400" marB="25400" anchor="ctr">
                    <a:lnL w="9525" cap="flat" cmpd="sng" algn="ctr">
                      <a:solidFill>
                        <a:srgbClr val="D8E7F2"/>
                      </a:solidFill>
                    </a:lnL>
                    <a:lnR w="9525" cap="flat" cmpd="sng" algn="ctr">
                      <a:solidFill>
                        <a:srgbClr val="D8E7F2"/>
                      </a:solidFill>
                    </a:lnR>
                    <a:lnT w="9525" cap="flat" cmpd="sng" algn="ctr">
                      <a:solidFill>
                        <a:srgbClr val="D8E7F2"/>
                      </a:solidFill>
                    </a:lnT>
                    <a:lnB w="9525" cap="flat" cmpd="sng" algn="ctr">
                      <a:solidFill>
                        <a:srgbClr val="D8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68300">
                <a:tc vMerge="1">
                  <a:tcPr/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600" b="1">
                          <a:solidFill>
                            <a:srgbClr val="0879C9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挑06　</a:t>
                      </a:r>
                      <a:r>
                        <a:rPr sz="1600" b="0">
                          <a:solidFill>
                            <a:srgbClr val="1A1A1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用例沉淀与复用</a:t>
                      </a:r>
                      <a:endParaRPr sz="1600" b="0">
                        <a:solidFill>
                          <a:srgbClr val="1A1A1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88900" marR="76200" marT="25400" marB="25400" anchor="ctr">
                    <a:lnL w="9525" cap="flat" cmpd="sng" algn="ctr">
                      <a:solidFill>
                        <a:srgbClr val="D8E7F2"/>
                      </a:solidFill>
                    </a:lnL>
                    <a:lnR w="9525" cap="flat" cmpd="sng" algn="ctr">
                      <a:solidFill>
                        <a:srgbClr val="D8E7F2"/>
                      </a:solidFill>
                    </a:lnR>
                    <a:lnT w="9525" cap="flat" cmpd="sng" algn="ctr">
                      <a:solidFill>
                        <a:srgbClr val="D8E7F2"/>
                      </a:solidFill>
                    </a:lnT>
                    <a:lnB w="9525" cap="flat" cmpd="sng" algn="ctr">
                      <a:solidFill>
                        <a:srgbClr val="D8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600" b="1">
                          <a:solidFill>
                            <a:srgbClr val="0879C9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完成</a:t>
                      </a:r>
                      <a:endParaRPr sz="1600" b="1">
                        <a:solidFill>
                          <a:srgbClr val="0879C9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88900" marR="76200" marT="25400" marB="25400" anchor="ctr">
                    <a:lnL w="9525" cap="flat" cmpd="sng" algn="ctr">
                      <a:solidFill>
                        <a:srgbClr val="D8E7F2"/>
                      </a:solidFill>
                    </a:lnL>
                    <a:lnR w="9525" cap="flat" cmpd="sng" algn="ctr">
                      <a:solidFill>
                        <a:srgbClr val="D8E7F2"/>
                      </a:solidFill>
                    </a:lnR>
                    <a:lnT w="9525" cap="flat" cmpd="sng" algn="ctr">
                      <a:solidFill>
                        <a:srgbClr val="D8E7F2"/>
                      </a:solidFill>
                    </a:lnT>
                    <a:lnB w="9525" cap="flat" cmpd="sng" algn="ctr">
                      <a:solidFill>
                        <a:srgbClr val="D8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buClrTx/>
                        <a:buSzTx/>
                        <a:buFontTx/>
                      </a:pPr>
                      <a:r>
                        <a:rPr sz="1600" b="0">
                          <a:solidFill>
                            <a:srgbClr val="1A1A1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 轨迹转回归集，可重放</a:t>
                      </a:r>
                      <a:endParaRPr sz="1600" b="0">
                        <a:solidFill>
                          <a:srgbClr val="1A1A1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88900" marR="76200" marT="25400" marB="25400" anchor="ctr">
                    <a:lnL w="9525" cap="flat" cmpd="sng" algn="ctr">
                      <a:solidFill>
                        <a:srgbClr val="D8E7F2"/>
                      </a:solidFill>
                    </a:lnL>
                    <a:lnR w="9525" cap="flat" cmpd="sng" algn="ctr">
                      <a:solidFill>
                        <a:srgbClr val="D8E7F2"/>
                      </a:solidFill>
                    </a:lnR>
                    <a:lnT w="9525" cap="flat" cmpd="sng" algn="ctr">
                      <a:solidFill>
                        <a:srgbClr val="D8E7F2"/>
                      </a:solidFill>
                    </a:lnT>
                    <a:lnB w="9525" cap="flat" cmpd="sng" algn="ctr">
                      <a:solidFill>
                        <a:srgbClr val="D8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68300">
                <a:tc rowSpan="3"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600" b="1">
                          <a:solidFill>
                            <a:srgbClr val="0879C9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④ 交付验证</a:t>
                      </a:r>
                      <a:endParaRPr sz="1600" b="1">
                        <a:solidFill>
                          <a:srgbClr val="0879C9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88900" marR="76200" marT="25400" marB="25400" anchor="ctr">
                    <a:lnL w="9525" cap="flat" cmpd="sng" algn="ctr">
                      <a:solidFill>
                        <a:srgbClr val="D8E7F2"/>
                      </a:solidFill>
                    </a:lnL>
                    <a:lnR w="9525" cap="flat" cmpd="sng" algn="ctr">
                      <a:solidFill>
                        <a:srgbClr val="D8E7F2"/>
                      </a:solidFill>
                    </a:lnR>
                    <a:lnT w="9525" cap="flat" cmpd="sng" algn="ctr">
                      <a:solidFill>
                        <a:srgbClr val="D8E7F2"/>
                      </a:solidFill>
                    </a:lnT>
                    <a:lnB w="9525" cap="flat" cmpd="sng" algn="ctr">
                      <a:solidFill>
                        <a:srgbClr val="D8E7F2"/>
                      </a:solidFill>
                    </a:lnB>
                    <a:solidFill>
                      <a:srgbClr val="E1F1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600" b="1">
                          <a:solidFill>
                            <a:srgbClr val="0879C9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基05　</a:t>
                      </a:r>
                      <a:r>
                        <a:rPr sz="1600" b="0">
                          <a:solidFill>
                            <a:srgbClr val="1A1A1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至少 1 个应用、3 个页面</a:t>
                      </a:r>
                      <a:endParaRPr sz="1600" b="0">
                        <a:solidFill>
                          <a:srgbClr val="1A1A1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88900" marR="76200" marT="25400" marB="25400" anchor="ctr">
                    <a:lnL w="9525" cap="flat" cmpd="sng" algn="ctr">
                      <a:solidFill>
                        <a:srgbClr val="D8E7F2"/>
                      </a:solidFill>
                    </a:lnL>
                    <a:lnR w="9525" cap="flat" cmpd="sng" algn="ctr">
                      <a:solidFill>
                        <a:srgbClr val="D8E7F2"/>
                      </a:solidFill>
                    </a:lnR>
                    <a:lnT w="9525" cap="flat" cmpd="sng" algn="ctr">
                      <a:solidFill>
                        <a:srgbClr val="D8E7F2"/>
                      </a:solidFill>
                    </a:lnT>
                    <a:lnB w="9525" cap="flat" cmpd="sng" algn="ctr">
                      <a:solidFill>
                        <a:srgbClr val="D8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600" b="1">
                          <a:solidFill>
                            <a:srgbClr val="0879C9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完成</a:t>
                      </a:r>
                      <a:endParaRPr sz="1600" b="1">
                        <a:solidFill>
                          <a:srgbClr val="0879C9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88900" marR="76200" marT="25400" marB="25400" anchor="ctr">
                    <a:lnL w="9525" cap="flat" cmpd="sng" algn="ctr">
                      <a:solidFill>
                        <a:srgbClr val="D8E7F2"/>
                      </a:solidFill>
                    </a:lnL>
                    <a:lnR w="9525" cap="flat" cmpd="sng" algn="ctr">
                      <a:solidFill>
                        <a:srgbClr val="D8E7F2"/>
                      </a:solidFill>
                    </a:lnR>
                    <a:lnT w="9525" cap="flat" cmpd="sng" algn="ctr">
                      <a:solidFill>
                        <a:srgbClr val="D8E7F2"/>
                      </a:solidFill>
                    </a:lnT>
                    <a:lnB w="9525" cap="flat" cmpd="sng" algn="ctr">
                      <a:solidFill>
                        <a:srgbClr val="D8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buClrTx/>
                        <a:buSzTx/>
                        <a:buFontTx/>
                      </a:pPr>
                      <a:r>
                        <a:rPr sz="1600" b="0">
                          <a:solidFill>
                            <a:srgbClr val="1A1A1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 13 个应用 · 46 项样本</a:t>
                      </a:r>
                      <a:endParaRPr sz="1600" b="0">
                        <a:solidFill>
                          <a:srgbClr val="1A1A1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88900" marR="76200" marT="25400" marB="25400" anchor="ctr">
                    <a:lnL w="9525" cap="flat" cmpd="sng" algn="ctr">
                      <a:solidFill>
                        <a:srgbClr val="D8E7F2"/>
                      </a:solidFill>
                    </a:lnL>
                    <a:lnR w="9525" cap="flat" cmpd="sng" algn="ctr">
                      <a:solidFill>
                        <a:srgbClr val="D8E7F2"/>
                      </a:solidFill>
                    </a:lnR>
                    <a:lnT w="9525" cap="flat" cmpd="sng" algn="ctr">
                      <a:solidFill>
                        <a:srgbClr val="D8E7F2"/>
                      </a:solidFill>
                    </a:lnT>
                    <a:lnB w="9525" cap="flat" cmpd="sng" algn="ctr">
                      <a:solidFill>
                        <a:srgbClr val="D8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68300">
                <a:tc vMerge="1">
                  <a:tcPr/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600" b="1">
                          <a:solidFill>
                            <a:srgbClr val="0879C9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基06　</a:t>
                      </a:r>
                      <a:r>
                        <a:rPr sz="1600" b="0">
                          <a:solidFill>
                            <a:srgbClr val="1A1A1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提交架构文档、说明、结果、报告、演示</a:t>
                      </a:r>
                      <a:endParaRPr sz="1600" b="0">
                        <a:solidFill>
                          <a:srgbClr val="1A1A1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88900" marR="76200" marT="25400" marB="25400" anchor="ctr">
                    <a:lnL w="9525" cap="flat" cmpd="sng" algn="ctr">
                      <a:solidFill>
                        <a:srgbClr val="D8E7F2"/>
                      </a:solidFill>
                    </a:lnL>
                    <a:lnR w="9525" cap="flat" cmpd="sng" algn="ctr">
                      <a:solidFill>
                        <a:srgbClr val="D8E7F2"/>
                      </a:solidFill>
                    </a:lnR>
                    <a:lnT w="9525" cap="flat" cmpd="sng" algn="ctr">
                      <a:solidFill>
                        <a:srgbClr val="D8E7F2"/>
                      </a:solidFill>
                    </a:lnT>
                    <a:lnB w="9525" cap="flat" cmpd="sng" algn="ctr">
                      <a:solidFill>
                        <a:srgbClr val="D8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600" b="1">
                          <a:solidFill>
                            <a:srgbClr val="0879C9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完成</a:t>
                      </a:r>
                      <a:endParaRPr sz="1600" b="1">
                        <a:solidFill>
                          <a:srgbClr val="0879C9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88900" marR="76200" marT="25400" marB="25400" anchor="ctr">
                    <a:lnL w="9525" cap="flat" cmpd="sng" algn="ctr">
                      <a:solidFill>
                        <a:srgbClr val="D8E7F2"/>
                      </a:solidFill>
                    </a:lnL>
                    <a:lnR w="9525" cap="flat" cmpd="sng" algn="ctr">
                      <a:solidFill>
                        <a:srgbClr val="D8E7F2"/>
                      </a:solidFill>
                    </a:lnR>
                    <a:lnT w="9525" cap="flat" cmpd="sng" algn="ctr">
                      <a:solidFill>
                        <a:srgbClr val="D8E7F2"/>
                      </a:solidFill>
                    </a:lnT>
                    <a:lnB w="9525" cap="flat" cmpd="sng" algn="ctr">
                      <a:solidFill>
                        <a:srgbClr val="D8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buClrTx/>
                        <a:buSzTx/>
                        <a:buFontTx/>
                      </a:pPr>
                      <a:r>
                        <a:rPr sz="1600" b="0">
                          <a:solidFill>
                            <a:srgbClr val="1A1A1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 五份材料齐备</a:t>
                      </a:r>
                      <a:endParaRPr sz="1600" b="0">
                        <a:solidFill>
                          <a:srgbClr val="1A1A1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88900" marR="76200" marT="25400" marB="25400" anchor="ctr">
                    <a:lnL w="9525" cap="flat" cmpd="sng" algn="ctr">
                      <a:solidFill>
                        <a:srgbClr val="D8E7F2"/>
                      </a:solidFill>
                    </a:lnL>
                    <a:lnR w="9525" cap="flat" cmpd="sng" algn="ctr">
                      <a:solidFill>
                        <a:srgbClr val="D8E7F2"/>
                      </a:solidFill>
                    </a:lnR>
                    <a:lnT w="9525" cap="flat" cmpd="sng" algn="ctr">
                      <a:solidFill>
                        <a:srgbClr val="D8E7F2"/>
                      </a:solidFill>
                    </a:lnT>
                    <a:lnB w="9525" cap="flat" cmpd="sng" algn="ctr">
                      <a:solidFill>
                        <a:srgbClr val="D8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68300">
                <a:tc vMerge="1">
                  <a:tcPr/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600" b="1">
                          <a:solidFill>
                            <a:srgbClr val="0879C9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挑07　</a:t>
                      </a:r>
                      <a:r>
                        <a:rPr sz="1600" b="0">
                          <a:solidFill>
                            <a:srgbClr val="1A1A1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可孵化为测试 Agent 或工具</a:t>
                      </a:r>
                      <a:endParaRPr sz="1600" b="0">
                        <a:solidFill>
                          <a:srgbClr val="1A1A1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88900" marR="76200" marT="25400" marB="25400" anchor="ctr">
                    <a:lnL w="9525" cap="flat" cmpd="sng" algn="ctr">
                      <a:solidFill>
                        <a:srgbClr val="D8E7F2"/>
                      </a:solidFill>
                    </a:lnL>
                    <a:lnR w="9525" cap="flat" cmpd="sng" algn="ctr">
                      <a:solidFill>
                        <a:srgbClr val="D8E7F2"/>
                      </a:solidFill>
                    </a:lnR>
                    <a:lnT w="9525" cap="flat" cmpd="sng" algn="ctr">
                      <a:solidFill>
                        <a:srgbClr val="D8E7F2"/>
                      </a:solidFill>
                    </a:lnT>
                    <a:lnB w="9525" cap="flat" cmpd="sng" algn="ctr">
                      <a:solidFill>
                        <a:srgbClr val="D8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600" b="1">
                          <a:solidFill>
                            <a:srgbClr val="0879C9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完成</a:t>
                      </a:r>
                      <a:endParaRPr sz="1600" b="1">
                        <a:solidFill>
                          <a:srgbClr val="0879C9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88900" marR="76200" marT="25400" marB="25400" anchor="ctr">
                    <a:lnL w="9525" cap="flat" cmpd="sng" algn="ctr">
                      <a:solidFill>
                        <a:srgbClr val="D8E7F2"/>
                      </a:solidFill>
                    </a:lnL>
                    <a:lnR w="9525" cap="flat" cmpd="sng" algn="ctr">
                      <a:solidFill>
                        <a:srgbClr val="D8E7F2"/>
                      </a:solidFill>
                    </a:lnR>
                    <a:lnT w="9525" cap="flat" cmpd="sng" algn="ctr">
                      <a:solidFill>
                        <a:srgbClr val="D8E7F2"/>
                      </a:solidFill>
                    </a:lnT>
                    <a:lnB w="9525" cap="flat" cmpd="sng" algn="ctr">
                      <a:solidFill>
                        <a:srgbClr val="D8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buClrTx/>
                        <a:buSzTx/>
                        <a:buFontTx/>
                      </a:pPr>
                      <a:r>
                        <a:rPr sz="1600" b="0">
                          <a:solidFill>
                            <a:srgbClr val="1A1A1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 命令行 · 离线 · 脚本导出</a:t>
                      </a:r>
                      <a:endParaRPr sz="1600" b="0">
                        <a:solidFill>
                          <a:srgbClr val="1A1A1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88900" marR="76200" marT="25400" marB="25400" anchor="ctr">
                    <a:lnL w="9525" cap="flat" cmpd="sng" algn="ctr">
                      <a:solidFill>
                        <a:srgbClr val="D8E7F2"/>
                      </a:solidFill>
                    </a:lnL>
                    <a:lnR w="9525" cap="flat" cmpd="sng" algn="ctr">
                      <a:solidFill>
                        <a:srgbClr val="D8E7F2"/>
                      </a:solidFill>
                    </a:lnR>
                    <a:lnT w="9525" cap="flat" cmpd="sng" algn="ctr">
                      <a:solidFill>
                        <a:srgbClr val="D8E7F2"/>
                      </a:solidFill>
                    </a:lnT>
                    <a:lnB w="9525" cap="flat" cmpd="sng" algn="ctr">
                      <a:solidFill>
                        <a:srgbClr val="D8E7F2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A8F6"/>
        </a:solidFill>
        <a:effectLst/>
      </p:bgPr>
    </p:bg>
    <p:spTree>
      <p:nvGrpSpPr>
        <p:cNvPr id="260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" name="文本框 8"/>
          <p:cNvSpPr txBox="1"/>
          <p:nvPr/>
        </p:nvSpPr>
        <p:spPr>
          <a:xfrm>
            <a:off x="3630897" y="2504731"/>
            <a:ext cx="5077527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66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HarmonyOS Sans" panose="00000800000000000000" charset="0"/>
              </a:rPr>
              <a:t>谢  谢</a:t>
            </a:r>
            <a:endParaRPr kumimoji="0" lang="en-US" altLang="zh-CN" sz="6600" b="1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HarmonyOS Sans" panose="00000800000000000000" charset="0"/>
            </a:endParaRPr>
          </a:p>
        </p:txBody>
      </p:sp>
    </p:spTree>
  </p:cSld>
  <p:clrMapOvr>
    <a:masterClrMapping/>
  </p:clrMapOvr>
</p:sld>
</file>

<file path=ppt/tags/tag1.xml><?xml version="1.0" encoding="utf-8"?>
<p:tagLst xmlns:p="http://schemas.openxmlformats.org/presentationml/2006/main">
  <p:tag name="KSO_WM_DIAGRAM_VIRTUALLY_FRAME" val="{&quot;height&quot;:261.4,&quot;left&quot;:215.3026771653543,&quot;top&quot;:148.32,&quot;width&quot;:607.7709448818898}"/>
</p:tagLst>
</file>

<file path=ppt/tags/tag2.xml><?xml version="1.0" encoding="utf-8"?>
<p:tagLst xmlns:p="http://schemas.openxmlformats.org/presentationml/2006/main">
  <p:tag name="KSO_WM_DIAGRAM_VIRTUALLY_FRAME" val="{&quot;height&quot;:261.4,&quot;left&quot;:215.3026771653543,&quot;top&quot;:148.32,&quot;width&quot;:607.7709448818898}"/>
</p:tagLst>
</file>

<file path=ppt/tags/tag3.xml><?xml version="1.0" encoding="utf-8"?>
<p:tagLst xmlns:p="http://schemas.openxmlformats.org/presentationml/2006/main">
  <p:tag name="KSO_WM_DIAGRAM_VIRTUALLY_FRAME" val="{&quot;height&quot;:261.4,&quot;left&quot;:215.3026771653543,&quot;top&quot;:148.32,&quot;width&quot;:607.7709448818898}"/>
</p:tagLst>
</file>

<file path=ppt/tags/tag4.xml><?xml version="1.0" encoding="utf-8"?>
<p:tagLst xmlns:p="http://schemas.openxmlformats.org/presentationml/2006/main">
  <p:tag name="KSO_WM_DIAGRAM_VIRTUALLY_FRAME" val="{&quot;height&quot;:261.4,&quot;left&quot;:215.3026771653543,&quot;top&quot;:148.32,&quot;width&quot;:607.7709448818898}"/>
</p:tagLst>
</file>

<file path=ppt/tags/tag5.xml><?xml version="1.0" encoding="utf-8"?>
<p:tagLst xmlns:p="http://schemas.openxmlformats.org/presentationml/2006/main">
  <p:tag name="KSO_WM_DIAGRAM_VIRTUALLY_FRAME" val="{&quot;height&quot;:261.4,&quot;left&quot;:215.3026771653543,&quot;top&quot;:148.32,&quot;width&quot;:607.7709448818898}"/>
</p:tagLst>
</file>

<file path=ppt/tags/tag6.xml><?xml version="1.0" encoding="utf-8"?>
<p:tagLst xmlns:p="http://schemas.openxmlformats.org/presentationml/2006/main">
  <p:tag name="KSO_WM_DIAGRAM_VIRTUALLY_FRAME" val="{&quot;height&quot;:261.4,&quot;left&quot;:215.3026771653543,&quot;top&quot;:148.32,&quot;width&quot;:607.7709448818898}"/>
</p:tagLst>
</file>

<file path=ppt/tags/tag7.xml><?xml version="1.0" encoding="utf-8"?>
<p:tagLst xmlns:p="http://schemas.openxmlformats.org/presentationml/2006/main">
  <p:tag name="KSO_WM_DIAGRAM_VIRTUALLY_FRAME" val="{&quot;height&quot;:261.4,&quot;left&quot;:215.3026771653543,&quot;top&quot;:148.32,&quot;width&quot;:607.7709448818898}"/>
</p:tagLst>
</file>

<file path=ppt/tags/tag8.xml><?xml version="1.0" encoding="utf-8"?>
<p:tagLst xmlns:p="http://schemas.openxmlformats.org/presentationml/2006/main">
  <p:tag name="KSO_WM_DIAGRAM_VIRTUALLY_FRAME" val="{&quot;height&quot;:261.4,&quot;left&quot;:215.3026771653543,&quot;top&quot;:148.32,&quot;width&quot;:607.7709448818898}"/>
</p:tagLst>
</file>

<file path=ppt/tags/tag9.xml><?xml version="1.0" encoding="utf-8"?>
<p:tagLst xmlns:p="http://schemas.openxmlformats.org/presentationml/2006/main">
  <p:tag name="KSO_WM_DIAGRAM_VIRTUALLY_FRAME" val="{&quot;height&quot;:417.2,&quot;left&quot;:223,&quot;top&quot;:82.8,&quot;width&quot;:357}"/>
</p:tagLst>
</file>

<file path=ppt/tags/tag10.xml><?xml version="1.0" encoding="utf-8"?>
<p:tagLst xmlns:p="http://schemas.openxmlformats.org/presentationml/2006/main">
  <p:tag name="KSO_WM_DIAGRAM_VIRTUALLY_FRAME" val="{&quot;height&quot;:417.2,&quot;left&quot;:223,&quot;top&quot;:82.8,&quot;width&quot;:357}"/>
</p:tagLst>
</file>

<file path=ppt/tags/tag11.xml><?xml version="1.0" encoding="utf-8"?>
<p:tagLst xmlns:p="http://schemas.openxmlformats.org/presentationml/2006/main">
  <p:tag name="KSO_WM_DIAGRAM_VIRTUALLY_FRAME" val="{&quot;height&quot;:417.2,&quot;left&quot;:223,&quot;top&quot;:82.8,&quot;width&quot;:357}"/>
</p:tagLst>
</file>

<file path=ppt/tags/tag12.xml><?xml version="1.0" encoding="utf-8"?>
<p:tagLst xmlns:p="http://schemas.openxmlformats.org/presentationml/2006/main">
  <p:tag name="KSO_WM_DIAGRAM_VIRTUALLY_FRAME" val="{&quot;height&quot;:417.2,&quot;left&quot;:223,&quot;top&quot;:82.8,&quot;width&quot;:357}"/>
</p:tagLst>
</file>

<file path=ppt/tags/tag13.xml><?xml version="1.0" encoding="utf-8"?>
<p:tagLst xmlns:p="http://schemas.openxmlformats.org/presentationml/2006/main">
  <p:tag name="KSO_WM_DIAGRAM_VIRTUALLY_FRAME" val="{&quot;height&quot;:372,&quot;left&quot;:40,&quot;top&quot;:72,&quot;width&quot;:498}"/>
</p:tagLst>
</file>

<file path=ppt/tags/tag14.xml><?xml version="1.0" encoding="utf-8"?>
<p:tagLst xmlns:p="http://schemas.openxmlformats.org/presentationml/2006/main">
  <p:tag name="KSO_WM_DIAGRAM_VIRTUALLY_FRAME" val="{&quot;height&quot;:372,&quot;left&quot;:40,&quot;top&quot;:72,&quot;width&quot;:498}"/>
</p:tagLst>
</file>

<file path=ppt/tags/tag15.xml><?xml version="1.0" encoding="utf-8"?>
<p:tagLst xmlns:p="http://schemas.openxmlformats.org/presentationml/2006/main">
  <p:tag name="KSO_WM_DIAGRAM_VIRTUALLY_FRAME" val="{&quot;height&quot;:372,&quot;left&quot;:40,&quot;top&quot;:72,&quot;width&quot;:498}"/>
</p:tagLst>
</file>

<file path=ppt/tags/tag16.xml><?xml version="1.0" encoding="utf-8"?>
<p:tagLst xmlns:p="http://schemas.openxmlformats.org/presentationml/2006/main">
  <p:tag name="KSO_WM_DIAGRAM_VIRTUALLY_FRAME" val="{&quot;height&quot;:372,&quot;left&quot;:40,&quot;top&quot;:72,&quot;width&quot;:498}"/>
</p:tagLst>
</file>

<file path=ppt/tags/tag17.xml><?xml version="1.0" encoding="utf-8"?>
<p:tagLst xmlns:p="http://schemas.openxmlformats.org/presentationml/2006/main">
  <p:tag name="KSO_WM_DIAGRAM_VIRTUALLY_FRAME" val="{&quot;height&quot;:372,&quot;left&quot;:40,&quot;top&quot;:72,&quot;width&quot;:498}"/>
</p:tagLst>
</file>

<file path=ppt/tags/tag18.xml><?xml version="1.0" encoding="utf-8"?>
<p:tagLst xmlns:p="http://schemas.openxmlformats.org/presentationml/2006/main">
  <p:tag name="KSO_WM_DIAGRAM_VIRTUALLY_FRAME" val="{&quot;height&quot;:372,&quot;left&quot;:40,&quot;top&quot;:72,&quot;width&quot;:498}"/>
</p:tagLst>
</file>

<file path=ppt/tags/tag19.xml><?xml version="1.0" encoding="utf-8"?>
<p:tagLst xmlns:p="http://schemas.openxmlformats.org/presentationml/2006/main">
  <p:tag name="KSO_WM_DIAGRAM_VIRTUALLY_FRAME" val="{&quot;height&quot;:372,&quot;left&quot;:40,&quot;top&quot;:72,&quot;width&quot;:498}"/>
</p:tagLst>
</file>

<file path=ppt/tags/tag20.xml><?xml version="1.0" encoding="utf-8"?>
<p:tagLst xmlns:p="http://schemas.openxmlformats.org/presentationml/2006/main">
  <p:tag name="KSO_WM_DIAGRAM_VIRTUALLY_FRAME" val="{&quot;height&quot;:372,&quot;left&quot;:40,&quot;top&quot;:72,&quot;width&quot;:498}"/>
</p:tagLst>
</file>

<file path=ppt/tags/tag21.xml><?xml version="1.0" encoding="utf-8"?>
<p:tagLst xmlns:p="http://schemas.openxmlformats.org/presentationml/2006/main">
  <p:tag name="KSO_WM_DIAGRAM_VIRTUALLY_FRAME" val="{&quot;height&quot;:372,&quot;left&quot;:40,&quot;top&quot;:72,&quot;width&quot;:498}"/>
</p:tagLst>
</file>

<file path=ppt/tags/tag22.xml><?xml version="1.0" encoding="utf-8"?>
<p:tagLst xmlns:p="http://schemas.openxmlformats.org/presentationml/2006/main">
  <p:tag name="KSO_WM_DIAGRAM_VIRTUALLY_FRAME" val="{&quot;height&quot;:372,&quot;left&quot;:40,&quot;top&quot;:72,&quot;width&quot;:498}"/>
</p:tagLst>
</file>

<file path=ppt/tags/tag23.xml><?xml version="1.0" encoding="utf-8"?>
<p:tagLst xmlns:p="http://schemas.openxmlformats.org/presentationml/2006/main">
  <p:tag name="KSO_WM_DIAGRAM_VIRTUALLY_FRAME" val="{&quot;height&quot;:426,&quot;left&quot;:40,&quot;top&quot;:86,&quot;width&quot;:880}"/>
</p:tagLst>
</file>

<file path=ppt/tags/tag24.xml><?xml version="1.0" encoding="utf-8"?>
<p:tagLst xmlns:p="http://schemas.openxmlformats.org/presentationml/2006/main">
  <p:tag name="KSO_WM_DIAGRAM_VIRTUALLY_FRAME" val="{&quot;height&quot;:426,&quot;left&quot;:40,&quot;top&quot;:86,&quot;width&quot;:880}"/>
</p:tagLst>
</file>

<file path=ppt/tags/tag25.xml><?xml version="1.0" encoding="utf-8"?>
<p:tagLst xmlns:p="http://schemas.openxmlformats.org/presentationml/2006/main">
  <p:tag name="KSO_WM_DIAGRAM_VIRTUALLY_FRAME" val="{&quot;height&quot;:426,&quot;left&quot;:40,&quot;top&quot;:86,&quot;width&quot;:880}"/>
</p:tagLst>
</file>

<file path=ppt/tags/tag26.xml><?xml version="1.0" encoding="utf-8"?>
<p:tagLst xmlns:p="http://schemas.openxmlformats.org/presentationml/2006/main">
  <p:tag name="KSO_WM_DIAGRAM_VIRTUALLY_FRAME" val="{&quot;height&quot;:426,&quot;left&quot;:40,&quot;top&quot;:86,&quot;width&quot;:880}"/>
</p:tagLst>
</file>

<file path=ppt/tags/tag27.xml><?xml version="1.0" encoding="utf-8"?>
<p:tagLst xmlns:p="http://schemas.openxmlformats.org/presentationml/2006/main">
  <p:tag name="KSO_WM_DIAGRAM_VIRTUALLY_FRAME" val="{&quot;height&quot;:426,&quot;left&quot;:40,&quot;top&quot;:86,&quot;width&quot;:880}"/>
</p:tagLst>
</file>

<file path=ppt/tags/tag28.xml><?xml version="1.0" encoding="utf-8"?>
<p:tagLst xmlns:p="http://schemas.openxmlformats.org/presentationml/2006/main">
  <p:tag name="KSO_WM_DIAGRAM_VIRTUALLY_FRAME" val="{&quot;height&quot;:426,&quot;left&quot;:40,&quot;top&quot;:86,&quot;width&quot;:880}"/>
</p:tagLst>
</file>

<file path=ppt/tags/tag29.xml><?xml version="1.0" encoding="utf-8"?>
<p:tagLst xmlns:p="http://schemas.openxmlformats.org/presentationml/2006/main">
  <p:tag name="KSO_WM_DIAGRAM_VIRTUALLY_FRAME" val="{&quot;height&quot;:426,&quot;left&quot;:40,&quot;top&quot;:86,&quot;width&quot;:880}"/>
</p:tagLst>
</file>

<file path=ppt/tags/tag30.xml><?xml version="1.0" encoding="utf-8"?>
<p:tagLst xmlns:p="http://schemas.openxmlformats.org/presentationml/2006/main">
  <p:tag name="KSO_WM_DIAGRAM_VIRTUALLY_FRAME" val="{&quot;height&quot;:426,&quot;left&quot;:40,&quot;top&quot;:86,&quot;width&quot;:880}"/>
</p:tagLst>
</file>

<file path=ppt/tags/tag31.xml><?xml version="1.0" encoding="utf-8"?>
<p:tagLst xmlns:p="http://schemas.openxmlformats.org/presentationml/2006/main">
  <p:tag name="KSO_WM_DIAGRAM_VIRTUALLY_FRAME" val="{&quot;height&quot;:426,&quot;left&quot;:40,&quot;top&quot;:86,&quot;width&quot;:880}"/>
</p:tagLst>
</file>

<file path=ppt/tags/tag32.xml><?xml version="1.0" encoding="utf-8"?>
<p:tagLst xmlns:p="http://schemas.openxmlformats.org/presentationml/2006/main">
  <p:tag name="KSO_WM_DIAGRAM_VIRTUALLY_FRAME" val="{&quot;height&quot;:426,&quot;left&quot;:40,&quot;top&quot;:86,&quot;width&quot;:880}"/>
</p:tagLst>
</file>

<file path=ppt/tags/tag33.xml><?xml version="1.0" encoding="utf-8"?>
<p:tagLst xmlns:p="http://schemas.openxmlformats.org/presentationml/2006/main">
  <p:tag name="KSO_WM_DIAGRAM_VIRTUALLY_FRAME" val="{&quot;height&quot;:426,&quot;left&quot;:40,&quot;top&quot;:86,&quot;width&quot;:880}"/>
</p:tagLst>
</file>

<file path=ppt/tags/tag34.xml><?xml version="1.0" encoding="utf-8"?>
<p:tagLst xmlns:p="http://schemas.openxmlformats.org/presentationml/2006/main">
  <p:tag name="KSO_WM_DIAGRAM_VIRTUALLY_FRAME" val="{&quot;height&quot;:426,&quot;left&quot;:40,&quot;top&quot;:86,&quot;width&quot;:880}"/>
</p:tagLst>
</file>

<file path=ppt/tags/tag35.xml><?xml version="1.0" encoding="utf-8"?>
<p:tagLst xmlns:p="http://schemas.openxmlformats.org/presentationml/2006/main">
  <p:tag name="KSO_WM_DIAGRAM_VIRTUALLY_FRAME" val="{&quot;height&quot;:426,&quot;left&quot;:40,&quot;top&quot;:86,&quot;width&quot;:880}"/>
</p:tagLst>
</file>

<file path=ppt/tags/tag36.xml><?xml version="1.0" encoding="utf-8"?>
<p:tagLst xmlns:p="http://schemas.openxmlformats.org/presentationml/2006/main">
  <p:tag name="KSO_WM_DIAGRAM_VIRTUALLY_FRAME" val="{&quot;height&quot;:426,&quot;left&quot;:40,&quot;top&quot;:86,&quot;width&quot;:880}"/>
</p:tagLst>
</file>

<file path=ppt/tags/tag37.xml><?xml version="1.0" encoding="utf-8"?>
<p:tagLst xmlns:p="http://schemas.openxmlformats.org/presentationml/2006/main">
  <p:tag name="KSO_WM_DIAGRAM_VIRTUALLY_FRAME" val="{&quot;height&quot;:426,&quot;left&quot;:40,&quot;top&quot;:86,&quot;width&quot;:880}"/>
</p:tagLst>
</file>

<file path=ppt/tags/tag38.xml><?xml version="1.0" encoding="utf-8"?>
<p:tagLst xmlns:p="http://schemas.openxmlformats.org/presentationml/2006/main">
  <p:tag name="KSO_WM_DIAGRAM_VIRTUALLY_FRAME" val="{&quot;height&quot;:426,&quot;left&quot;:40,&quot;top&quot;:86,&quot;width&quot;:880}"/>
</p:tagLst>
</file>

<file path=ppt/theme/theme1.xml><?xml version="1.0" encoding="utf-8"?>
<a:theme xmlns:a="http://schemas.openxmlformats.org/drawingml/2006/main" name="1_自定义设计方案">
  <a:themeElements>
    <a:clrScheme name="WPS">
      <a:dk1>
        <a:sysClr val="windowText" lastClr="000000"/>
      </a:dk1>
      <a:lt1>
        <a:sysClr val="window" lastClr="FFFFFF"/>
      </a:lt1>
      <a:dk2>
        <a:srgbClr val="0F1423"/>
      </a:dk2>
      <a:lt2>
        <a:srgbClr val="FFFFFF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Calibri"/>
        <a:ea typeface="宋体"/>
        <a:cs typeface=""/>
      </a:majorFont>
      <a:minorFont>
        <a:latin typeface="Calibri"/>
        <a:ea typeface="宋体"/>
        <a:cs typeface="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3558</Words>
  <Application>WPS 演示</Application>
  <PresentationFormat/>
  <Paragraphs>412</Paragraphs>
  <Slides>16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23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16</vt:i4>
      </vt:variant>
    </vt:vector>
  </HeadingPairs>
  <TitlesOfParts>
    <vt:vector size="40" baseType="lpstr">
      <vt:lpstr>Arial</vt:lpstr>
      <vt:lpstr>宋体</vt:lpstr>
      <vt:lpstr>Wingdings</vt:lpstr>
      <vt:lpstr>Source Han Sans CN Normal</vt:lpstr>
      <vt:lpstr>微软雅黑</vt:lpstr>
      <vt:lpstr>Source Han Sans CN Bold</vt:lpstr>
      <vt:lpstr>Source Han Sans CN Regular</vt:lpstr>
      <vt:lpstr>Microsoft YaHei Regular</vt:lpstr>
      <vt:lpstr>Consolas</vt:lpstr>
      <vt:lpstr>HarmonyOS Sans</vt:lpstr>
      <vt:lpstr>FFont-Family</vt:lpstr>
      <vt:lpstr>Arial Unicode MS</vt:lpstr>
      <vt:lpstr>KSOFBCC610B3</vt:lpstr>
      <vt:lpstr>等线</vt:lpstr>
      <vt:lpstr>Calibri</vt:lpstr>
      <vt:lpstr>Consolas</vt:lpstr>
      <vt:lpstr>Microsoft YaHei Regular</vt:lpstr>
      <vt:lpstr>Source Han Sans CN Bold</vt:lpstr>
      <vt:lpstr>Source Han Sans CN Normal</vt:lpstr>
      <vt:lpstr>Source Han Sans CN Regular</vt:lpstr>
      <vt:lpstr>Saturday Sans Regular</vt:lpstr>
      <vt:lpstr>Wonder Sans Bold</vt:lpstr>
      <vt:lpstr>Oxford Regular</vt:lpstr>
      <vt:lpstr>1_自定义设计方案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未期</cp:lastModifiedBy>
  <cp:revision>11</cp:revision>
  <dcterms:created xsi:type="dcterms:W3CDTF">2026-10-29T04:39:00Z</dcterms:created>
  <dcterms:modified xsi:type="dcterms:W3CDTF">2026-10-30T10:50:54Z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1A6DA3413B0A4B4692244F580C576D44_12</vt:lpwstr>
  </property>
  <property fmtid="{D5CDD505-2E9C-101B-9397-08002B2CF9AE}" pid="3" name="KSOProductBuildVer">
    <vt:lpwstr>2052-12.1.0.29161</vt:lpwstr>
  </property>
</Properties>
</file>